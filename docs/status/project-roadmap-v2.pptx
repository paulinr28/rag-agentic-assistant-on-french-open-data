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oadmap" id="{56a8caa7-e2fd-c958-590c-738972db7bae}">
          <p14:sldIdLst>
            <p14:sldId id="256"/>
            <p14:sldId id="257"/>
            <p14:sldId id="258"/>
          </p14:sldIdLst>
        </p14:section>
        <p14:section name="Phase 2" id="{d471b4b6-f28c-cab0-2c36-ce09417d00bd}">
          <p14:sldIdLst>
            <p14:sldId id="259"/>
            <p14:sldId id="260"/>
            <p14:sldId id="261"/>
            <p14:sldId id="262"/>
            <p14:sldId id="263"/>
            <p14:sldId id="264"/>
            <p14:sldId id="265"/>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333"/>
                </a:solidFill>
                <a:latin typeface="+mn-lt"/>
              </a:defRPr>
            </a:pPr>
            <a:r>
              <a:rPr sz="1400" b="0" i="0" u="none" strike="noStrike">
                <a:solidFill>
                  <a:srgbClr val="1B2333"/>
                </a:solidFill>
                <a:latin typeface="+mn-lt"/>
              </a:rPr>
              <a:t>Right aid in top 5, keyword search</a:t>
            </a:r>
          </a:p>
        </c:rich>
      </c:tx>
      <c:layout/>
      <c:overlay val="0"/>
    </c:title>
    <c:autoTitleDeleted val="0"/>
    <c:plotArea>
      <c:layout/>
      <c:barChart>
        <c:barDir val="col"/>
        <c:grouping val="clustered"/>
        <c:varyColors val="0"/>
        <c:ser>
          <c:idx val="0"/>
          <c:order val="0"/>
          <c:tx>
            <c:strRef>
              <c:f>Sheet1!$B$1</c:f>
              <c:strCache>
                <c:ptCount val="1"/>
                <c:pt idx="0">
                  <c:v>Dev (17 questions)</c:v>
                </c:pt>
              </c:strCache>
            </c:strRef>
          </c:tx>
          <c:spPr>
            <a:solidFill>
              <a:srgbClr val="2F5BD3"/>
            </a:solidFill>
            <a:effectLst/>
          </c:spPr>
          <c:invertIfNegative val="0"/>
          <c:dLbls>
            <c:numFmt formatCode="0&quot;%&quot;"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cat>
            <c:multiLvlStrRef>
              <c:f>Sheet1!$A$2:$A$3</c:f>
              <c:multiLvlStrCache>
                <c:ptCount val="2"/>
                <c:lvl>
                  <c:pt idx="0">
                    <c:v>Without header</c:v>
                  </c:pt>
                  <c:pt idx="1">
                    <c:v>With header</c:v>
                  </c:pt>
                </c:lvl>
              </c:multiLvlStrCache>
            </c:multiLvlStrRef>
          </c:cat>
          <c:val>
            <c:numRef>
              <c:f>Sheet1!$B$2:$B$3</c:f>
              <c:numCache>
                <c:formatCode>General</c:formatCode>
                <c:ptCount val="2"/>
                <c:pt idx="0">
                  <c:v>76.5</c:v>
                </c:pt>
                <c:pt idx="1">
                  <c:v>100</c:v>
                </c:pt>
              </c:numCache>
            </c:numRef>
          </c:val>
        </c:ser>
        <c:ser>
          <c:idx val="1"/>
          <c:order val="1"/>
          <c:tx>
            <c:strRef>
              <c:f>Sheet1!$C$1</c:f>
              <c:strCache>
                <c:ptCount val="1"/>
                <c:pt idx="0">
                  <c:v>Held-out (16 questions)</c:v>
                </c:pt>
              </c:strCache>
            </c:strRef>
          </c:tx>
          <c:spPr>
            <a:solidFill>
              <a:srgbClr val="D0518F"/>
            </a:solidFill>
            <a:effectLst/>
          </c:spPr>
          <c:invertIfNegative val="0"/>
          <c:dLbls>
            <c:numFmt formatCode="0&quot;%&quot;"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cat>
            <c:multiLvlStrRef>
              <c:f>Sheet1!$A$2:$A$3</c:f>
              <c:multiLvlStrCache>
                <c:ptCount val="2"/>
                <c:lvl>
                  <c:pt idx="0">
                    <c:v>Without header</c:v>
                  </c:pt>
                  <c:pt idx="1">
                    <c:v>With header</c:v>
                  </c:pt>
                </c:lvl>
              </c:multiLvlStrCache>
            </c:multiLvlStrRef>
          </c:cat>
          <c:val>
            <c:numRef>
              <c:f>Sheet1!$C$2:$C$3</c:f>
              <c:numCache>
                <c:formatCode>General</c:formatCode>
                <c:ptCount val="2"/>
                <c:pt idx="0">
                  <c:v>75</c:v>
                </c:pt>
                <c:pt idx="1">
                  <c:v>87.5</c:v>
                </c:pt>
              </c:numCache>
            </c:numRef>
          </c:val>
        </c:ser>
        <c:dLbls>
          <c:numFmt formatCode="0&quot;%&quot;"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D6470"/>
                </a:solidFill>
                <a:latin typeface="+mn-lt"/>
              </a:defRPr>
            </a:pPr>
            <a:endParaRPr lang="en-US"/>
          </a:p>
        </c:txPr>
        <c:crossAx val="2094734552"/>
        <c:crosses val="autoZero"/>
        <c:auto val="1"/>
        <c:lblAlgn val="ctr"/>
        <c:noMultiLvlLbl val="1"/>
      </c:catAx>
      <c:valAx>
        <c:axId val="2094734552"/>
        <c:scaling>
          <c:orientation val="minMax"/>
          <c:max val="112"/>
          <c:min val="0"/>
        </c:scaling>
        <c:delete val="0"/>
        <c:axPos val="l"/>
        <c:majorGridlines>
          <c:spPr>
            <a:ln w="9525" cap="flat">
              <a:solidFill>
                <a:srgbClr val="E3E6EC"/>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100" b="0" i="0" u="none" strike="noStrike">
                <a:solidFill>
                  <a:srgbClr val="5D6470"/>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1B2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333"/>
                </a:solidFill>
                <a:latin typeface="+mn-lt"/>
              </a:defRPr>
            </a:pPr>
            <a:r>
              <a:rPr sz="1400" b="0" i="0" u="none" strike="noStrike">
                <a:solidFill>
                  <a:srgbClr val="1B2333"/>
                </a:solidFill>
                <a:latin typeface="+mn-lt"/>
              </a:rPr>
              <a:t>The 40 test questions by type</a:t>
            </a:r>
          </a:p>
        </c:rich>
      </c:tx>
      <c:layout/>
      <c:overlay val="0"/>
    </c:title>
    <c:autoTitleDeleted val="0"/>
    <c:plotArea>
      <c:layout/>
      <c:barChart>
        <c:barDir val="bar"/>
        <c:grouping val="stacked"/>
        <c:varyColors val="0"/>
        <c:ser>
          <c:idx val="0"/>
          <c:order val="0"/>
          <c:tx>
            <c:strRef>
              <c:f>Sheet1!$B$1</c:f>
              <c:strCache>
                <c:ptCount val="1"/>
                <c:pt idx="0">
                  <c:v>Dev (tune on these)</c:v>
                </c:pt>
              </c:strCache>
            </c:strRef>
          </c:tx>
          <c:spPr>
            <a:solidFill>
              <a:srgbClr val="2F5BD3"/>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Sheet1!$A$2:$A$9</c:f>
              <c:multiLvlStrCache>
                <c:ptCount val="8"/>
                <c:lvl>
                  <c:pt idx="0">
                    <c:v>Facts (amount, rate)</c:v>
                  </c:pt>
                  <c:pt idx="1">
                    <c:v>Eligibility</c:v>
                  </c:pt>
                  <c:pt idx="2">
                    <c:v>Location</c:v>
                  </c:pt>
                  <c:pt idx="3">
                    <c:v>Deadline</c:v>
                  </c:pt>
                  <c:pt idx="4">
                    <c:v>Exclusion</c:v>
                  </c:pt>
                  <c:pt idx="5">
                    <c:v>No amount given</c:v>
                  </c:pt>
                  <c:pt idx="6">
                    <c:v>Not in our data</c:v>
                  </c:pt>
                  <c:pt idx="7">
                    <c:v>Prompt injection</c:v>
                  </c:pt>
                </c:lvl>
              </c:multiLvlStrCache>
            </c:multiLvlStrRef>
          </c:cat>
          <c:val>
            <c:numRef>
              <c:f>Sheet1!$B$2:$B$9</c:f>
              <c:numCache>
                <c:formatCode>General</c:formatCode>
                <c:ptCount val="8"/>
                <c:pt idx="0">
                  <c:v>6</c:v>
                </c:pt>
                <c:pt idx="1">
                  <c:v>4</c:v>
                </c:pt>
                <c:pt idx="2">
                  <c:v>3</c:v>
                </c:pt>
                <c:pt idx="3">
                  <c:v>3</c:v>
                </c:pt>
                <c:pt idx="4">
                  <c:v>0</c:v>
                </c:pt>
                <c:pt idx="5">
                  <c:v>0</c:v>
                </c:pt>
                <c:pt idx="6">
                  <c:v>2</c:v>
                </c:pt>
                <c:pt idx="7">
                  <c:v>2</c:v>
                </c:pt>
              </c:numCache>
            </c:numRef>
          </c:val>
        </c:ser>
        <c:ser>
          <c:idx val="1"/>
          <c:order val="1"/>
          <c:tx>
            <c:strRef>
              <c:f>Sheet1!$C$1</c:f>
              <c:strCache>
                <c:ptCount val="1"/>
                <c:pt idx="0">
                  <c:v>Held-out (final score only)</c:v>
                </c:pt>
              </c:strCache>
            </c:strRef>
          </c:tx>
          <c:spPr>
            <a:solidFill>
              <a:srgbClr val="D0518F"/>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Sheet1!$A$2:$A$9</c:f>
              <c:multiLvlStrCache>
                <c:ptCount val="8"/>
                <c:lvl>
                  <c:pt idx="0">
                    <c:v>Facts (amount, rate)</c:v>
                  </c:pt>
                  <c:pt idx="1">
                    <c:v>Eligibility</c:v>
                  </c:pt>
                  <c:pt idx="2">
                    <c:v>Location</c:v>
                  </c:pt>
                  <c:pt idx="3">
                    <c:v>Deadline</c:v>
                  </c:pt>
                  <c:pt idx="4">
                    <c:v>Exclusion</c:v>
                  </c:pt>
                  <c:pt idx="5">
                    <c:v>No amount given</c:v>
                  </c:pt>
                  <c:pt idx="6">
                    <c:v>Not in our data</c:v>
                  </c:pt>
                  <c:pt idx="7">
                    <c:v>Prompt injection</c:v>
                  </c:pt>
                </c:lvl>
              </c:multiLvlStrCache>
            </c:multiLvlStrRef>
          </c:cat>
          <c:val>
            <c:numRef>
              <c:f>Sheet1!$C$2:$C$9</c:f>
              <c:numCache>
                <c:formatCode>General</c:formatCode>
                <c:ptCount val="8"/>
                <c:pt idx="0">
                  <c:v>4</c:v>
                </c:pt>
                <c:pt idx="1">
                  <c:v>3</c:v>
                </c:pt>
                <c:pt idx="2">
                  <c:v>3</c:v>
                </c:pt>
                <c:pt idx="3">
                  <c:v>2</c:v>
                </c:pt>
                <c:pt idx="4">
                  <c:v>2</c:v>
                </c:pt>
                <c:pt idx="5">
                  <c:v>1</c:v>
                </c:pt>
                <c:pt idx="6">
                  <c:v>3</c:v>
                </c:pt>
                <c:pt idx="7">
                  <c:v>2</c:v>
                </c:pt>
              </c:numCache>
            </c:numRef>
          </c:val>
        </c:ser>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D6470"/>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b"/>
        <c:majorGridlines>
          <c:spPr>
            <a:ln w="9525" cap="flat">
              <a:solidFill>
                <a:srgbClr val="E3E6EC"/>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5D6470"/>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200">
              <a:solidFill>
                <a:srgbClr val="1B2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333"/>
                </a:solidFill>
                <a:latin typeface="+mn-lt"/>
              </a:defRPr>
            </a:pPr>
            <a:r>
              <a:rPr sz="1400" b="0" i="0" u="none" strike="noStrike">
                <a:solidFill>
                  <a:srgbClr val="1B2333"/>
                </a:solidFill>
                <a:latin typeface="+mn-lt"/>
              </a:rPr>
              <a:t>Right aid ranked 1st (meaning search alone)</a:t>
            </a:r>
          </a:p>
        </c:rich>
      </c:tx>
      <c:layout/>
      <c:overlay val="0"/>
    </c:title>
    <c:autoTitleDeleted val="0"/>
    <c:plotArea>
      <c:layout/>
      <c:barChart>
        <c:barDir val="col"/>
        <c:grouping val="clustered"/>
        <c:varyColors val="0"/>
        <c:ser>
          <c:idx val="0"/>
          <c:order val="0"/>
          <c:tx>
            <c:strRef>
              <c:f>Sheet1!$B$1</c:f>
              <c:strCache>
                <c:ptCount val="1"/>
                <c:pt idx="0">
                  <c:v>Dev</c:v>
                </c:pt>
              </c:strCache>
            </c:strRef>
          </c:tx>
          <c:spPr>
            <a:solidFill>
              <a:srgbClr val="2F5BD3"/>
            </a:solidFill>
            <a:effectLst/>
          </c:spPr>
          <c:invertIfNegative val="0"/>
          <c:dLbls>
            <c:numFmt formatCode="0&quot;%&quot;"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cat>
            <c:multiLvlStrRef>
              <c:f>Sheet1!$A$2:$A$5</c:f>
              <c:multiLvlStrCache>
                <c:ptCount val="4"/>
                <c:lvl>
                  <c:pt idx="0">
                    <c:v>Keyword (BM25)</c:v>
                  </c:pt>
                  <c:pt idx="1">
                    <c:v>e5-small</c:v>
                  </c:pt>
                  <c:pt idx="2">
                    <c:v>e5-base</c:v>
                  </c:pt>
                  <c:pt idx="3">
                    <c:v>bge-m3</c:v>
                  </c:pt>
                </c:lvl>
              </c:multiLvlStrCache>
            </c:multiLvlStrRef>
          </c:cat>
          <c:val>
            <c:numRef>
              <c:f>Sheet1!$B$2:$B$5</c:f>
              <c:numCache>
                <c:formatCode>General</c:formatCode>
                <c:ptCount val="4"/>
                <c:pt idx="0">
                  <c:v>73.5</c:v>
                </c:pt>
                <c:pt idx="1">
                  <c:v>73.5</c:v>
                </c:pt>
                <c:pt idx="2">
                  <c:v>73.5</c:v>
                </c:pt>
                <c:pt idx="3">
                  <c:v>91.2</c:v>
                </c:pt>
              </c:numCache>
            </c:numRef>
          </c:val>
        </c:ser>
        <c:ser>
          <c:idx val="1"/>
          <c:order val="1"/>
          <c:tx>
            <c:strRef>
              <c:f>Sheet1!$C$1</c:f>
              <c:strCache>
                <c:ptCount val="1"/>
                <c:pt idx="0">
                  <c:v>Held-out</c:v>
                </c:pt>
              </c:strCache>
            </c:strRef>
          </c:tx>
          <c:spPr>
            <a:solidFill>
              <a:srgbClr val="D0518F"/>
            </a:solidFill>
            <a:effectLst/>
          </c:spPr>
          <c:invertIfNegative val="0"/>
          <c:dLbls>
            <c:numFmt formatCode="0&quot;%&quot;"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cat>
            <c:multiLvlStrRef>
              <c:f>Sheet1!$A$2:$A$5</c:f>
              <c:multiLvlStrCache>
                <c:ptCount val="4"/>
                <c:lvl>
                  <c:pt idx="0">
                    <c:v>Keyword (BM25)</c:v>
                  </c:pt>
                  <c:pt idx="1">
                    <c:v>e5-small</c:v>
                  </c:pt>
                  <c:pt idx="2">
                    <c:v>e5-base</c:v>
                  </c:pt>
                  <c:pt idx="3">
                    <c:v>bge-m3</c:v>
                  </c:pt>
                </c:lvl>
              </c:multiLvlStrCache>
            </c:multiLvlStrRef>
          </c:cat>
          <c:val>
            <c:numRef>
              <c:f>Sheet1!$C$2:$C$5</c:f>
              <c:numCache>
                <c:formatCode>General</c:formatCode>
                <c:ptCount val="4"/>
                <c:pt idx="0">
                  <c:v>75</c:v>
                </c:pt>
                <c:pt idx="1">
                  <c:v>75</c:v>
                </c:pt>
                <c:pt idx="2">
                  <c:v>62.5</c:v>
                </c:pt>
                <c:pt idx="3">
                  <c:v>87.5</c:v>
                </c:pt>
              </c:numCache>
            </c:numRef>
          </c:val>
        </c:ser>
        <c:dLbls>
          <c:numFmt formatCode="0&quot;%&quot;"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D6470"/>
                </a:solidFill>
                <a:latin typeface="+mn-lt"/>
              </a:defRPr>
            </a:pPr>
            <a:endParaRPr lang="en-US"/>
          </a:p>
        </c:txPr>
        <c:crossAx val="2094734552"/>
        <c:crosses val="autoZero"/>
        <c:auto val="1"/>
        <c:lblAlgn val="ctr"/>
        <c:noMultiLvlLbl val="1"/>
      </c:catAx>
      <c:valAx>
        <c:axId val="2094734552"/>
        <c:scaling>
          <c:orientation val="minMax"/>
          <c:max val="112"/>
          <c:min val="0"/>
        </c:scaling>
        <c:delete val="0"/>
        <c:axPos val="l"/>
        <c:majorGridlines>
          <c:spPr>
            <a:ln w="9525" cap="flat">
              <a:solidFill>
                <a:srgbClr val="E3E6EC"/>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100" b="0" i="0" u="none" strike="noStrike">
                <a:solidFill>
                  <a:srgbClr val="5D6470"/>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1B2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333"/>
                </a:solidFill>
                <a:latin typeface="+mn-lt"/>
              </a:defRPr>
            </a:pPr>
            <a:r>
              <a:rPr sz="1400" b="0" i="0" u="none" strike="noStrike">
                <a:solidFill>
                  <a:srgbClr val="1B2333"/>
                </a:solidFill>
                <a:latin typeface="+mn-lt"/>
              </a:rPr>
              <a:t>Right aid ranked 1st</a:t>
            </a:r>
          </a:p>
        </c:rich>
      </c:tx>
      <c:layout/>
      <c:overlay val="0"/>
    </c:title>
    <c:autoTitleDeleted val="0"/>
    <c:plotArea>
      <c:layout/>
      <c:barChart>
        <c:barDir val="col"/>
        <c:grouping val="clustered"/>
        <c:varyColors val="0"/>
        <c:ser>
          <c:idx val="0"/>
          <c:order val="0"/>
          <c:tx>
            <c:strRef>
              <c:f>Sheet1!$B$1</c:f>
              <c:strCache>
                <c:ptCount val="1"/>
                <c:pt idx="0">
                  <c:v>Dev</c:v>
                </c:pt>
              </c:strCache>
            </c:strRef>
          </c:tx>
          <c:spPr>
            <a:solidFill>
              <a:srgbClr val="2F5BD3"/>
            </a:solidFill>
            <a:effectLst/>
          </c:spPr>
          <c:invertIfNegative val="0"/>
          <c:dLbls>
            <c:numFmt formatCode="0&quot;%&quot;"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cat>
            <c:multiLvlStrRef>
              <c:f>Sheet1!$A$2:$A$4</c:f>
              <c:multiLvlStrCache>
                <c:ptCount val="3"/>
                <c:lvl>
                  <c:pt idx="0">
                    <c:v>Keyword only</c:v>
                  </c:pt>
                  <c:pt idx="1">
                    <c:v>bge-m3 only</c:v>
                  </c:pt>
                  <c:pt idx="2">
                    <c:v>Hybrid (merged)</c:v>
                  </c:pt>
                </c:lvl>
              </c:multiLvlStrCache>
            </c:multiLvlStrRef>
          </c:cat>
          <c:val>
            <c:numRef>
              <c:f>Sheet1!$B$2:$B$4</c:f>
              <c:numCache>
                <c:formatCode>General</c:formatCode>
                <c:ptCount val="3"/>
                <c:pt idx="0">
                  <c:v>73.5</c:v>
                </c:pt>
                <c:pt idx="1">
                  <c:v>91.2</c:v>
                </c:pt>
                <c:pt idx="2">
                  <c:v>85.3</c:v>
                </c:pt>
              </c:numCache>
            </c:numRef>
          </c:val>
        </c:ser>
        <c:ser>
          <c:idx val="1"/>
          <c:order val="1"/>
          <c:tx>
            <c:strRef>
              <c:f>Sheet1!$C$1</c:f>
              <c:strCache>
                <c:ptCount val="1"/>
                <c:pt idx="0">
                  <c:v>Held-out</c:v>
                </c:pt>
              </c:strCache>
            </c:strRef>
          </c:tx>
          <c:spPr>
            <a:solidFill>
              <a:srgbClr val="D0518F"/>
            </a:solidFill>
            <a:effectLst/>
          </c:spPr>
          <c:invertIfNegative val="0"/>
          <c:dLbls>
            <c:numFmt formatCode="0&quot;%&quot;"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cat>
            <c:multiLvlStrRef>
              <c:f>Sheet1!$A$2:$A$4</c:f>
              <c:multiLvlStrCache>
                <c:ptCount val="3"/>
                <c:lvl>
                  <c:pt idx="0">
                    <c:v>Keyword only</c:v>
                  </c:pt>
                  <c:pt idx="1">
                    <c:v>bge-m3 only</c:v>
                  </c:pt>
                  <c:pt idx="2">
                    <c:v>Hybrid (merged)</c:v>
                  </c:pt>
                </c:lvl>
              </c:multiLvlStrCache>
            </c:multiLvlStrRef>
          </c:cat>
          <c:val>
            <c:numRef>
              <c:f>Sheet1!$C$2:$C$4</c:f>
              <c:numCache>
                <c:formatCode>General</c:formatCode>
                <c:ptCount val="3"/>
                <c:pt idx="0">
                  <c:v>75</c:v>
                </c:pt>
                <c:pt idx="1">
                  <c:v>87.5</c:v>
                </c:pt>
                <c:pt idx="2">
                  <c:v>75</c:v>
                </c:pt>
              </c:numCache>
            </c:numRef>
          </c:val>
        </c:ser>
        <c:dLbls>
          <c:numFmt formatCode="0&quot;%&quot;"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D6470"/>
                </a:solidFill>
                <a:latin typeface="+mn-lt"/>
              </a:defRPr>
            </a:pPr>
            <a:endParaRPr lang="en-US"/>
          </a:p>
        </c:txPr>
        <c:crossAx val="2094734552"/>
        <c:crosses val="autoZero"/>
        <c:auto val="1"/>
        <c:lblAlgn val="ctr"/>
        <c:noMultiLvlLbl val="1"/>
      </c:catAx>
      <c:valAx>
        <c:axId val="2094734552"/>
        <c:scaling>
          <c:orientation val="minMax"/>
          <c:max val="112"/>
          <c:min val="0"/>
        </c:scaling>
        <c:delete val="0"/>
        <c:axPos val="l"/>
        <c:majorGridlines>
          <c:spPr>
            <a:ln w="9525" cap="flat">
              <a:solidFill>
                <a:srgbClr val="E3E6EC"/>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100" b="0" i="0" u="none" strike="noStrike">
                <a:solidFill>
                  <a:srgbClr val="5D6470"/>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1B2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333"/>
                </a:solidFill>
                <a:latin typeface="+mn-lt"/>
              </a:defRPr>
            </a:pPr>
            <a:r>
              <a:rPr sz="1400" b="0" i="0" u="none" strike="noStrike">
                <a:solidFill>
                  <a:srgbClr val="1B2333"/>
                </a:solidFill>
                <a:latin typeface="+mn-lt"/>
              </a:rPr>
              <a:t>Right aid ranked 1st</a:t>
            </a:r>
          </a:p>
        </c:rich>
      </c:tx>
      <c:layout/>
      <c:overlay val="0"/>
    </c:title>
    <c:autoTitleDeleted val="0"/>
    <c:plotArea>
      <c:layout/>
      <c:barChart>
        <c:barDir val="col"/>
        <c:grouping val="clustered"/>
        <c:varyColors val="0"/>
        <c:ser>
          <c:idx val="0"/>
          <c:order val="0"/>
          <c:tx>
            <c:strRef>
              <c:f>Sheet1!$B$1</c:f>
              <c:strCache>
                <c:ptCount val="1"/>
                <c:pt idx="0">
                  <c:v>Dev</c:v>
                </c:pt>
              </c:strCache>
            </c:strRef>
          </c:tx>
          <c:spPr>
            <a:solidFill>
              <a:srgbClr val="2F5BD3"/>
            </a:solidFill>
            <a:effectLst/>
          </c:spPr>
          <c:invertIfNegative val="0"/>
          <c:dLbls>
            <c:numFmt formatCode="0&quot;%&quot;"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cat>
            <c:multiLvlStrRef>
              <c:f>Sheet1!$A$2:$A$5</c:f>
              <c:multiLvlStrCache>
                <c:ptCount val="4"/>
                <c:lvl>
                  <c:pt idx="0">
                    <c:v>Hybrid, equal weights</c:v>
                  </c:pt>
                  <c:pt idx="1">
                    <c:v>+ mMiniLM reranker</c:v>
                  </c:pt>
                  <c:pt idx="2">
                    <c:v>+ bge-reranker</c:v>
                  </c:pt>
                  <c:pt idx="3">
                    <c:v>Hybrid, meaning ×3</c:v>
                  </c:pt>
                </c:lvl>
              </c:multiLvlStrCache>
            </c:multiLvlStrRef>
          </c:cat>
          <c:val>
            <c:numRef>
              <c:f>Sheet1!$B$2:$B$5</c:f>
              <c:numCache>
                <c:formatCode>General</c:formatCode>
                <c:ptCount val="4"/>
                <c:pt idx="0">
                  <c:v>85.3</c:v>
                </c:pt>
                <c:pt idx="1">
                  <c:v>85.3</c:v>
                </c:pt>
                <c:pt idx="2">
                  <c:v>91.2</c:v>
                </c:pt>
                <c:pt idx="3">
                  <c:v>91.2</c:v>
                </c:pt>
              </c:numCache>
            </c:numRef>
          </c:val>
        </c:ser>
        <c:ser>
          <c:idx val="1"/>
          <c:order val="1"/>
          <c:tx>
            <c:strRef>
              <c:f>Sheet1!$C$1</c:f>
              <c:strCache>
                <c:ptCount val="1"/>
                <c:pt idx="0">
                  <c:v>Held-out</c:v>
                </c:pt>
              </c:strCache>
            </c:strRef>
          </c:tx>
          <c:spPr>
            <a:solidFill>
              <a:srgbClr val="D0518F"/>
            </a:solidFill>
            <a:effectLst/>
          </c:spPr>
          <c:invertIfNegative val="0"/>
          <c:dLbls>
            <c:numFmt formatCode="0&quot;%&quot;"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cat>
            <c:multiLvlStrRef>
              <c:f>Sheet1!$A$2:$A$5</c:f>
              <c:multiLvlStrCache>
                <c:ptCount val="4"/>
                <c:lvl>
                  <c:pt idx="0">
                    <c:v>Hybrid, equal weights</c:v>
                  </c:pt>
                  <c:pt idx="1">
                    <c:v>+ mMiniLM reranker</c:v>
                  </c:pt>
                  <c:pt idx="2">
                    <c:v>+ bge-reranker</c:v>
                  </c:pt>
                  <c:pt idx="3">
                    <c:v>Hybrid, meaning ×3</c:v>
                  </c:pt>
                </c:lvl>
              </c:multiLvlStrCache>
            </c:multiLvlStrRef>
          </c:cat>
          <c:val>
            <c:numRef>
              <c:f>Sheet1!$C$2:$C$5</c:f>
              <c:numCache>
                <c:formatCode>General</c:formatCode>
                <c:ptCount val="4"/>
                <c:pt idx="0">
                  <c:v>75</c:v>
                </c:pt>
                <c:pt idx="1">
                  <c:v>50</c:v>
                </c:pt>
                <c:pt idx="2">
                  <c:v>75</c:v>
                </c:pt>
                <c:pt idx="3">
                  <c:v>87.5</c:v>
                </c:pt>
              </c:numCache>
            </c:numRef>
          </c:val>
        </c:ser>
        <c:dLbls>
          <c:numFmt formatCode="0&quot;%&quot;"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D6470"/>
                </a:solidFill>
                <a:latin typeface="+mn-lt"/>
              </a:defRPr>
            </a:pPr>
            <a:endParaRPr lang="en-US"/>
          </a:p>
        </c:txPr>
        <c:crossAx val="2094734552"/>
        <c:crosses val="autoZero"/>
        <c:auto val="1"/>
        <c:lblAlgn val="ctr"/>
        <c:noMultiLvlLbl val="1"/>
      </c:catAx>
      <c:valAx>
        <c:axId val="2094734552"/>
        <c:scaling>
          <c:orientation val="minMax"/>
          <c:max val="112"/>
          <c:min val="0"/>
        </c:scaling>
        <c:delete val="0"/>
        <c:axPos val="l"/>
        <c:majorGridlines>
          <c:spPr>
            <a:ln w="9525" cap="flat">
              <a:solidFill>
                <a:srgbClr val="E3E6EC"/>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100" b="0" i="0" u="none" strike="noStrike">
                <a:solidFill>
                  <a:srgbClr val="5D6470"/>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1B23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0 to 3 are done and merged. Step 4 (search by meaning) is built and measured; its PR #8 waits for review. Step 5 (reranker) has its code ready; its benchmark runs next. Everything from step 6 on is still ahead, with 4 days left before the Tuesday 23:59 freeze.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delivered the data foundation: a rule-based, reproducible 504-aid corpus, a confirmed source and licence, and a fixed region error in the government data. The figures in green show then and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raw dataset is relational: aides.csv stores IDs that point to lookup tables. The selection script resolves them into readable labels and writes one self-contained record per 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turns the clean corpus into a search engine. The rule from the brief: no component counts as working until it is scored on held-out questions, with speed and cost tracked.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question goes through two search engines in parallel: keyword search for exact names, meaning search for paraphrases. Their two ranked lists are merged with Reciprocal Rank Fusion. A reranker then reads each candidate together with the question and keeps the best five. The answering model will write the answer from those five pieces only, citing the aid IDs. The exam machine measures every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aid becomes one piece when it is short enough; long aids are split by section. Each piece starts with the same metadata header. Removing the header drops keyword search from 100% to 76% of dev questions with the right aid in the top five: that measurement is why we kept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read 40 random samples by hand. The cutting works: the facts people ask about sit in short sections that stay whole. Two traps go to the answering model's rules: exclusions and missing amounts. Each has a test question in the held-out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Keyword search finds aids that share the question's words. It is perfect on dev, where questions often name the aid, but misses two held-out questions written in everyday words. The cargo-bike example shows why: no shared words with the aid's official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 machine is the brief's exact command. It asks all 40 questions and records the fields the brief requires. We tune only on the 20 dev questions and keep the 20 held-out ones for honest final scores. The held-out set adds the traps found in the hand check: exclusions and missing amounts.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three free multilingual models on this laptop. All three find the right aid somewhere in the top five; bge-m3 is the only one that clearly improves the first result. It is bigger and slower, but still fast enough. We chose on the dev questions and the held-out questions confirm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findings from the bge-m3 run. First, merging keyword and meaning search lowers how often the right aid is ranked first, because keyword search promotes wrong aids; the reranker is meant to fix that. Second, bge-m3's confidence separates answerable questions from ones our data cannot answer, which could help the assistant abstain, but only three such questions back this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two cross-encoder rerankers. The small one made rank 1 worse; the strong one helped one dev question, nothing on held-out, and costs 19 seconds per question on this CPU. A free setting does better: in the merge, meaning search counts three times more than keyword search. Held-out rank 1 goes from 75 to 88 percent. The strong reranker stays in the code as an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list to rehearse for the Q&amp;A: each choice has either a measurement or a rule from the brief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pull requests so far, seven merged. Three lessons: always get one approval before merging; run the checks again after each merge, because two good PRs can clash; and delete branches once merged.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the owner column together. The critical path is reranker, then answering model, then agent tools, then final scores. Keep Tuesday for polish and the backup demo video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685800"/>
          </a:xfrm>
          <a:prstGeom prst="rect">
            <a:avLst/>
          </a:prstGeom>
          <a:noFill/>
          <a:ln/>
        </p:spPr>
        <p:txBody>
          <a:bodyPr wrap="square" lIns="0" tIns="0" rIns="0" bIns="0" rtlCol="0" anchor="ctr"/>
          <a:lstStyle/>
          <a:p>
            <a:pPr algn="l" indent="0" marL="0">
              <a:buNone/>
            </a:pPr>
            <a:r>
              <a:rPr lang="en-US" sz="3000" b="1" dirty="0">
                <a:solidFill>
                  <a:schemeClr val="tx2"/>
                </a:solidFill>
              </a:rPr>
              <a:t>Roadmap: 4 steps done, 2 in review, 4 days to freeze</a:t>
            </a:r>
            <a:endParaRPr lang="en-US" sz="3000" dirty="0"/>
          </a:p>
        </p:txBody>
      </p:sp>
      <p:sp>
        <p:nvSpPr>
          <p:cNvPr id="3" name="Subtitle"/>
          <p:cNvSpPr txBox="1"/>
          <p:nvPr/>
        </p:nvSpPr>
        <p:spPr>
          <a:xfrm>
            <a:off x="548640" y="1005840"/>
            <a:ext cx="11064240" cy="320040"/>
          </a:xfrm>
          <a:prstGeom prst="rect">
            <a:avLst/>
          </a:prstGeom>
          <a:noFill/>
          <a:ln/>
        </p:spPr>
        <p:txBody>
          <a:bodyPr wrap="square" lIns="0" tIns="0" rIns="0" bIns="0" rtlCol="0" anchor="ctr"/>
          <a:lstStyle/>
          <a:p>
            <a:pPr indent="0" marL="0">
              <a:buNone/>
            </a:pPr>
            <a:r>
              <a:rPr lang="en-US" sz="1400" dirty="0">
                <a:solidFill>
                  <a:schemeClr val="accent6"/>
                </a:solidFill>
              </a:rPr>
              <a:t>RAG assistant on French green &amp; innovation business aids · status as of Sat 17 Oct 2026</a:t>
            </a:r>
            <a:endParaRPr lang="en-US" sz="1400" dirty="0"/>
          </a:p>
        </p:txBody>
      </p:sp>
      <p:sp>
        <p:nvSpPr>
          <p:cNvPr id="4" name="Legend dot Done"/>
          <p:cNvSpPr/>
          <p:nvPr/>
        </p:nvSpPr>
        <p:spPr>
          <a:xfrm>
            <a:off x="10012680" y="429768"/>
            <a:ext cx="137160" cy="137160"/>
          </a:xfrm>
          <a:prstGeom prst="ellipse">
            <a:avLst/>
          </a:prstGeom>
          <a:solidFill>
            <a:schemeClr val="accent1"/>
          </a:solidFill>
          <a:ln w="12700">
            <a:solidFill>
              <a:schemeClr val="accent1"/>
            </a:solidFill>
            <a:prstDash val="solid"/>
          </a:ln>
        </p:spPr>
      </p:sp>
      <p:sp>
        <p:nvSpPr>
          <p:cNvPr id="5" name="Legend Done"/>
          <p:cNvSpPr txBox="1"/>
          <p:nvPr/>
        </p:nvSpPr>
        <p:spPr>
          <a:xfrm>
            <a:off x="10222992" y="384048"/>
            <a:ext cx="1737360" cy="228600"/>
          </a:xfrm>
          <a:prstGeom prst="rect">
            <a:avLst/>
          </a:prstGeom>
          <a:noFill/>
          <a:ln/>
        </p:spPr>
        <p:txBody>
          <a:bodyPr wrap="square" lIns="0" tIns="0" rIns="0" bIns="0" rtlCol="0" anchor="ctr"/>
          <a:lstStyle/>
          <a:p>
            <a:pPr indent="0" marL="0">
              <a:buNone/>
            </a:pPr>
            <a:r>
              <a:rPr lang="en-US" sz="1200" dirty="0">
                <a:solidFill>
                  <a:schemeClr val="tx1"/>
                </a:solidFill>
              </a:rPr>
              <a:t>Done</a:t>
            </a:r>
            <a:endParaRPr lang="en-US" sz="1200" dirty="0"/>
          </a:p>
        </p:txBody>
      </p:sp>
      <p:sp>
        <p:nvSpPr>
          <p:cNvPr id="6" name="Legend dot In progress"/>
          <p:cNvSpPr/>
          <p:nvPr/>
        </p:nvSpPr>
        <p:spPr>
          <a:xfrm>
            <a:off x="10012680" y="676656"/>
            <a:ext cx="137160" cy="137160"/>
          </a:xfrm>
          <a:prstGeom prst="ellipse">
            <a:avLst/>
          </a:prstGeom>
          <a:solidFill>
            <a:schemeClr val="accent2"/>
          </a:solidFill>
          <a:ln w="12700">
            <a:solidFill>
              <a:schemeClr val="accent2"/>
            </a:solidFill>
            <a:prstDash val="solid"/>
          </a:ln>
        </p:spPr>
      </p:sp>
      <p:sp>
        <p:nvSpPr>
          <p:cNvPr id="7" name="Legend In progress"/>
          <p:cNvSpPr txBox="1"/>
          <p:nvPr/>
        </p:nvSpPr>
        <p:spPr>
          <a:xfrm>
            <a:off x="10222992" y="630936"/>
            <a:ext cx="1737360" cy="228600"/>
          </a:xfrm>
          <a:prstGeom prst="rect">
            <a:avLst/>
          </a:prstGeom>
          <a:noFill/>
          <a:ln/>
        </p:spPr>
        <p:txBody>
          <a:bodyPr wrap="square" lIns="0" tIns="0" rIns="0" bIns="0" rtlCol="0" anchor="ctr"/>
          <a:lstStyle/>
          <a:p>
            <a:pPr indent="0" marL="0">
              <a:buNone/>
            </a:pPr>
            <a:r>
              <a:rPr lang="en-US" sz="1200" dirty="0">
                <a:solidFill>
                  <a:schemeClr val="tx1"/>
                </a:solidFill>
              </a:rPr>
              <a:t>In progress</a:t>
            </a:r>
            <a:endParaRPr lang="en-US" sz="1200" dirty="0"/>
          </a:p>
        </p:txBody>
      </p:sp>
      <p:sp>
        <p:nvSpPr>
          <p:cNvPr id="8" name="Legend dot Blocked"/>
          <p:cNvSpPr/>
          <p:nvPr/>
        </p:nvSpPr>
        <p:spPr>
          <a:xfrm>
            <a:off x="10012680" y="923544"/>
            <a:ext cx="137160" cy="137160"/>
          </a:xfrm>
          <a:prstGeom prst="ellipse">
            <a:avLst/>
          </a:prstGeom>
          <a:solidFill>
            <a:schemeClr val="accent3"/>
          </a:solidFill>
          <a:ln w="12700">
            <a:solidFill>
              <a:schemeClr val="accent3"/>
            </a:solidFill>
            <a:prstDash val="solid"/>
          </a:ln>
        </p:spPr>
      </p:sp>
      <p:sp>
        <p:nvSpPr>
          <p:cNvPr id="9" name="Legend Blocked"/>
          <p:cNvSpPr txBox="1"/>
          <p:nvPr/>
        </p:nvSpPr>
        <p:spPr>
          <a:xfrm>
            <a:off x="10222992" y="877824"/>
            <a:ext cx="1737360" cy="228600"/>
          </a:xfrm>
          <a:prstGeom prst="rect">
            <a:avLst/>
          </a:prstGeom>
          <a:noFill/>
          <a:ln/>
        </p:spPr>
        <p:txBody>
          <a:bodyPr wrap="square" lIns="0" tIns="0" rIns="0" bIns="0" rtlCol="0" anchor="ctr"/>
          <a:lstStyle/>
          <a:p>
            <a:pPr indent="0" marL="0">
              <a:buNone/>
            </a:pPr>
            <a:r>
              <a:rPr lang="en-US" sz="1200" dirty="0">
                <a:solidFill>
                  <a:schemeClr val="tx1"/>
                </a:solidFill>
              </a:rPr>
              <a:t>Blocked</a:t>
            </a:r>
            <a:endParaRPr lang="en-US" sz="1200" dirty="0"/>
          </a:p>
        </p:txBody>
      </p:sp>
      <p:sp>
        <p:nvSpPr>
          <p:cNvPr id="10" name="Legend dot Not started"/>
          <p:cNvSpPr/>
          <p:nvPr/>
        </p:nvSpPr>
        <p:spPr>
          <a:xfrm>
            <a:off x="10012680" y="1170432"/>
            <a:ext cx="137160" cy="137160"/>
          </a:xfrm>
          <a:prstGeom prst="ellipse">
            <a:avLst/>
          </a:prstGeom>
          <a:solidFill>
            <a:schemeClr val="accent4"/>
          </a:solidFill>
          <a:ln w="12700">
            <a:solidFill>
              <a:schemeClr val="accent4"/>
            </a:solidFill>
            <a:prstDash val="solid"/>
          </a:ln>
        </p:spPr>
      </p:sp>
      <p:sp>
        <p:nvSpPr>
          <p:cNvPr id="11" name="Legend Not started"/>
          <p:cNvSpPr txBox="1"/>
          <p:nvPr/>
        </p:nvSpPr>
        <p:spPr>
          <a:xfrm>
            <a:off x="10222992" y="1124712"/>
            <a:ext cx="1737360" cy="228600"/>
          </a:xfrm>
          <a:prstGeom prst="rect">
            <a:avLst/>
          </a:prstGeom>
          <a:noFill/>
          <a:ln/>
        </p:spPr>
        <p:txBody>
          <a:bodyPr wrap="square" lIns="0" tIns="0" rIns="0" bIns="0" rtlCol="0" anchor="ctr"/>
          <a:lstStyle/>
          <a:p>
            <a:pPr indent="0" marL="0">
              <a:buNone/>
            </a:pPr>
            <a:r>
              <a:rPr lang="en-US" sz="1200" dirty="0">
                <a:solidFill>
                  <a:schemeClr val="tx1"/>
                </a:solidFill>
              </a:rPr>
              <a:t>Not started</a:t>
            </a:r>
            <a:endParaRPr lang="en-US" sz="1200" dirty="0"/>
          </a:p>
        </p:txBody>
      </p:sp>
      <p:sp>
        <p:nvSpPr>
          <p:cNvPr id="12" name="Timeline line"/>
          <p:cNvSpPr/>
          <p:nvPr/>
        </p:nvSpPr>
        <p:spPr>
          <a:xfrm>
            <a:off x="914400" y="2331720"/>
            <a:ext cx="10332720" cy="0"/>
          </a:xfrm>
          <a:prstGeom prst="line">
            <a:avLst/>
          </a:prstGeom>
          <a:noFill/>
          <a:ln w="25400">
            <a:solidFill>
              <a:schemeClr val="accent4"/>
            </a:solidFill>
            <a:prstDash val="solid"/>
          </a:ln>
        </p:spPr>
      </p:sp>
      <p:sp>
        <p:nvSpPr>
          <p:cNvPr id="13" name="Timeline done"/>
          <p:cNvSpPr/>
          <p:nvPr/>
        </p:nvSpPr>
        <p:spPr>
          <a:xfrm>
            <a:off x="914400" y="2331720"/>
            <a:ext cx="2818015" cy="0"/>
          </a:xfrm>
          <a:prstGeom prst="line">
            <a:avLst/>
          </a:prstGeom>
          <a:noFill/>
          <a:ln w="50800">
            <a:solidFill>
              <a:schemeClr val="accent1"/>
            </a:solidFill>
            <a:prstDash val="solid"/>
          </a:ln>
        </p:spPr>
      </p:sp>
      <p:sp>
        <p:nvSpPr>
          <p:cNvPr id="14" name="Timeline in progress"/>
          <p:cNvSpPr/>
          <p:nvPr/>
        </p:nvSpPr>
        <p:spPr>
          <a:xfrm>
            <a:off x="3732415" y="2331720"/>
            <a:ext cx="1878676" cy="0"/>
          </a:xfrm>
          <a:prstGeom prst="line">
            <a:avLst/>
          </a:prstGeom>
          <a:noFill/>
          <a:ln w="50800">
            <a:solidFill>
              <a:schemeClr val="accent2"/>
            </a:solidFill>
            <a:prstDash val="solid"/>
          </a:ln>
        </p:spPr>
      </p:sp>
      <p:sp>
        <p:nvSpPr>
          <p:cNvPr id="15" name="Date 0"/>
          <p:cNvSpPr txBox="1"/>
          <p:nvPr/>
        </p:nvSpPr>
        <p:spPr>
          <a:xfrm>
            <a:off x="457200" y="1645920"/>
            <a:ext cx="914400" cy="237744"/>
          </a:xfrm>
          <a:prstGeom prst="rect">
            <a:avLst/>
          </a:prstGeom>
          <a:noFill/>
          <a:ln/>
        </p:spPr>
        <p:txBody>
          <a:bodyPr wrap="square" lIns="0" tIns="0" rIns="0" bIns="0" rtlCol="0" anchor="ctr"/>
          <a:lstStyle/>
          <a:p>
            <a:pPr algn="ctr" indent="0" marL="0">
              <a:buNone/>
            </a:pPr>
            <a:r>
              <a:rPr lang="en-US" sz="1100" dirty="0">
                <a:solidFill>
                  <a:schemeClr val="accent6"/>
                </a:solidFill>
              </a:rPr>
              <a:t>13–14 Oct</a:t>
            </a:r>
            <a:endParaRPr lang="en-US" sz="1100" dirty="0"/>
          </a:p>
        </p:txBody>
      </p:sp>
      <p:sp>
        <p:nvSpPr>
          <p:cNvPr id="16" name="Node 0"/>
          <p:cNvSpPr/>
          <p:nvPr/>
        </p:nvSpPr>
        <p:spPr>
          <a:xfrm>
            <a:off x="685800" y="2103120"/>
            <a:ext cx="457200" cy="457200"/>
          </a:xfrm>
          <a:prstGeom prst="ellipse">
            <a:avLst/>
          </a:prstGeom>
          <a:solidFill>
            <a:schemeClr val="accent1"/>
          </a:solidFill>
          <a:ln w="25400">
            <a:solidFill>
              <a:schemeClr val="accent1"/>
            </a:solidFill>
            <a:prstDash val="solid"/>
          </a:ln>
        </p:spPr>
      </p:sp>
      <p:sp>
        <p:nvSpPr>
          <p:cNvPr id="17" name="Node label 0"/>
          <p:cNvSpPr txBox="1"/>
          <p:nvPr/>
        </p:nvSpPr>
        <p:spPr>
          <a:xfrm>
            <a:off x="685800" y="21031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0</a:t>
            </a:r>
            <a:endParaRPr lang="en-US" sz="1400" dirty="0"/>
          </a:p>
        </p:txBody>
      </p:sp>
      <p:sp>
        <p:nvSpPr>
          <p:cNvPr id="18" name="Step 0"/>
          <p:cNvSpPr txBox="1"/>
          <p:nvPr/>
        </p:nvSpPr>
        <p:spPr>
          <a:xfrm>
            <a:off x="448056" y="2651760"/>
            <a:ext cx="932688" cy="566928"/>
          </a:xfrm>
          <a:prstGeom prst="rect">
            <a:avLst/>
          </a:prstGeom>
          <a:noFill/>
          <a:ln/>
        </p:spPr>
        <p:txBody>
          <a:bodyPr wrap="square" lIns="0" tIns="0" rIns="0" bIns="0" rtlCol="0" anchor="t"/>
          <a:lstStyle/>
          <a:p>
            <a:pPr algn="ctr" indent="0" marL="0">
              <a:buNone/>
            </a:pPr>
            <a:r>
              <a:rPr lang="en-US" sz="1150" b="1" dirty="0">
                <a:solidFill>
                  <a:schemeClr val="tx1"/>
                </a:solidFill>
              </a:rPr>
              <a:t>Scoping</a:t>
            </a:r>
            <a:endParaRPr lang="en-US" sz="1150" dirty="0"/>
          </a:p>
        </p:txBody>
      </p:sp>
      <p:sp>
        <p:nvSpPr>
          <p:cNvPr id="19" name="Date 1"/>
          <p:cNvSpPr txBox="1"/>
          <p:nvPr/>
        </p:nvSpPr>
        <p:spPr>
          <a:xfrm>
            <a:off x="1396538" y="1645920"/>
            <a:ext cx="914400" cy="237744"/>
          </a:xfrm>
          <a:prstGeom prst="rect">
            <a:avLst/>
          </a:prstGeom>
          <a:noFill/>
          <a:ln/>
        </p:spPr>
        <p:txBody>
          <a:bodyPr wrap="square" lIns="0" tIns="0" rIns="0" bIns="0" rtlCol="0" anchor="ctr"/>
          <a:lstStyle/>
          <a:p>
            <a:pPr algn="ctr" indent="0" marL="0">
              <a:buNone/>
            </a:pPr>
            <a:r>
              <a:rPr lang="en-US" sz="1100" dirty="0">
                <a:solidFill>
                  <a:schemeClr val="accent6"/>
                </a:solidFill>
              </a:rPr>
              <a:t>14 Oct</a:t>
            </a:r>
            <a:endParaRPr lang="en-US" sz="1100" dirty="0"/>
          </a:p>
        </p:txBody>
      </p:sp>
      <p:sp>
        <p:nvSpPr>
          <p:cNvPr id="20" name="Node 1"/>
          <p:cNvSpPr/>
          <p:nvPr/>
        </p:nvSpPr>
        <p:spPr>
          <a:xfrm>
            <a:off x="1625138" y="2103120"/>
            <a:ext cx="457200" cy="457200"/>
          </a:xfrm>
          <a:prstGeom prst="ellipse">
            <a:avLst/>
          </a:prstGeom>
          <a:solidFill>
            <a:schemeClr val="accent1"/>
          </a:solidFill>
          <a:ln w="25400">
            <a:solidFill>
              <a:schemeClr val="accent1"/>
            </a:solidFill>
            <a:prstDash val="solid"/>
          </a:ln>
        </p:spPr>
      </p:sp>
      <p:sp>
        <p:nvSpPr>
          <p:cNvPr id="21" name="Node label 1"/>
          <p:cNvSpPr txBox="1"/>
          <p:nvPr/>
        </p:nvSpPr>
        <p:spPr>
          <a:xfrm>
            <a:off x="1625138" y="21031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2" name="Step 1"/>
          <p:cNvSpPr txBox="1"/>
          <p:nvPr/>
        </p:nvSpPr>
        <p:spPr>
          <a:xfrm>
            <a:off x="1387394" y="2651760"/>
            <a:ext cx="932688" cy="566928"/>
          </a:xfrm>
          <a:prstGeom prst="rect">
            <a:avLst/>
          </a:prstGeom>
          <a:noFill/>
          <a:ln/>
        </p:spPr>
        <p:txBody>
          <a:bodyPr wrap="square" lIns="0" tIns="0" rIns="0" bIns="0" rtlCol="0" anchor="t"/>
          <a:lstStyle/>
          <a:p>
            <a:pPr algn="ctr" indent="0" marL="0">
              <a:buNone/>
            </a:pPr>
            <a:r>
              <a:rPr lang="en-US" sz="1150" b="1" dirty="0">
                <a:solidFill>
                  <a:schemeClr val="tx1"/>
                </a:solidFill>
              </a:rPr>
              <a:t>Data foundations</a:t>
            </a:r>
            <a:endParaRPr lang="en-US" sz="1150" dirty="0"/>
          </a:p>
        </p:txBody>
      </p:sp>
      <p:sp>
        <p:nvSpPr>
          <p:cNvPr id="23" name="Date 2"/>
          <p:cNvSpPr txBox="1"/>
          <p:nvPr/>
        </p:nvSpPr>
        <p:spPr>
          <a:xfrm>
            <a:off x="2335876" y="1645920"/>
            <a:ext cx="914400" cy="237744"/>
          </a:xfrm>
          <a:prstGeom prst="rect">
            <a:avLst/>
          </a:prstGeom>
          <a:noFill/>
          <a:ln/>
        </p:spPr>
        <p:txBody>
          <a:bodyPr wrap="square" lIns="0" tIns="0" rIns="0" bIns="0" rtlCol="0" anchor="ctr"/>
          <a:lstStyle/>
          <a:p>
            <a:pPr algn="ctr" indent="0" marL="0">
              <a:buNone/>
            </a:pPr>
            <a:r>
              <a:rPr lang="en-US" sz="1100" dirty="0">
                <a:solidFill>
                  <a:schemeClr val="accent6"/>
                </a:solidFill>
              </a:rPr>
              <a:t>15 Oct</a:t>
            </a:r>
            <a:endParaRPr lang="en-US" sz="1100" dirty="0"/>
          </a:p>
        </p:txBody>
      </p:sp>
      <p:sp>
        <p:nvSpPr>
          <p:cNvPr id="24" name="Node 2"/>
          <p:cNvSpPr/>
          <p:nvPr/>
        </p:nvSpPr>
        <p:spPr>
          <a:xfrm>
            <a:off x="2564476" y="2103120"/>
            <a:ext cx="457200" cy="457200"/>
          </a:xfrm>
          <a:prstGeom prst="ellipse">
            <a:avLst/>
          </a:prstGeom>
          <a:solidFill>
            <a:schemeClr val="accent1"/>
          </a:solidFill>
          <a:ln w="25400">
            <a:solidFill>
              <a:schemeClr val="accent1"/>
            </a:solidFill>
            <a:prstDash val="solid"/>
          </a:ln>
        </p:spPr>
      </p:sp>
      <p:sp>
        <p:nvSpPr>
          <p:cNvPr id="25" name="Node label 2"/>
          <p:cNvSpPr txBox="1"/>
          <p:nvPr/>
        </p:nvSpPr>
        <p:spPr>
          <a:xfrm>
            <a:off x="2564476" y="21031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6" name="Step 2"/>
          <p:cNvSpPr txBox="1"/>
          <p:nvPr/>
        </p:nvSpPr>
        <p:spPr>
          <a:xfrm>
            <a:off x="2326732" y="2651760"/>
            <a:ext cx="932688" cy="566928"/>
          </a:xfrm>
          <a:prstGeom prst="rect">
            <a:avLst/>
          </a:prstGeom>
          <a:noFill/>
          <a:ln/>
        </p:spPr>
        <p:txBody>
          <a:bodyPr wrap="square" lIns="0" tIns="0" rIns="0" bIns="0" rtlCol="0" anchor="t"/>
          <a:lstStyle/>
          <a:p>
            <a:pPr algn="ctr" indent="0" marL="0">
              <a:buNone/>
            </a:pPr>
            <a:r>
              <a:rPr lang="en-US" sz="1150" b="1" dirty="0">
                <a:solidFill>
                  <a:schemeClr val="tx1"/>
                </a:solidFill>
              </a:rPr>
              <a:t>Pieces + keyword search</a:t>
            </a:r>
            <a:endParaRPr lang="en-US" sz="1150" dirty="0"/>
          </a:p>
        </p:txBody>
      </p:sp>
      <p:sp>
        <p:nvSpPr>
          <p:cNvPr id="27" name="Date 3"/>
          <p:cNvSpPr txBox="1"/>
          <p:nvPr/>
        </p:nvSpPr>
        <p:spPr>
          <a:xfrm>
            <a:off x="3275215" y="1645920"/>
            <a:ext cx="914400" cy="237744"/>
          </a:xfrm>
          <a:prstGeom prst="rect">
            <a:avLst/>
          </a:prstGeom>
          <a:noFill/>
          <a:ln/>
        </p:spPr>
        <p:txBody>
          <a:bodyPr wrap="square" lIns="0" tIns="0" rIns="0" bIns="0" rtlCol="0" anchor="ctr"/>
          <a:lstStyle/>
          <a:p>
            <a:pPr algn="ctr" indent="0" marL="0">
              <a:buNone/>
            </a:pPr>
            <a:r>
              <a:rPr lang="en-US" sz="1100" dirty="0">
                <a:solidFill>
                  <a:schemeClr val="accent6"/>
                </a:solidFill>
              </a:rPr>
              <a:t>16 Oct</a:t>
            </a:r>
            <a:endParaRPr lang="en-US" sz="1100" dirty="0"/>
          </a:p>
        </p:txBody>
      </p:sp>
      <p:sp>
        <p:nvSpPr>
          <p:cNvPr id="28" name="Node 3"/>
          <p:cNvSpPr/>
          <p:nvPr/>
        </p:nvSpPr>
        <p:spPr>
          <a:xfrm>
            <a:off x="3503815" y="2103120"/>
            <a:ext cx="457200" cy="457200"/>
          </a:xfrm>
          <a:prstGeom prst="ellipse">
            <a:avLst/>
          </a:prstGeom>
          <a:solidFill>
            <a:schemeClr val="accent1"/>
          </a:solidFill>
          <a:ln w="25400">
            <a:solidFill>
              <a:schemeClr val="accent1"/>
            </a:solidFill>
            <a:prstDash val="solid"/>
          </a:ln>
        </p:spPr>
      </p:sp>
      <p:sp>
        <p:nvSpPr>
          <p:cNvPr id="29" name="Node label 3"/>
          <p:cNvSpPr txBox="1"/>
          <p:nvPr/>
        </p:nvSpPr>
        <p:spPr>
          <a:xfrm>
            <a:off x="3503815" y="21031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0" name="Step 3"/>
          <p:cNvSpPr txBox="1"/>
          <p:nvPr/>
        </p:nvSpPr>
        <p:spPr>
          <a:xfrm>
            <a:off x="3266071" y="2651760"/>
            <a:ext cx="932688" cy="566928"/>
          </a:xfrm>
          <a:prstGeom prst="rect">
            <a:avLst/>
          </a:prstGeom>
          <a:noFill/>
          <a:ln/>
        </p:spPr>
        <p:txBody>
          <a:bodyPr wrap="square" lIns="0" tIns="0" rIns="0" bIns="0" rtlCol="0" anchor="t"/>
          <a:lstStyle/>
          <a:p>
            <a:pPr algn="ctr" indent="0" marL="0">
              <a:buNone/>
            </a:pPr>
            <a:r>
              <a:rPr lang="en-US" sz="1150" b="1" dirty="0">
                <a:solidFill>
                  <a:schemeClr val="tx1"/>
                </a:solidFill>
              </a:rPr>
              <a:t>Exam machine, 40 questions</a:t>
            </a:r>
            <a:endParaRPr lang="en-US" sz="1150" dirty="0"/>
          </a:p>
        </p:txBody>
      </p:sp>
      <p:sp>
        <p:nvSpPr>
          <p:cNvPr id="31" name="Date 4"/>
          <p:cNvSpPr txBox="1"/>
          <p:nvPr/>
        </p:nvSpPr>
        <p:spPr>
          <a:xfrm>
            <a:off x="4214553" y="1645920"/>
            <a:ext cx="914400" cy="237744"/>
          </a:xfrm>
          <a:prstGeom prst="rect">
            <a:avLst/>
          </a:prstGeom>
          <a:noFill/>
          <a:ln/>
        </p:spPr>
        <p:txBody>
          <a:bodyPr wrap="square" lIns="0" tIns="0" rIns="0" bIns="0" rtlCol="0" anchor="ctr"/>
          <a:lstStyle/>
          <a:p>
            <a:pPr algn="ctr" indent="0" marL="0">
              <a:buNone/>
            </a:pPr>
            <a:r>
              <a:rPr lang="en-US" sz="1100" dirty="0">
                <a:solidFill>
                  <a:schemeClr val="accent6"/>
                </a:solidFill>
              </a:rPr>
              <a:t>16 Oct</a:t>
            </a:r>
            <a:endParaRPr lang="en-US" sz="1100" dirty="0"/>
          </a:p>
        </p:txBody>
      </p:sp>
      <p:sp>
        <p:nvSpPr>
          <p:cNvPr id="32" name="Node 4"/>
          <p:cNvSpPr/>
          <p:nvPr/>
        </p:nvSpPr>
        <p:spPr>
          <a:xfrm>
            <a:off x="4443153" y="2103120"/>
            <a:ext cx="457200" cy="457200"/>
          </a:xfrm>
          <a:prstGeom prst="ellipse">
            <a:avLst/>
          </a:prstGeom>
          <a:solidFill>
            <a:schemeClr val="accent2"/>
          </a:solidFill>
          <a:ln w="25400">
            <a:solidFill>
              <a:schemeClr val="accent2"/>
            </a:solidFill>
            <a:prstDash val="solid"/>
          </a:ln>
        </p:spPr>
      </p:sp>
      <p:sp>
        <p:nvSpPr>
          <p:cNvPr id="33" name="Node label 4"/>
          <p:cNvSpPr txBox="1"/>
          <p:nvPr/>
        </p:nvSpPr>
        <p:spPr>
          <a:xfrm>
            <a:off x="4443153" y="21031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4" name="Step 4"/>
          <p:cNvSpPr txBox="1"/>
          <p:nvPr/>
        </p:nvSpPr>
        <p:spPr>
          <a:xfrm>
            <a:off x="4205409" y="2651760"/>
            <a:ext cx="932688" cy="566928"/>
          </a:xfrm>
          <a:prstGeom prst="rect">
            <a:avLst/>
          </a:prstGeom>
          <a:noFill/>
          <a:ln/>
        </p:spPr>
        <p:txBody>
          <a:bodyPr wrap="square" lIns="0" tIns="0" rIns="0" bIns="0" rtlCol="0" anchor="t"/>
          <a:lstStyle/>
          <a:p>
            <a:pPr algn="ctr" indent="0" marL="0">
              <a:buNone/>
            </a:pPr>
            <a:r>
              <a:rPr lang="en-US" sz="1150" b="1" dirty="0">
                <a:solidFill>
                  <a:schemeClr val="tx1"/>
                </a:solidFill>
              </a:rPr>
              <a:t>Search by meaning</a:t>
            </a:r>
            <a:endParaRPr lang="en-US" sz="1150" dirty="0"/>
          </a:p>
        </p:txBody>
      </p:sp>
      <p:sp>
        <p:nvSpPr>
          <p:cNvPr id="35" name="Date 5"/>
          <p:cNvSpPr txBox="1"/>
          <p:nvPr/>
        </p:nvSpPr>
        <p:spPr>
          <a:xfrm>
            <a:off x="5153891" y="1645920"/>
            <a:ext cx="914400" cy="237744"/>
          </a:xfrm>
          <a:prstGeom prst="rect">
            <a:avLst/>
          </a:prstGeom>
          <a:noFill/>
          <a:ln/>
        </p:spPr>
        <p:txBody>
          <a:bodyPr wrap="square" lIns="0" tIns="0" rIns="0" bIns="0" rtlCol="0" anchor="ctr"/>
          <a:lstStyle/>
          <a:p>
            <a:pPr algn="ctr" indent="0" marL="0">
              <a:buNone/>
            </a:pPr>
            <a:r>
              <a:rPr lang="en-US" sz="1100" dirty="0">
                <a:solidFill>
                  <a:schemeClr val="accent6"/>
                </a:solidFill>
              </a:rPr>
              <a:t>16–17 Oct</a:t>
            </a:r>
            <a:endParaRPr lang="en-US" sz="1100" dirty="0"/>
          </a:p>
        </p:txBody>
      </p:sp>
      <p:sp>
        <p:nvSpPr>
          <p:cNvPr id="36" name="Node 5"/>
          <p:cNvSpPr/>
          <p:nvPr/>
        </p:nvSpPr>
        <p:spPr>
          <a:xfrm>
            <a:off x="5382491" y="2103120"/>
            <a:ext cx="457200" cy="457200"/>
          </a:xfrm>
          <a:prstGeom prst="ellipse">
            <a:avLst/>
          </a:prstGeom>
          <a:solidFill>
            <a:schemeClr val="accent2"/>
          </a:solidFill>
          <a:ln w="25400">
            <a:solidFill>
              <a:schemeClr val="accent2"/>
            </a:solidFill>
            <a:prstDash val="solid"/>
          </a:ln>
        </p:spPr>
      </p:sp>
      <p:sp>
        <p:nvSpPr>
          <p:cNvPr id="37" name="Node label 5"/>
          <p:cNvSpPr txBox="1"/>
          <p:nvPr/>
        </p:nvSpPr>
        <p:spPr>
          <a:xfrm>
            <a:off x="5382491" y="21031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8" name="Step 5"/>
          <p:cNvSpPr txBox="1"/>
          <p:nvPr/>
        </p:nvSpPr>
        <p:spPr>
          <a:xfrm>
            <a:off x="5144747" y="2651760"/>
            <a:ext cx="932688" cy="566928"/>
          </a:xfrm>
          <a:prstGeom prst="rect">
            <a:avLst/>
          </a:prstGeom>
          <a:noFill/>
          <a:ln/>
        </p:spPr>
        <p:txBody>
          <a:bodyPr wrap="square" lIns="0" tIns="0" rIns="0" bIns="0" rtlCol="0" anchor="t"/>
          <a:lstStyle/>
          <a:p>
            <a:pPr algn="ctr" indent="0" marL="0">
              <a:buNone/>
            </a:pPr>
            <a:r>
              <a:rPr lang="en-US" sz="1150" b="1" dirty="0">
                <a:solidFill>
                  <a:schemeClr val="tx1"/>
                </a:solidFill>
              </a:rPr>
              <a:t>Ranking + reranker</a:t>
            </a:r>
            <a:endParaRPr lang="en-US" sz="1150" dirty="0"/>
          </a:p>
        </p:txBody>
      </p:sp>
      <p:sp>
        <p:nvSpPr>
          <p:cNvPr id="39" name="Date 6"/>
          <p:cNvSpPr txBox="1"/>
          <p:nvPr/>
        </p:nvSpPr>
        <p:spPr>
          <a:xfrm>
            <a:off x="6093229" y="1645920"/>
            <a:ext cx="914400" cy="237744"/>
          </a:xfrm>
          <a:prstGeom prst="rect">
            <a:avLst/>
          </a:prstGeom>
          <a:noFill/>
          <a:ln/>
        </p:spPr>
        <p:txBody>
          <a:bodyPr wrap="square" lIns="0" tIns="0" rIns="0" bIns="0" rtlCol="0" anchor="ctr"/>
          <a:lstStyle/>
          <a:p>
            <a:pPr algn="ctr" indent="0" marL="0">
              <a:buNone/>
            </a:pPr>
            <a:r>
              <a:rPr lang="en-US" sz="1100" dirty="0">
                <a:solidFill>
                  <a:schemeClr val="accent6"/>
                </a:solidFill>
              </a:rPr>
              <a:t>17 Oct</a:t>
            </a:r>
            <a:endParaRPr lang="en-US" sz="1100" dirty="0"/>
          </a:p>
        </p:txBody>
      </p:sp>
      <p:sp>
        <p:nvSpPr>
          <p:cNvPr id="40" name="Node 6"/>
          <p:cNvSpPr/>
          <p:nvPr/>
        </p:nvSpPr>
        <p:spPr>
          <a:xfrm>
            <a:off x="6321829" y="2103120"/>
            <a:ext cx="457200" cy="457200"/>
          </a:xfrm>
          <a:prstGeom prst="ellipse">
            <a:avLst/>
          </a:prstGeom>
          <a:solidFill>
            <a:schemeClr val="bg1"/>
          </a:solidFill>
          <a:ln w="25400">
            <a:solidFill>
              <a:schemeClr val="accent4"/>
            </a:solidFill>
            <a:prstDash val="solid"/>
          </a:ln>
        </p:spPr>
      </p:sp>
      <p:sp>
        <p:nvSpPr>
          <p:cNvPr id="41" name="Node label 6"/>
          <p:cNvSpPr txBox="1"/>
          <p:nvPr/>
        </p:nvSpPr>
        <p:spPr>
          <a:xfrm>
            <a:off x="6321829" y="2103120"/>
            <a:ext cx="457200" cy="457200"/>
          </a:xfrm>
          <a:prstGeom prst="rect">
            <a:avLst/>
          </a:prstGeom>
          <a:noFill/>
          <a:ln/>
        </p:spPr>
        <p:txBody>
          <a:bodyPr wrap="square" lIns="0" tIns="0" rIns="0" bIns="0" rtlCol="0" anchor="ctr"/>
          <a:lstStyle/>
          <a:p>
            <a:pPr algn="ctr" indent="0" marL="0">
              <a:buNone/>
            </a:pPr>
            <a:r>
              <a:rPr lang="en-US" sz="1400" b="1" dirty="0">
                <a:solidFill>
                  <a:schemeClr val="accent6"/>
                </a:solidFill>
              </a:rPr>
              <a:t>6</a:t>
            </a:r>
            <a:endParaRPr lang="en-US" sz="1400" dirty="0"/>
          </a:p>
        </p:txBody>
      </p:sp>
      <p:sp>
        <p:nvSpPr>
          <p:cNvPr id="42" name="Step 6"/>
          <p:cNvSpPr txBox="1"/>
          <p:nvPr/>
        </p:nvSpPr>
        <p:spPr>
          <a:xfrm>
            <a:off x="6084085" y="2651760"/>
            <a:ext cx="932688" cy="566928"/>
          </a:xfrm>
          <a:prstGeom prst="rect">
            <a:avLst/>
          </a:prstGeom>
          <a:noFill/>
          <a:ln/>
        </p:spPr>
        <p:txBody>
          <a:bodyPr wrap="square" lIns="0" tIns="0" rIns="0" bIns="0" rtlCol="0" anchor="t"/>
          <a:lstStyle/>
          <a:p>
            <a:pPr algn="ctr" indent="0" marL="0">
              <a:buNone/>
            </a:pPr>
            <a:r>
              <a:rPr lang="en-US" sz="1150" b="1" dirty="0">
                <a:solidFill>
                  <a:schemeClr val="tx1"/>
                </a:solidFill>
              </a:rPr>
              <a:t>Answer generation</a:t>
            </a:r>
            <a:endParaRPr lang="en-US" sz="1150" dirty="0"/>
          </a:p>
        </p:txBody>
      </p:sp>
      <p:sp>
        <p:nvSpPr>
          <p:cNvPr id="43" name="Date 7"/>
          <p:cNvSpPr txBox="1"/>
          <p:nvPr/>
        </p:nvSpPr>
        <p:spPr>
          <a:xfrm>
            <a:off x="7032567" y="1645920"/>
            <a:ext cx="914400" cy="237744"/>
          </a:xfrm>
          <a:prstGeom prst="rect">
            <a:avLst/>
          </a:prstGeom>
          <a:noFill/>
          <a:ln/>
        </p:spPr>
        <p:txBody>
          <a:bodyPr wrap="square" lIns="0" tIns="0" rIns="0" bIns="0" rtlCol="0" anchor="ctr"/>
          <a:lstStyle/>
          <a:p>
            <a:pPr algn="ctr" indent="0" marL="0">
              <a:buNone/>
            </a:pPr>
            <a:r>
              <a:rPr lang="en-US" sz="1100" dirty="0">
                <a:solidFill>
                  <a:schemeClr val="accent6"/>
                </a:solidFill>
              </a:rPr>
              <a:t>18 Oct</a:t>
            </a:r>
            <a:endParaRPr lang="en-US" sz="1100" dirty="0"/>
          </a:p>
        </p:txBody>
      </p:sp>
      <p:sp>
        <p:nvSpPr>
          <p:cNvPr id="44" name="Node 7"/>
          <p:cNvSpPr/>
          <p:nvPr/>
        </p:nvSpPr>
        <p:spPr>
          <a:xfrm>
            <a:off x="7261167" y="2103120"/>
            <a:ext cx="457200" cy="457200"/>
          </a:xfrm>
          <a:prstGeom prst="ellipse">
            <a:avLst/>
          </a:prstGeom>
          <a:solidFill>
            <a:schemeClr val="bg1"/>
          </a:solidFill>
          <a:ln w="25400">
            <a:solidFill>
              <a:schemeClr val="accent4"/>
            </a:solidFill>
            <a:prstDash val="solid"/>
          </a:ln>
        </p:spPr>
      </p:sp>
      <p:sp>
        <p:nvSpPr>
          <p:cNvPr id="45" name="Node label 7"/>
          <p:cNvSpPr txBox="1"/>
          <p:nvPr/>
        </p:nvSpPr>
        <p:spPr>
          <a:xfrm>
            <a:off x="7261167" y="2103120"/>
            <a:ext cx="457200" cy="457200"/>
          </a:xfrm>
          <a:prstGeom prst="rect">
            <a:avLst/>
          </a:prstGeom>
          <a:noFill/>
          <a:ln/>
        </p:spPr>
        <p:txBody>
          <a:bodyPr wrap="square" lIns="0" tIns="0" rIns="0" bIns="0" rtlCol="0" anchor="ctr"/>
          <a:lstStyle/>
          <a:p>
            <a:pPr algn="ctr" indent="0" marL="0">
              <a:buNone/>
            </a:pPr>
            <a:r>
              <a:rPr lang="en-US" sz="1400" b="1" dirty="0">
                <a:solidFill>
                  <a:schemeClr val="accent6"/>
                </a:solidFill>
              </a:rPr>
              <a:t>7</a:t>
            </a:r>
            <a:endParaRPr lang="en-US" sz="1400" dirty="0"/>
          </a:p>
        </p:txBody>
      </p:sp>
      <p:sp>
        <p:nvSpPr>
          <p:cNvPr id="46" name="Step 7"/>
          <p:cNvSpPr txBox="1"/>
          <p:nvPr/>
        </p:nvSpPr>
        <p:spPr>
          <a:xfrm>
            <a:off x="7023423" y="2651760"/>
            <a:ext cx="932688" cy="566928"/>
          </a:xfrm>
          <a:prstGeom prst="rect">
            <a:avLst/>
          </a:prstGeom>
          <a:noFill/>
          <a:ln/>
        </p:spPr>
        <p:txBody>
          <a:bodyPr wrap="square" lIns="0" tIns="0" rIns="0" bIns="0" rtlCol="0" anchor="t"/>
          <a:lstStyle/>
          <a:p>
            <a:pPr algn="ctr" indent="0" marL="0">
              <a:buNone/>
            </a:pPr>
            <a:r>
              <a:rPr lang="en-US" sz="1150" b="1" dirty="0">
                <a:solidFill>
                  <a:schemeClr val="tx1"/>
                </a:solidFill>
              </a:rPr>
              <a:t>Agent + tracking</a:t>
            </a:r>
            <a:endParaRPr lang="en-US" sz="1150" dirty="0"/>
          </a:p>
        </p:txBody>
      </p:sp>
      <p:sp>
        <p:nvSpPr>
          <p:cNvPr id="47" name="Date 8"/>
          <p:cNvSpPr txBox="1"/>
          <p:nvPr/>
        </p:nvSpPr>
        <p:spPr>
          <a:xfrm>
            <a:off x="7971905" y="1645920"/>
            <a:ext cx="914400" cy="237744"/>
          </a:xfrm>
          <a:prstGeom prst="rect">
            <a:avLst/>
          </a:prstGeom>
          <a:noFill/>
          <a:ln/>
        </p:spPr>
        <p:txBody>
          <a:bodyPr wrap="square" lIns="0" tIns="0" rIns="0" bIns="0" rtlCol="0" anchor="ctr"/>
          <a:lstStyle/>
          <a:p>
            <a:pPr algn="ctr" indent="0" marL="0">
              <a:buNone/>
            </a:pPr>
            <a:r>
              <a:rPr lang="en-US" sz="1100" dirty="0">
                <a:solidFill>
                  <a:schemeClr val="accent6"/>
                </a:solidFill>
              </a:rPr>
              <a:t>19 Oct</a:t>
            </a:r>
            <a:endParaRPr lang="en-US" sz="1100" dirty="0"/>
          </a:p>
        </p:txBody>
      </p:sp>
      <p:sp>
        <p:nvSpPr>
          <p:cNvPr id="48" name="Node 8"/>
          <p:cNvSpPr/>
          <p:nvPr/>
        </p:nvSpPr>
        <p:spPr>
          <a:xfrm>
            <a:off x="8200505" y="2103120"/>
            <a:ext cx="457200" cy="457200"/>
          </a:xfrm>
          <a:prstGeom prst="ellipse">
            <a:avLst/>
          </a:prstGeom>
          <a:solidFill>
            <a:schemeClr val="bg1"/>
          </a:solidFill>
          <a:ln w="25400">
            <a:solidFill>
              <a:schemeClr val="accent4"/>
            </a:solidFill>
            <a:prstDash val="solid"/>
          </a:ln>
        </p:spPr>
      </p:sp>
      <p:sp>
        <p:nvSpPr>
          <p:cNvPr id="49" name="Node label 8"/>
          <p:cNvSpPr txBox="1"/>
          <p:nvPr/>
        </p:nvSpPr>
        <p:spPr>
          <a:xfrm>
            <a:off x="8200505" y="2103120"/>
            <a:ext cx="457200" cy="457200"/>
          </a:xfrm>
          <a:prstGeom prst="rect">
            <a:avLst/>
          </a:prstGeom>
          <a:noFill/>
          <a:ln/>
        </p:spPr>
        <p:txBody>
          <a:bodyPr wrap="square" lIns="0" tIns="0" rIns="0" bIns="0" rtlCol="0" anchor="ctr"/>
          <a:lstStyle/>
          <a:p>
            <a:pPr algn="ctr" indent="0" marL="0">
              <a:buNone/>
            </a:pPr>
            <a:r>
              <a:rPr lang="en-US" sz="1400" b="1" dirty="0">
                <a:solidFill>
                  <a:schemeClr val="accent6"/>
                </a:solidFill>
              </a:rPr>
              <a:t>8</a:t>
            </a:r>
            <a:endParaRPr lang="en-US" sz="1400" dirty="0"/>
          </a:p>
        </p:txBody>
      </p:sp>
      <p:sp>
        <p:nvSpPr>
          <p:cNvPr id="50" name="Step 8"/>
          <p:cNvSpPr txBox="1"/>
          <p:nvPr/>
        </p:nvSpPr>
        <p:spPr>
          <a:xfrm>
            <a:off x="7962761" y="2651760"/>
            <a:ext cx="932688" cy="566928"/>
          </a:xfrm>
          <a:prstGeom prst="rect">
            <a:avLst/>
          </a:prstGeom>
          <a:noFill/>
          <a:ln/>
        </p:spPr>
        <p:txBody>
          <a:bodyPr wrap="square" lIns="0" tIns="0" rIns="0" bIns="0" rtlCol="0" anchor="t"/>
          <a:lstStyle/>
          <a:p>
            <a:pPr algn="ctr" indent="0" marL="0">
              <a:buNone/>
            </a:pPr>
            <a:r>
              <a:rPr lang="en-US" sz="1150" b="1" dirty="0">
                <a:solidFill>
                  <a:schemeClr val="tx1"/>
                </a:solidFill>
              </a:rPr>
              <a:t>Final evaluation</a:t>
            </a:r>
            <a:endParaRPr lang="en-US" sz="1150" dirty="0"/>
          </a:p>
        </p:txBody>
      </p:sp>
      <p:sp>
        <p:nvSpPr>
          <p:cNvPr id="51" name="Date 9"/>
          <p:cNvSpPr txBox="1"/>
          <p:nvPr/>
        </p:nvSpPr>
        <p:spPr>
          <a:xfrm>
            <a:off x="8911244" y="1645920"/>
            <a:ext cx="914400" cy="237744"/>
          </a:xfrm>
          <a:prstGeom prst="rect">
            <a:avLst/>
          </a:prstGeom>
          <a:noFill/>
          <a:ln/>
        </p:spPr>
        <p:txBody>
          <a:bodyPr wrap="square" lIns="0" tIns="0" rIns="0" bIns="0" rtlCol="0" anchor="ctr"/>
          <a:lstStyle/>
          <a:p>
            <a:pPr algn="ctr" indent="0" marL="0">
              <a:buNone/>
            </a:pPr>
            <a:r>
              <a:rPr lang="en-US" sz="1100" dirty="0">
                <a:solidFill>
                  <a:schemeClr val="accent6"/>
                </a:solidFill>
              </a:rPr>
              <a:t>19 Oct</a:t>
            </a:r>
            <a:endParaRPr lang="en-US" sz="1100" dirty="0"/>
          </a:p>
        </p:txBody>
      </p:sp>
      <p:sp>
        <p:nvSpPr>
          <p:cNvPr id="52" name="Node 9"/>
          <p:cNvSpPr/>
          <p:nvPr/>
        </p:nvSpPr>
        <p:spPr>
          <a:xfrm>
            <a:off x="9139844" y="2103120"/>
            <a:ext cx="457200" cy="457200"/>
          </a:xfrm>
          <a:prstGeom prst="ellipse">
            <a:avLst/>
          </a:prstGeom>
          <a:solidFill>
            <a:schemeClr val="bg1"/>
          </a:solidFill>
          <a:ln w="25400">
            <a:solidFill>
              <a:schemeClr val="accent4"/>
            </a:solidFill>
            <a:prstDash val="solid"/>
          </a:ln>
        </p:spPr>
      </p:sp>
      <p:sp>
        <p:nvSpPr>
          <p:cNvPr id="53" name="Node label 9"/>
          <p:cNvSpPr txBox="1"/>
          <p:nvPr/>
        </p:nvSpPr>
        <p:spPr>
          <a:xfrm>
            <a:off x="9139844" y="2103120"/>
            <a:ext cx="457200" cy="457200"/>
          </a:xfrm>
          <a:prstGeom prst="rect">
            <a:avLst/>
          </a:prstGeom>
          <a:noFill/>
          <a:ln/>
        </p:spPr>
        <p:txBody>
          <a:bodyPr wrap="square" lIns="0" tIns="0" rIns="0" bIns="0" rtlCol="0" anchor="ctr"/>
          <a:lstStyle/>
          <a:p>
            <a:pPr algn="ctr" indent="0" marL="0">
              <a:buNone/>
            </a:pPr>
            <a:r>
              <a:rPr lang="en-US" sz="1400" b="1" dirty="0">
                <a:solidFill>
                  <a:schemeClr val="accent6"/>
                </a:solidFill>
              </a:rPr>
              <a:t>9</a:t>
            </a:r>
            <a:endParaRPr lang="en-US" sz="1400" dirty="0"/>
          </a:p>
        </p:txBody>
      </p:sp>
      <p:sp>
        <p:nvSpPr>
          <p:cNvPr id="54" name="Step 9"/>
          <p:cNvSpPr txBox="1"/>
          <p:nvPr/>
        </p:nvSpPr>
        <p:spPr>
          <a:xfrm>
            <a:off x="8902100" y="2651760"/>
            <a:ext cx="932688" cy="566928"/>
          </a:xfrm>
          <a:prstGeom prst="rect">
            <a:avLst/>
          </a:prstGeom>
          <a:noFill/>
          <a:ln/>
        </p:spPr>
        <p:txBody>
          <a:bodyPr wrap="square" lIns="0" tIns="0" rIns="0" bIns="0" rtlCol="0" anchor="t"/>
          <a:lstStyle/>
          <a:p>
            <a:pPr algn="ctr" indent="0" marL="0">
              <a:buNone/>
            </a:pPr>
            <a:r>
              <a:rPr lang="en-US" sz="1150" b="1" dirty="0">
                <a:solidFill>
                  <a:schemeClr val="tx1"/>
                </a:solidFill>
              </a:rPr>
              <a:t>Bonuses + UI</a:t>
            </a:r>
            <a:endParaRPr lang="en-US" sz="1150" dirty="0"/>
          </a:p>
        </p:txBody>
      </p:sp>
      <p:sp>
        <p:nvSpPr>
          <p:cNvPr id="55" name="Date 10"/>
          <p:cNvSpPr txBox="1"/>
          <p:nvPr/>
        </p:nvSpPr>
        <p:spPr>
          <a:xfrm>
            <a:off x="9850582" y="1645920"/>
            <a:ext cx="914400" cy="237744"/>
          </a:xfrm>
          <a:prstGeom prst="rect">
            <a:avLst/>
          </a:prstGeom>
          <a:noFill/>
          <a:ln/>
        </p:spPr>
        <p:txBody>
          <a:bodyPr wrap="square" lIns="0" tIns="0" rIns="0" bIns="0" rtlCol="0" anchor="ctr"/>
          <a:lstStyle/>
          <a:p>
            <a:pPr algn="ctr" indent="0" marL="0">
              <a:buNone/>
            </a:pPr>
            <a:r>
              <a:rPr lang="en-US" sz="1100" dirty="0">
                <a:solidFill>
                  <a:schemeClr val="accent6"/>
                </a:solidFill>
              </a:rPr>
              <a:t>20 Oct</a:t>
            </a:r>
            <a:endParaRPr lang="en-US" sz="1100" dirty="0"/>
          </a:p>
        </p:txBody>
      </p:sp>
      <p:sp>
        <p:nvSpPr>
          <p:cNvPr id="56" name="Node 10"/>
          <p:cNvSpPr/>
          <p:nvPr/>
        </p:nvSpPr>
        <p:spPr>
          <a:xfrm>
            <a:off x="10079182" y="2103120"/>
            <a:ext cx="457200" cy="457200"/>
          </a:xfrm>
          <a:prstGeom prst="ellipse">
            <a:avLst/>
          </a:prstGeom>
          <a:solidFill>
            <a:schemeClr val="bg1"/>
          </a:solidFill>
          <a:ln w="25400">
            <a:solidFill>
              <a:schemeClr val="accent4"/>
            </a:solidFill>
            <a:prstDash val="solid"/>
          </a:ln>
        </p:spPr>
      </p:sp>
      <p:sp>
        <p:nvSpPr>
          <p:cNvPr id="57" name="Node label 10"/>
          <p:cNvSpPr txBox="1"/>
          <p:nvPr/>
        </p:nvSpPr>
        <p:spPr>
          <a:xfrm>
            <a:off x="10079182" y="2103120"/>
            <a:ext cx="457200" cy="457200"/>
          </a:xfrm>
          <a:prstGeom prst="rect">
            <a:avLst/>
          </a:prstGeom>
          <a:noFill/>
          <a:ln/>
        </p:spPr>
        <p:txBody>
          <a:bodyPr wrap="square" lIns="0" tIns="0" rIns="0" bIns="0" rtlCol="0" anchor="ctr"/>
          <a:lstStyle/>
          <a:p>
            <a:pPr algn="ctr" indent="0" marL="0">
              <a:buNone/>
            </a:pPr>
            <a:r>
              <a:rPr lang="en-US" sz="1400" b="1" dirty="0">
                <a:solidFill>
                  <a:schemeClr val="accent6"/>
                </a:solidFill>
              </a:rPr>
              <a:t>10</a:t>
            </a:r>
            <a:endParaRPr lang="en-US" sz="1400" dirty="0"/>
          </a:p>
        </p:txBody>
      </p:sp>
      <p:sp>
        <p:nvSpPr>
          <p:cNvPr id="58" name="Step 10"/>
          <p:cNvSpPr txBox="1"/>
          <p:nvPr/>
        </p:nvSpPr>
        <p:spPr>
          <a:xfrm>
            <a:off x="9841438" y="2651760"/>
            <a:ext cx="932688" cy="566928"/>
          </a:xfrm>
          <a:prstGeom prst="rect">
            <a:avLst/>
          </a:prstGeom>
          <a:noFill/>
          <a:ln/>
        </p:spPr>
        <p:txBody>
          <a:bodyPr wrap="square" lIns="0" tIns="0" rIns="0" bIns="0" rtlCol="0" anchor="t"/>
          <a:lstStyle/>
          <a:p>
            <a:pPr algn="ctr" indent="0" marL="0">
              <a:buNone/>
            </a:pPr>
            <a:r>
              <a:rPr lang="en-US" sz="1150" b="1" dirty="0">
                <a:solidFill>
                  <a:schemeClr val="tx1"/>
                </a:solidFill>
              </a:rPr>
              <a:t>Code freeze v1.0</a:t>
            </a:r>
            <a:endParaRPr lang="en-US" sz="1150" dirty="0"/>
          </a:p>
        </p:txBody>
      </p:sp>
      <p:sp>
        <p:nvSpPr>
          <p:cNvPr id="59" name="Date 11"/>
          <p:cNvSpPr txBox="1"/>
          <p:nvPr/>
        </p:nvSpPr>
        <p:spPr>
          <a:xfrm>
            <a:off x="10789920" y="1645920"/>
            <a:ext cx="914400" cy="237744"/>
          </a:xfrm>
          <a:prstGeom prst="rect">
            <a:avLst/>
          </a:prstGeom>
          <a:noFill/>
          <a:ln/>
        </p:spPr>
        <p:txBody>
          <a:bodyPr wrap="square" lIns="0" tIns="0" rIns="0" bIns="0" rtlCol="0" anchor="ctr"/>
          <a:lstStyle/>
          <a:p>
            <a:pPr algn="ctr" indent="0" marL="0">
              <a:buNone/>
            </a:pPr>
            <a:r>
              <a:rPr lang="en-US" sz="1100" dirty="0">
                <a:solidFill>
                  <a:schemeClr val="accent6"/>
                </a:solidFill>
              </a:rPr>
              <a:t>21 Oct</a:t>
            </a:r>
            <a:endParaRPr lang="en-US" sz="1100" dirty="0"/>
          </a:p>
        </p:txBody>
      </p:sp>
      <p:sp>
        <p:nvSpPr>
          <p:cNvPr id="60" name="Node 11"/>
          <p:cNvSpPr/>
          <p:nvPr/>
        </p:nvSpPr>
        <p:spPr>
          <a:xfrm>
            <a:off x="11018520" y="2103120"/>
            <a:ext cx="457200" cy="457200"/>
          </a:xfrm>
          <a:prstGeom prst="ellipse">
            <a:avLst/>
          </a:prstGeom>
          <a:solidFill>
            <a:schemeClr val="bg1"/>
          </a:solidFill>
          <a:ln w="25400">
            <a:solidFill>
              <a:schemeClr val="accent4"/>
            </a:solidFill>
            <a:prstDash val="solid"/>
          </a:ln>
        </p:spPr>
      </p:sp>
      <p:sp>
        <p:nvSpPr>
          <p:cNvPr id="61" name="Node label 11"/>
          <p:cNvSpPr txBox="1"/>
          <p:nvPr/>
        </p:nvSpPr>
        <p:spPr>
          <a:xfrm>
            <a:off x="11018520" y="2103120"/>
            <a:ext cx="457200" cy="457200"/>
          </a:xfrm>
          <a:prstGeom prst="rect">
            <a:avLst/>
          </a:prstGeom>
          <a:noFill/>
          <a:ln/>
        </p:spPr>
        <p:txBody>
          <a:bodyPr wrap="square" lIns="0" tIns="0" rIns="0" bIns="0" rtlCol="0" anchor="ctr"/>
          <a:lstStyle/>
          <a:p>
            <a:pPr algn="ctr" indent="0" marL="0">
              <a:buNone/>
            </a:pPr>
            <a:r>
              <a:rPr lang="en-US" sz="1400" b="1" dirty="0">
                <a:solidFill>
                  <a:schemeClr val="accent6"/>
                </a:solidFill>
              </a:rPr>
              <a:t>11</a:t>
            </a:r>
            <a:endParaRPr lang="en-US" sz="1400" dirty="0"/>
          </a:p>
        </p:txBody>
      </p:sp>
      <p:sp>
        <p:nvSpPr>
          <p:cNvPr id="62" name="Step 11"/>
          <p:cNvSpPr txBox="1"/>
          <p:nvPr/>
        </p:nvSpPr>
        <p:spPr>
          <a:xfrm>
            <a:off x="10780776" y="2651760"/>
            <a:ext cx="932688" cy="566928"/>
          </a:xfrm>
          <a:prstGeom prst="rect">
            <a:avLst/>
          </a:prstGeom>
          <a:noFill/>
          <a:ln/>
        </p:spPr>
        <p:txBody>
          <a:bodyPr wrap="square" lIns="0" tIns="0" rIns="0" bIns="0" rtlCol="0" anchor="t"/>
          <a:lstStyle/>
          <a:p>
            <a:pPr algn="ctr" indent="0" marL="0">
              <a:buNone/>
            </a:pPr>
            <a:r>
              <a:rPr lang="en-US" sz="1150" b="1" dirty="0">
                <a:solidFill>
                  <a:schemeClr val="tx1"/>
                </a:solidFill>
              </a:rPr>
              <a:t>Defence</a:t>
            </a:r>
            <a:endParaRPr lang="en-US" sz="1150" dirty="0"/>
          </a:p>
        </p:txBody>
      </p:sp>
      <p:sp>
        <p:nvSpPr>
          <p:cNvPr id="63" name="Today tag"/>
          <p:cNvSpPr/>
          <p:nvPr/>
        </p:nvSpPr>
        <p:spPr>
          <a:xfrm>
            <a:off x="5733288" y="1892808"/>
            <a:ext cx="694944" cy="219456"/>
          </a:xfrm>
          <a:prstGeom prst="roundRect">
            <a:avLst>
              <a:gd name="adj" fmla="val 33333"/>
            </a:avLst>
          </a:prstGeom>
          <a:solidFill>
            <a:schemeClr val="tx2"/>
          </a:solidFill>
          <a:ln w="12700">
            <a:solidFill>
              <a:schemeClr val="tx2"/>
            </a:solidFill>
            <a:prstDash val="solid"/>
          </a:ln>
        </p:spPr>
      </p:sp>
      <p:sp>
        <p:nvSpPr>
          <p:cNvPr id="64" name="Today label"/>
          <p:cNvSpPr txBox="1"/>
          <p:nvPr/>
        </p:nvSpPr>
        <p:spPr>
          <a:xfrm>
            <a:off x="5733288" y="1892808"/>
            <a:ext cx="694944" cy="219456"/>
          </a:xfrm>
          <a:prstGeom prst="rect">
            <a:avLst/>
          </a:prstGeom>
          <a:noFill/>
          <a:ln/>
        </p:spPr>
        <p:txBody>
          <a:bodyPr wrap="square" lIns="0" tIns="0" rIns="0" bIns="0" rtlCol="0" anchor="ctr"/>
          <a:lstStyle/>
          <a:p>
            <a:pPr algn="ctr" indent="0" marL="0">
              <a:buNone/>
            </a:pPr>
            <a:r>
              <a:rPr lang="en-US" sz="1000" b="1" dirty="0">
                <a:solidFill>
                  <a:schemeClr val="bg1"/>
                </a:solidFill>
              </a:rPr>
              <a:t>TODAY</a:t>
            </a:r>
            <a:endParaRPr lang="en-US" sz="1000" dirty="0"/>
          </a:p>
        </p:txBody>
      </p:sp>
      <p:sp>
        <p:nvSpPr>
          <p:cNvPr id="65" name="Step 4 note"/>
          <p:cNvSpPr txBox="1"/>
          <p:nvPr/>
        </p:nvSpPr>
        <p:spPr>
          <a:xfrm>
            <a:off x="4168833" y="3200400"/>
            <a:ext cx="1005840" cy="228600"/>
          </a:xfrm>
          <a:prstGeom prst="rect">
            <a:avLst/>
          </a:prstGeom>
          <a:noFill/>
          <a:ln/>
        </p:spPr>
        <p:txBody>
          <a:bodyPr wrap="square" lIns="0" tIns="0" rIns="0" bIns="0" rtlCol="0" anchor="ctr"/>
          <a:lstStyle/>
          <a:p>
            <a:pPr algn="ctr" indent="0" marL="0">
              <a:buNone/>
            </a:pPr>
            <a:r>
              <a:rPr lang="en-US" sz="1000" i="1" dirty="0">
                <a:solidFill>
                  <a:schemeClr val="accent6"/>
                </a:solidFill>
              </a:rPr>
              <a:t>PR #8 in review</a:t>
            </a:r>
            <a:endParaRPr lang="en-US" sz="1000" dirty="0"/>
          </a:p>
        </p:txBody>
      </p:sp>
      <p:sp>
        <p:nvSpPr>
          <p:cNvPr id="66" name="Step 5 note"/>
          <p:cNvSpPr txBox="1"/>
          <p:nvPr/>
        </p:nvSpPr>
        <p:spPr>
          <a:xfrm>
            <a:off x="5108171" y="3200400"/>
            <a:ext cx="1005840" cy="228600"/>
          </a:xfrm>
          <a:prstGeom prst="rect">
            <a:avLst/>
          </a:prstGeom>
          <a:noFill/>
          <a:ln/>
        </p:spPr>
        <p:txBody>
          <a:bodyPr wrap="square" lIns="0" tIns="0" rIns="0" bIns="0" rtlCol="0" anchor="ctr"/>
          <a:lstStyle/>
          <a:p>
            <a:pPr algn="ctr" indent="0" marL="0">
              <a:buNone/>
            </a:pPr>
            <a:r>
              <a:rPr lang="en-US" sz="1000" i="1" dirty="0">
                <a:solidFill>
                  <a:schemeClr val="accent6"/>
                </a:solidFill>
              </a:rPr>
              <a:t>PR #8 in review</a:t>
            </a:r>
            <a:endParaRPr lang="en-US" sz="1000" dirty="0"/>
          </a:p>
        </p:txBody>
      </p:sp>
      <p:sp>
        <p:nvSpPr>
          <p:cNvPr id="67" name="Card Done since 14 Oct"/>
          <p:cNvSpPr/>
          <p:nvPr/>
        </p:nvSpPr>
        <p:spPr>
          <a:xfrm>
            <a:off x="548640" y="3703320"/>
            <a:ext cx="3520440" cy="2514600"/>
          </a:xfrm>
          <a:prstGeom prst="roundRect">
            <a:avLst>
              <a:gd name="adj" fmla="val 4364"/>
            </a:avLst>
          </a:prstGeom>
          <a:solidFill>
            <a:schemeClr val="bg2"/>
          </a:solidFill>
          <a:ln w="12700">
            <a:solidFill>
              <a:schemeClr val="bg2"/>
            </a:solidFill>
            <a:prstDash val="solid"/>
          </a:ln>
        </p:spPr>
      </p:sp>
      <p:sp>
        <p:nvSpPr>
          <p:cNvPr id="68" name="Card Done since 14 Oct dot"/>
          <p:cNvSpPr/>
          <p:nvPr/>
        </p:nvSpPr>
        <p:spPr>
          <a:xfrm>
            <a:off x="777240" y="3950208"/>
            <a:ext cx="182880" cy="182880"/>
          </a:xfrm>
          <a:prstGeom prst="ellipse">
            <a:avLst/>
          </a:prstGeom>
          <a:solidFill>
            <a:schemeClr val="accent1"/>
          </a:solidFill>
          <a:ln w="12700">
            <a:solidFill>
              <a:schemeClr val="accent1"/>
            </a:solidFill>
            <a:prstDash val="solid"/>
          </a:ln>
        </p:spPr>
      </p:sp>
      <p:sp>
        <p:nvSpPr>
          <p:cNvPr id="69" name="Card Done since 14 Oct title"/>
          <p:cNvSpPr txBox="1"/>
          <p:nvPr/>
        </p:nvSpPr>
        <p:spPr>
          <a:xfrm>
            <a:off x="1051560" y="3858768"/>
            <a:ext cx="2880360" cy="365760"/>
          </a:xfrm>
          <a:prstGeom prst="rect">
            <a:avLst/>
          </a:prstGeom>
          <a:noFill/>
          <a:ln/>
        </p:spPr>
        <p:txBody>
          <a:bodyPr wrap="square" lIns="0" tIns="0" rIns="0" bIns="0" rtlCol="0" anchor="ctr"/>
          <a:lstStyle/>
          <a:p>
            <a:pPr indent="0" marL="0">
              <a:buNone/>
            </a:pPr>
            <a:r>
              <a:rPr lang="en-US" sz="1800" b="1" dirty="0">
                <a:solidFill>
                  <a:schemeClr val="tx2"/>
                </a:solidFill>
              </a:rPr>
              <a:t>Done since 14 Oct</a:t>
            </a:r>
            <a:endParaRPr lang="en-US" sz="1800" dirty="0"/>
          </a:p>
        </p:txBody>
      </p:sp>
      <p:sp>
        <p:nvSpPr>
          <p:cNvPr id="70" name="Card body Done since 14 Oct"/>
          <p:cNvSpPr txBox="1"/>
          <p:nvPr/>
        </p:nvSpPr>
        <p:spPr>
          <a:xfrm>
            <a:off x="777240" y="4343400"/>
            <a:ext cx="3108960" cy="17373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Aids cut into 865 searchable pieces, checked by hand</a:t>
            </a:r>
            <a:endParaRPr lang="en-US" sz="1400" dirty="0"/>
          </a:p>
          <a:p>
            <a:pPr marL="177800" indent="-177800">
              <a:spcAft>
                <a:spcPts val="600"/>
              </a:spcAft>
              <a:buSzPct val="100000"/>
              <a:buChar char="•"/>
            </a:pPr>
            <a:r>
              <a:rPr lang="en-US" sz="1400" dirty="0">
                <a:solidFill>
                  <a:schemeClr val="tx1"/>
                </a:solidFill>
              </a:rPr>
              <a:t>Keyword search + 40-question exam machine (run_eval.py)</a:t>
            </a:r>
            <a:endParaRPr lang="en-US" sz="1400" dirty="0"/>
          </a:p>
          <a:p>
            <a:pPr marL="177800" indent="-177800">
              <a:spcAft>
                <a:spcPts val="600"/>
              </a:spcAft>
              <a:buSzPct val="100000"/>
              <a:buChar char="•"/>
            </a:pPr>
            <a:r>
              <a:rPr lang="en-US" sz="1400" dirty="0">
                <a:solidFill>
                  <a:schemeClr val="tx1"/>
                </a:solidFill>
              </a:rPr>
              <a:t>bge-m3 chosen; 2 rerankers tested; free ×3 fix adopted</a:t>
            </a:r>
            <a:endParaRPr lang="en-US" sz="1400" dirty="0"/>
          </a:p>
        </p:txBody>
      </p:sp>
      <p:sp>
        <p:nvSpPr>
          <p:cNvPr id="71" name="Card Next, in order"/>
          <p:cNvSpPr/>
          <p:nvPr/>
        </p:nvSpPr>
        <p:spPr>
          <a:xfrm>
            <a:off x="4343400" y="3703320"/>
            <a:ext cx="3520440" cy="2514600"/>
          </a:xfrm>
          <a:prstGeom prst="roundRect">
            <a:avLst>
              <a:gd name="adj" fmla="val 4364"/>
            </a:avLst>
          </a:prstGeom>
          <a:solidFill>
            <a:schemeClr val="bg2"/>
          </a:solidFill>
          <a:ln w="12700">
            <a:solidFill>
              <a:schemeClr val="bg2"/>
            </a:solidFill>
            <a:prstDash val="solid"/>
          </a:ln>
        </p:spPr>
      </p:sp>
      <p:sp>
        <p:nvSpPr>
          <p:cNvPr id="72" name="Card Next, in order dot"/>
          <p:cNvSpPr/>
          <p:nvPr/>
        </p:nvSpPr>
        <p:spPr>
          <a:xfrm>
            <a:off x="4572000" y="3950208"/>
            <a:ext cx="182880" cy="182880"/>
          </a:xfrm>
          <a:prstGeom prst="ellipse">
            <a:avLst/>
          </a:prstGeom>
          <a:solidFill>
            <a:schemeClr val="accent2"/>
          </a:solidFill>
          <a:ln w="12700">
            <a:solidFill>
              <a:schemeClr val="accent2"/>
            </a:solidFill>
            <a:prstDash val="solid"/>
          </a:ln>
        </p:spPr>
      </p:sp>
      <p:sp>
        <p:nvSpPr>
          <p:cNvPr id="73" name="Card Next, in order title"/>
          <p:cNvSpPr txBox="1"/>
          <p:nvPr/>
        </p:nvSpPr>
        <p:spPr>
          <a:xfrm>
            <a:off x="4846320" y="3858768"/>
            <a:ext cx="2880360" cy="365760"/>
          </a:xfrm>
          <a:prstGeom prst="rect">
            <a:avLst/>
          </a:prstGeom>
          <a:noFill/>
          <a:ln/>
        </p:spPr>
        <p:txBody>
          <a:bodyPr wrap="square" lIns="0" tIns="0" rIns="0" bIns="0" rtlCol="0" anchor="ctr"/>
          <a:lstStyle/>
          <a:p>
            <a:pPr indent="0" marL="0">
              <a:buNone/>
            </a:pPr>
            <a:r>
              <a:rPr lang="en-US" sz="1800" b="1" dirty="0">
                <a:solidFill>
                  <a:schemeClr val="tx2"/>
                </a:solidFill>
              </a:rPr>
              <a:t>Next, in order</a:t>
            </a:r>
            <a:endParaRPr lang="en-US" sz="1800" dirty="0"/>
          </a:p>
        </p:txBody>
      </p:sp>
      <p:sp>
        <p:nvSpPr>
          <p:cNvPr id="74" name="Card body Next, in order"/>
          <p:cNvSpPr txBox="1"/>
          <p:nvPr/>
        </p:nvSpPr>
        <p:spPr>
          <a:xfrm>
            <a:off x="4572000" y="4343400"/>
            <a:ext cx="3108960" cy="17373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Review and merge PR #8 (search + ranking)</a:t>
            </a:r>
            <a:endParaRPr lang="en-US" sz="1400" dirty="0"/>
          </a:p>
          <a:p>
            <a:pPr marL="177800" indent="-177800">
              <a:spcAft>
                <a:spcPts val="600"/>
              </a:spcAft>
              <a:buSzPct val="100000"/>
              <a:buChar char="•"/>
            </a:pPr>
            <a:r>
              <a:rPr lang="en-US" sz="1400" dirty="0">
                <a:solidFill>
                  <a:schemeClr val="tx1"/>
                </a:solidFill>
              </a:rPr>
              <a:t>Pick the answering model (Ollama) and write answers with sources</a:t>
            </a:r>
            <a:endParaRPr lang="en-US" sz="1400" dirty="0"/>
          </a:p>
          <a:p>
            <a:pPr marL="177800" indent="-177800">
              <a:spcAft>
                <a:spcPts val="600"/>
              </a:spcAft>
              <a:buSzPct val="100000"/>
              <a:buChar char="•"/>
            </a:pPr>
            <a:r>
              <a:rPr lang="en-US" sz="1400" dirty="0">
                <a:solidFill>
                  <a:schemeClr val="tx1"/>
                </a:solidFill>
              </a:rPr>
              <a:t>Add agent tools, then score everything on held-out</a:t>
            </a:r>
            <a:endParaRPr lang="en-US" sz="1400" dirty="0"/>
          </a:p>
        </p:txBody>
      </p:sp>
      <p:sp>
        <p:nvSpPr>
          <p:cNvPr id="75" name="Card To decide today"/>
          <p:cNvSpPr/>
          <p:nvPr/>
        </p:nvSpPr>
        <p:spPr>
          <a:xfrm>
            <a:off x="8138160" y="3703320"/>
            <a:ext cx="3520440" cy="2514600"/>
          </a:xfrm>
          <a:prstGeom prst="roundRect">
            <a:avLst>
              <a:gd name="adj" fmla="val 4364"/>
            </a:avLst>
          </a:prstGeom>
          <a:solidFill>
            <a:schemeClr val="bg2"/>
          </a:solidFill>
          <a:ln w="12700">
            <a:solidFill>
              <a:schemeClr val="bg2"/>
            </a:solidFill>
            <a:prstDash val="solid"/>
          </a:ln>
        </p:spPr>
      </p:sp>
      <p:sp>
        <p:nvSpPr>
          <p:cNvPr id="76" name="Card To decide today dot"/>
          <p:cNvSpPr/>
          <p:nvPr/>
        </p:nvSpPr>
        <p:spPr>
          <a:xfrm>
            <a:off x="8366760" y="3950208"/>
            <a:ext cx="182880" cy="182880"/>
          </a:xfrm>
          <a:prstGeom prst="ellipse">
            <a:avLst/>
          </a:prstGeom>
          <a:solidFill>
            <a:schemeClr val="accent5"/>
          </a:solidFill>
          <a:ln w="12700">
            <a:solidFill>
              <a:schemeClr val="accent5"/>
            </a:solidFill>
            <a:prstDash val="solid"/>
          </a:ln>
        </p:spPr>
      </p:sp>
      <p:sp>
        <p:nvSpPr>
          <p:cNvPr id="77" name="Card To decide today title"/>
          <p:cNvSpPr txBox="1"/>
          <p:nvPr/>
        </p:nvSpPr>
        <p:spPr>
          <a:xfrm>
            <a:off x="8641080" y="3858768"/>
            <a:ext cx="2880360" cy="365760"/>
          </a:xfrm>
          <a:prstGeom prst="rect">
            <a:avLst/>
          </a:prstGeom>
          <a:noFill/>
          <a:ln/>
        </p:spPr>
        <p:txBody>
          <a:bodyPr wrap="square" lIns="0" tIns="0" rIns="0" bIns="0" rtlCol="0" anchor="ctr"/>
          <a:lstStyle/>
          <a:p>
            <a:pPr indent="0" marL="0">
              <a:buNone/>
            </a:pPr>
            <a:r>
              <a:rPr lang="en-US" sz="1800" b="1" dirty="0">
                <a:solidFill>
                  <a:schemeClr val="tx2"/>
                </a:solidFill>
              </a:rPr>
              <a:t>To decide today</a:t>
            </a:r>
            <a:endParaRPr lang="en-US" sz="1800" dirty="0"/>
          </a:p>
        </p:txBody>
      </p:sp>
      <p:sp>
        <p:nvSpPr>
          <p:cNvPr id="78" name="Card body To decide today"/>
          <p:cNvSpPr txBox="1"/>
          <p:nvPr/>
        </p:nvSpPr>
        <p:spPr>
          <a:xfrm>
            <a:off x="8366760" y="4343400"/>
            <a:ext cx="3108960" cy="17373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Who owns which step from Sat to Tue (slide 15)</a:t>
            </a:r>
            <a:endParaRPr lang="en-US" sz="1400" dirty="0"/>
          </a:p>
          <a:p>
            <a:pPr marL="177800" indent="-177800">
              <a:spcAft>
                <a:spcPts val="600"/>
              </a:spcAft>
              <a:buSzPct val="100000"/>
              <a:buChar char="•"/>
            </a:pPr>
            <a:r>
              <a:rPr lang="en-US" sz="1400" dirty="0">
                <a:solidFill>
                  <a:schemeClr val="tx1"/>
                </a:solidFill>
              </a:rPr>
              <a:t>Rule: one approval before every merge</a:t>
            </a:r>
            <a:endParaRPr lang="en-US" sz="1400" dirty="0"/>
          </a:p>
          <a:p>
            <a:pPr marL="177800" indent="-177800">
              <a:spcAft>
                <a:spcPts val="600"/>
              </a:spcAft>
              <a:buSzPct val="100000"/>
              <a:buChar char="•"/>
            </a:pPr>
            <a:r>
              <a:rPr lang="en-US" sz="1400" dirty="0">
                <a:solidFill>
                  <a:schemeClr val="tx1"/>
                </a:solidFill>
              </a:rPr>
              <a:t>Who records the backup demo video</a:t>
            </a:r>
            <a:endParaRPr lang="en-US" sz="1400" dirty="0"/>
          </a:p>
        </p:txBody>
      </p:sp>
      <p:sp>
        <p:nvSpPr>
          <p:cNvPr id="79" name="Footnote"/>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Source: repo and GitHub, 17 Oct 2026. Dates are targets; owners per step to be agreed at the meeting.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685800"/>
          </a:xfrm>
          <a:prstGeom prst="rect">
            <a:avLst/>
          </a:prstGeom>
          <a:noFill/>
          <a:ln/>
        </p:spPr>
        <p:txBody>
          <a:bodyPr wrap="square" lIns="0" tIns="0" rIns="0" bIns="0" rtlCol="0" anchor="ctr"/>
          <a:lstStyle/>
          <a:p>
            <a:pPr algn="l" indent="0" marL="0">
              <a:buNone/>
            </a:pPr>
            <a:r>
              <a:rPr lang="en-US" sz="3000" b="1" dirty="0">
                <a:solidFill>
                  <a:schemeClr val="tx2"/>
                </a:solidFill>
              </a:rPr>
              <a:t>Phase 1 recap (14 Oct): a verified foundation</a:t>
            </a:r>
            <a:endParaRPr lang="en-US" sz="3000" dirty="0"/>
          </a:p>
        </p:txBody>
      </p:sp>
      <p:sp>
        <p:nvSpPr>
          <p:cNvPr id="3" name="Subtitle 2"/>
          <p:cNvSpPr txBox="1"/>
          <p:nvPr/>
        </p:nvSpPr>
        <p:spPr>
          <a:xfrm>
            <a:off x="548640" y="1005840"/>
            <a:ext cx="11064240" cy="320040"/>
          </a:xfrm>
          <a:prstGeom prst="rect">
            <a:avLst/>
          </a:prstGeom>
          <a:noFill/>
          <a:ln/>
        </p:spPr>
        <p:txBody>
          <a:bodyPr wrap="square" lIns="0" tIns="0" rIns="0" bIns="0" rtlCol="0" anchor="ctr"/>
          <a:lstStyle/>
          <a:p>
            <a:pPr indent="0" marL="0">
              <a:buNone/>
            </a:pPr>
            <a:r>
              <a:rPr lang="en-US" sz="1400" dirty="0">
                <a:solidFill>
                  <a:schemeClr val="accent6"/>
                </a:solidFill>
              </a:rPr>
              <a:t>Steps 0–1 of the roadmap, as presented on 14 Oct</a:t>
            </a:r>
            <a:endParaRPr lang="en-US" sz="1400" dirty="0"/>
          </a:p>
        </p:txBody>
      </p:sp>
      <p:sp>
        <p:nvSpPr>
          <p:cNvPr id="4" name="Stat 1"/>
          <p:cNvSpPr txBox="1"/>
          <p:nvPr/>
        </p:nvSpPr>
        <p:spPr>
          <a:xfrm>
            <a:off x="548640" y="1600200"/>
            <a:ext cx="2468880" cy="566928"/>
          </a:xfrm>
          <a:prstGeom prst="rect">
            <a:avLst/>
          </a:prstGeom>
          <a:noFill/>
          <a:ln/>
        </p:spPr>
        <p:txBody>
          <a:bodyPr wrap="square" lIns="0" tIns="0" rIns="0" bIns="0" rtlCol="0" anchor="b"/>
          <a:lstStyle/>
          <a:p>
            <a:pPr indent="0" marL="0">
              <a:buNone/>
            </a:pPr>
            <a:r>
              <a:rPr lang="en-US" sz="3600" b="1" dirty="0">
                <a:solidFill>
                  <a:schemeClr val="accent1"/>
                </a:solidFill>
              </a:rPr>
              <a:t>504</a:t>
            </a:r>
            <a:endParaRPr lang="en-US" sz="3600" dirty="0"/>
          </a:p>
        </p:txBody>
      </p:sp>
      <p:sp>
        <p:nvSpPr>
          <p:cNvPr id="5" name="Stat label 1"/>
          <p:cNvSpPr txBox="1"/>
          <p:nvPr/>
        </p:nvSpPr>
        <p:spPr>
          <a:xfrm>
            <a:off x="548640" y="2185416"/>
            <a:ext cx="2468880" cy="457200"/>
          </a:xfrm>
          <a:prstGeom prst="rect">
            <a:avLst/>
          </a:prstGeom>
          <a:noFill/>
          <a:ln/>
        </p:spPr>
        <p:txBody>
          <a:bodyPr wrap="square" lIns="0" tIns="0" rIns="0" bIns="0" rtlCol="0" anchor="t"/>
          <a:lstStyle/>
          <a:p>
            <a:pPr indent="0" marL="0">
              <a:buNone/>
            </a:pPr>
            <a:r>
              <a:rPr lang="en-US" sz="1200" dirty="0">
                <a:solidFill>
                  <a:schemeClr val="accent6"/>
                </a:solidFill>
              </a:rPr>
              <a:t>aids selected from 2,442</a:t>
            </a:r>
            <a:endParaRPr lang="en-US" sz="1200" dirty="0"/>
          </a:p>
        </p:txBody>
      </p:sp>
      <p:sp>
        <p:nvSpPr>
          <p:cNvPr id="6" name="Stat 2"/>
          <p:cNvSpPr txBox="1"/>
          <p:nvPr/>
        </p:nvSpPr>
        <p:spPr>
          <a:xfrm>
            <a:off x="548640" y="2770632"/>
            <a:ext cx="2468880" cy="566928"/>
          </a:xfrm>
          <a:prstGeom prst="rect">
            <a:avLst/>
          </a:prstGeom>
          <a:noFill/>
          <a:ln/>
        </p:spPr>
        <p:txBody>
          <a:bodyPr wrap="square" lIns="0" tIns="0" rIns="0" bIns="0" rtlCol="0" anchor="b"/>
          <a:lstStyle/>
          <a:p>
            <a:pPr indent="0" marL="0">
              <a:buNone/>
            </a:pPr>
            <a:r>
              <a:rPr lang="en-US" sz="3600" b="1" dirty="0">
                <a:solidFill>
                  <a:schemeClr val="accent1"/>
                </a:solidFill>
              </a:rPr>
              <a:t>20 → 40</a:t>
            </a:r>
            <a:endParaRPr lang="en-US" sz="3600" dirty="0"/>
          </a:p>
        </p:txBody>
      </p:sp>
      <p:sp>
        <p:nvSpPr>
          <p:cNvPr id="7" name="Stat label 2"/>
          <p:cNvSpPr txBox="1"/>
          <p:nvPr/>
        </p:nvSpPr>
        <p:spPr>
          <a:xfrm>
            <a:off x="548640" y="3355848"/>
            <a:ext cx="2468880" cy="457200"/>
          </a:xfrm>
          <a:prstGeom prst="rect">
            <a:avLst/>
          </a:prstGeom>
          <a:noFill/>
          <a:ln/>
        </p:spPr>
        <p:txBody>
          <a:bodyPr wrap="square" lIns="0" tIns="0" rIns="0" bIns="0" rtlCol="0" anchor="t"/>
          <a:lstStyle/>
          <a:p>
            <a:pPr indent="0" marL="0">
              <a:buNone/>
            </a:pPr>
            <a:r>
              <a:rPr lang="en-US" sz="1200" dirty="0">
                <a:solidFill>
                  <a:schemeClr val="accent6"/>
                </a:solidFill>
              </a:rPr>
              <a:t>test questions (40 today)</a:t>
            </a:r>
            <a:endParaRPr lang="en-US" sz="1200" dirty="0"/>
          </a:p>
        </p:txBody>
      </p:sp>
      <p:sp>
        <p:nvSpPr>
          <p:cNvPr id="8" name="Stat 3"/>
          <p:cNvSpPr txBox="1"/>
          <p:nvPr/>
        </p:nvSpPr>
        <p:spPr>
          <a:xfrm>
            <a:off x="548640" y="3941064"/>
            <a:ext cx="2468880" cy="566928"/>
          </a:xfrm>
          <a:prstGeom prst="rect">
            <a:avLst/>
          </a:prstGeom>
          <a:noFill/>
          <a:ln/>
        </p:spPr>
        <p:txBody>
          <a:bodyPr wrap="square" lIns="0" tIns="0" rIns="0" bIns="0" rtlCol="0" anchor="b"/>
          <a:lstStyle/>
          <a:p>
            <a:pPr indent="0" marL="0">
              <a:buNone/>
            </a:pPr>
            <a:r>
              <a:rPr lang="en-US" sz="3600" b="1" dirty="0">
                <a:solidFill>
                  <a:schemeClr val="accent1"/>
                </a:solidFill>
              </a:rPr>
              <a:t>17 → 35</a:t>
            </a:r>
            <a:endParaRPr lang="en-US" sz="3600" dirty="0"/>
          </a:p>
        </p:txBody>
      </p:sp>
      <p:sp>
        <p:nvSpPr>
          <p:cNvPr id="9" name="Stat label 3"/>
          <p:cNvSpPr txBox="1"/>
          <p:nvPr/>
        </p:nvSpPr>
        <p:spPr>
          <a:xfrm>
            <a:off x="548640" y="4526280"/>
            <a:ext cx="2468880" cy="457200"/>
          </a:xfrm>
          <a:prstGeom prst="rect">
            <a:avLst/>
          </a:prstGeom>
          <a:noFill/>
          <a:ln/>
        </p:spPr>
        <p:txBody>
          <a:bodyPr wrap="square" lIns="0" tIns="0" rIns="0" bIns="0" rtlCol="0" anchor="t"/>
          <a:lstStyle/>
          <a:p>
            <a:pPr indent="0" marL="0">
              <a:buNone/>
            </a:pPr>
            <a:r>
              <a:rPr lang="en-US" sz="1200" dirty="0">
                <a:solidFill>
                  <a:schemeClr val="accent6"/>
                </a:solidFill>
              </a:rPr>
              <a:t>automated checks passing (35 today)</a:t>
            </a:r>
            <a:endParaRPr lang="en-US" sz="1200" dirty="0"/>
          </a:p>
        </p:txBody>
      </p:sp>
      <p:sp>
        <p:nvSpPr>
          <p:cNvPr id="10" name="Stat 4"/>
          <p:cNvSpPr txBox="1"/>
          <p:nvPr/>
        </p:nvSpPr>
        <p:spPr>
          <a:xfrm>
            <a:off x="548640" y="5111496"/>
            <a:ext cx="2468880" cy="566928"/>
          </a:xfrm>
          <a:prstGeom prst="rect">
            <a:avLst/>
          </a:prstGeom>
          <a:noFill/>
          <a:ln/>
        </p:spPr>
        <p:txBody>
          <a:bodyPr wrap="square" lIns="0" tIns="0" rIns="0" bIns="0" rtlCol="0" anchor="b"/>
          <a:lstStyle/>
          <a:p>
            <a:pPr indent="0" marL="0">
              <a:buNone/>
            </a:pPr>
            <a:r>
              <a:rPr lang="en-US" sz="3600" b="1" dirty="0">
                <a:solidFill>
                  <a:schemeClr val="accent1"/>
                </a:solidFill>
              </a:rPr>
              <a:t>1</a:t>
            </a:r>
            <a:endParaRPr lang="en-US" sz="3600" dirty="0"/>
          </a:p>
        </p:txBody>
      </p:sp>
      <p:sp>
        <p:nvSpPr>
          <p:cNvPr id="11" name="Stat label 4"/>
          <p:cNvSpPr txBox="1"/>
          <p:nvPr/>
        </p:nvSpPr>
        <p:spPr>
          <a:xfrm>
            <a:off x="548640" y="5696712"/>
            <a:ext cx="2468880" cy="457200"/>
          </a:xfrm>
          <a:prstGeom prst="rect">
            <a:avLst/>
          </a:prstGeom>
          <a:noFill/>
          <a:ln/>
        </p:spPr>
        <p:txBody>
          <a:bodyPr wrap="square" lIns="0" tIns="0" rIns="0" bIns="0" rtlCol="0" anchor="t"/>
          <a:lstStyle/>
          <a:p>
            <a:pPr indent="0" marL="0">
              <a:buNone/>
            </a:pPr>
            <a:r>
              <a:rPr lang="en-US" sz="1200" dirty="0">
                <a:solidFill>
                  <a:schemeClr val="accent6"/>
                </a:solidFill>
              </a:rPr>
              <a:t>error in the government data found and fixed</a:t>
            </a:r>
            <a:endParaRPr lang="en-US" sz="1200" dirty="0"/>
          </a:p>
        </p:txBody>
      </p:sp>
      <p:sp>
        <p:nvSpPr>
          <p:cNvPr id="12" name="Done card 1"/>
          <p:cNvSpPr/>
          <p:nvPr/>
        </p:nvSpPr>
        <p:spPr>
          <a:xfrm>
            <a:off x="3337560" y="1600200"/>
            <a:ext cx="4023360" cy="1417320"/>
          </a:xfrm>
          <a:prstGeom prst="roundRect">
            <a:avLst>
              <a:gd name="adj" fmla="val 7742"/>
            </a:avLst>
          </a:prstGeom>
          <a:solidFill>
            <a:schemeClr val="bg2"/>
          </a:solidFill>
          <a:ln w="12700">
            <a:solidFill>
              <a:schemeClr val="bg2"/>
            </a:solidFill>
            <a:prstDash val="solid"/>
          </a:ln>
        </p:spPr>
      </p:sp>
      <p:sp>
        <p:nvSpPr>
          <p:cNvPr id="13" name="Done 1 bg"/>
          <p:cNvSpPr/>
          <p:nvPr/>
        </p:nvSpPr>
        <p:spPr>
          <a:xfrm>
            <a:off x="3538728" y="1801368"/>
            <a:ext cx="384048" cy="384048"/>
          </a:xfrm>
          <a:prstGeom prst="ellipse">
            <a:avLst/>
          </a:prstGeom>
          <a:solidFill>
            <a:schemeClr val="accent1"/>
          </a:solidFill>
          <a:ln w="12700">
            <a:solidFill>
              <a:schemeClr val="accent1"/>
            </a:solidFill>
            <a:prstDash val="solid"/>
          </a:ln>
        </p:spPr>
      </p:sp>
      <p:sp>
        <p:nvSpPr>
          <p:cNvPr id="14" name="Done 1 num"/>
          <p:cNvSpPr txBox="1"/>
          <p:nvPr/>
        </p:nvSpPr>
        <p:spPr>
          <a:xfrm>
            <a:off x="3538728" y="18013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5" name="Done head 1"/>
          <p:cNvSpPr txBox="1"/>
          <p:nvPr/>
        </p:nvSpPr>
        <p:spPr>
          <a:xfrm>
            <a:off x="4069080" y="1783080"/>
            <a:ext cx="3108960" cy="411480"/>
          </a:xfrm>
          <a:prstGeom prst="rect">
            <a:avLst/>
          </a:prstGeom>
          <a:noFill/>
          <a:ln/>
        </p:spPr>
        <p:txBody>
          <a:bodyPr wrap="square" lIns="0" tIns="0" rIns="0" bIns="0" rtlCol="0" anchor="ctr"/>
          <a:lstStyle/>
          <a:p>
            <a:pPr indent="0" marL="0">
              <a:buNone/>
            </a:pPr>
            <a:r>
              <a:rPr lang="en-US" sz="1700" b="1" dirty="0">
                <a:solidFill>
                  <a:schemeClr val="tx2"/>
                </a:solidFill>
              </a:rPr>
              <a:t>Chose the use case</a:t>
            </a:r>
            <a:endParaRPr lang="en-US" sz="1700" dirty="0"/>
          </a:p>
        </p:txBody>
      </p:sp>
      <p:sp>
        <p:nvSpPr>
          <p:cNvPr id="16" name="Done body 1"/>
          <p:cNvSpPr txBox="1"/>
          <p:nvPr/>
        </p:nvSpPr>
        <p:spPr>
          <a:xfrm>
            <a:off x="4069080" y="2221992"/>
            <a:ext cx="3108960" cy="685800"/>
          </a:xfrm>
          <a:prstGeom prst="rect">
            <a:avLst/>
          </a:prstGeom>
          <a:noFill/>
          <a:ln/>
        </p:spPr>
        <p:txBody>
          <a:bodyPr wrap="square" lIns="0" tIns="0" rIns="0" bIns="0" rtlCol="0" anchor="t"/>
          <a:lstStyle/>
          <a:p>
            <a:pPr indent="0" marL="0">
              <a:buNone/>
            </a:pPr>
            <a:r>
              <a:rPr lang="en-US" sz="1400" dirty="0">
                <a:solidFill>
                  <a:schemeClr val="tx1"/>
                </a:solidFill>
              </a:rPr>
              <a:t>A funding finder for SMEs with a green or innovation project; scope and git rules agreed</a:t>
            </a:r>
            <a:endParaRPr lang="en-US" sz="1400" dirty="0"/>
          </a:p>
        </p:txBody>
      </p:sp>
      <p:sp>
        <p:nvSpPr>
          <p:cNvPr id="17" name="Done card 2"/>
          <p:cNvSpPr/>
          <p:nvPr/>
        </p:nvSpPr>
        <p:spPr>
          <a:xfrm>
            <a:off x="7635240" y="1600200"/>
            <a:ext cx="4023360" cy="1417320"/>
          </a:xfrm>
          <a:prstGeom prst="roundRect">
            <a:avLst>
              <a:gd name="adj" fmla="val 7742"/>
            </a:avLst>
          </a:prstGeom>
          <a:solidFill>
            <a:schemeClr val="bg2"/>
          </a:solidFill>
          <a:ln w="12700">
            <a:solidFill>
              <a:schemeClr val="bg2"/>
            </a:solidFill>
            <a:prstDash val="solid"/>
          </a:ln>
        </p:spPr>
      </p:sp>
      <p:sp>
        <p:nvSpPr>
          <p:cNvPr id="18" name="Done 2 bg"/>
          <p:cNvSpPr/>
          <p:nvPr/>
        </p:nvSpPr>
        <p:spPr>
          <a:xfrm>
            <a:off x="7836408" y="1801368"/>
            <a:ext cx="384048" cy="384048"/>
          </a:xfrm>
          <a:prstGeom prst="ellipse">
            <a:avLst/>
          </a:prstGeom>
          <a:solidFill>
            <a:schemeClr val="accent1"/>
          </a:solidFill>
          <a:ln w="12700">
            <a:solidFill>
              <a:schemeClr val="accent1"/>
            </a:solidFill>
            <a:prstDash val="solid"/>
          </a:ln>
        </p:spPr>
      </p:sp>
      <p:sp>
        <p:nvSpPr>
          <p:cNvPr id="19" name="Done 2 num"/>
          <p:cNvSpPr txBox="1"/>
          <p:nvPr/>
        </p:nvSpPr>
        <p:spPr>
          <a:xfrm>
            <a:off x="7836408" y="18013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Done head 2"/>
          <p:cNvSpPr txBox="1"/>
          <p:nvPr/>
        </p:nvSpPr>
        <p:spPr>
          <a:xfrm>
            <a:off x="8366760" y="1783080"/>
            <a:ext cx="3108960" cy="411480"/>
          </a:xfrm>
          <a:prstGeom prst="rect">
            <a:avLst/>
          </a:prstGeom>
          <a:noFill/>
          <a:ln/>
        </p:spPr>
        <p:txBody>
          <a:bodyPr wrap="square" lIns="0" tIns="0" rIns="0" bIns="0" rtlCol="0" anchor="ctr"/>
          <a:lstStyle/>
          <a:p>
            <a:pPr indent="0" marL="0">
              <a:buNone/>
            </a:pPr>
            <a:r>
              <a:rPr lang="en-US" sz="1700" b="1" dirty="0">
                <a:solidFill>
                  <a:schemeClr val="tx2"/>
                </a:solidFill>
              </a:rPr>
              <a:t>Selected 504 aids</a:t>
            </a:r>
            <a:endParaRPr lang="en-US" sz="1700" dirty="0"/>
          </a:p>
        </p:txBody>
      </p:sp>
      <p:sp>
        <p:nvSpPr>
          <p:cNvPr id="21" name="Done body 2"/>
          <p:cNvSpPr txBox="1"/>
          <p:nvPr/>
        </p:nvSpPr>
        <p:spPr>
          <a:xfrm>
            <a:off x="8366760" y="2221992"/>
            <a:ext cx="3108960" cy="685800"/>
          </a:xfrm>
          <a:prstGeom prst="rect">
            <a:avLst/>
          </a:prstGeom>
          <a:noFill/>
          <a:ln/>
        </p:spPr>
        <p:txBody>
          <a:bodyPr wrap="square" lIns="0" tIns="0" rIns="0" bIns="0" rtlCol="0" anchor="t"/>
          <a:lstStyle/>
          <a:p>
            <a:pPr indent="0" marL="0">
              <a:buNone/>
            </a:pPr>
            <a:r>
              <a:rPr lang="en-US" sz="1400" dirty="0">
                <a:solidFill>
                  <a:schemeClr val="tx1"/>
                </a:solidFill>
              </a:rPr>
              <a:t>2,442 → 504 with three checkable rules: enough text, no duplicates, green or innovation</a:t>
            </a:r>
            <a:endParaRPr lang="en-US" sz="1400" dirty="0"/>
          </a:p>
        </p:txBody>
      </p:sp>
      <p:sp>
        <p:nvSpPr>
          <p:cNvPr id="22" name="Done card 3"/>
          <p:cNvSpPr/>
          <p:nvPr/>
        </p:nvSpPr>
        <p:spPr>
          <a:xfrm>
            <a:off x="3337560" y="3246120"/>
            <a:ext cx="4023360" cy="1417320"/>
          </a:xfrm>
          <a:prstGeom prst="roundRect">
            <a:avLst>
              <a:gd name="adj" fmla="val 7742"/>
            </a:avLst>
          </a:prstGeom>
          <a:solidFill>
            <a:schemeClr val="bg2"/>
          </a:solidFill>
          <a:ln w="12700">
            <a:solidFill>
              <a:schemeClr val="bg2"/>
            </a:solidFill>
            <a:prstDash val="solid"/>
          </a:ln>
        </p:spPr>
      </p:sp>
      <p:sp>
        <p:nvSpPr>
          <p:cNvPr id="23" name="Done 3 bg"/>
          <p:cNvSpPr/>
          <p:nvPr/>
        </p:nvSpPr>
        <p:spPr>
          <a:xfrm>
            <a:off x="3538728" y="3447288"/>
            <a:ext cx="384048" cy="384048"/>
          </a:xfrm>
          <a:prstGeom prst="ellipse">
            <a:avLst/>
          </a:prstGeom>
          <a:solidFill>
            <a:schemeClr val="accent1"/>
          </a:solidFill>
          <a:ln w="12700">
            <a:solidFill>
              <a:schemeClr val="accent1"/>
            </a:solidFill>
            <a:prstDash val="solid"/>
          </a:ln>
        </p:spPr>
      </p:sp>
      <p:sp>
        <p:nvSpPr>
          <p:cNvPr id="24" name="Done 3 num"/>
          <p:cNvSpPr txBox="1"/>
          <p:nvPr/>
        </p:nvSpPr>
        <p:spPr>
          <a:xfrm>
            <a:off x="3538728" y="34472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5" name="Done head 3"/>
          <p:cNvSpPr txBox="1"/>
          <p:nvPr/>
        </p:nvSpPr>
        <p:spPr>
          <a:xfrm>
            <a:off x="4069080" y="3429000"/>
            <a:ext cx="3108960" cy="411480"/>
          </a:xfrm>
          <a:prstGeom prst="rect">
            <a:avLst/>
          </a:prstGeom>
          <a:noFill/>
          <a:ln/>
        </p:spPr>
        <p:txBody>
          <a:bodyPr wrap="square" lIns="0" tIns="0" rIns="0" bIns="0" rtlCol="0" anchor="ctr"/>
          <a:lstStyle/>
          <a:p>
            <a:pPr indent="0" marL="0">
              <a:buNone/>
            </a:pPr>
            <a:r>
              <a:rPr lang="en-US" sz="1700" b="1" dirty="0">
                <a:solidFill>
                  <a:schemeClr val="tx2"/>
                </a:solidFill>
              </a:rPr>
              <a:t>Confirmed the source</a:t>
            </a:r>
            <a:endParaRPr lang="en-US" sz="1700" dirty="0"/>
          </a:p>
        </p:txBody>
      </p:sp>
      <p:sp>
        <p:nvSpPr>
          <p:cNvPr id="26" name="Done body 3"/>
          <p:cNvSpPr txBox="1"/>
          <p:nvPr/>
        </p:nvSpPr>
        <p:spPr>
          <a:xfrm>
            <a:off x="4069080" y="3867912"/>
            <a:ext cx="3108960" cy="685800"/>
          </a:xfrm>
          <a:prstGeom prst="rect">
            <a:avLst/>
          </a:prstGeom>
          <a:noFill/>
          <a:ln/>
        </p:spPr>
        <p:txBody>
          <a:bodyPr wrap="square" lIns="0" tIns="0" rIns="0" bIns="0" rtlCol="0" anchor="t"/>
          <a:lstStyle/>
          <a:p>
            <a:pPr indent="0" marL="0">
              <a:buNone/>
            </a:pPr>
            <a:r>
              <a:rPr lang="en-US" sz="1400" dirty="0">
                <a:solidFill>
                  <a:schemeClr val="tx1"/>
                </a:solidFill>
              </a:rPr>
              <a:t>data.gouv.fr “Aides entreprises”, Licence Ouverte; all 504 aids match today's official file</a:t>
            </a:r>
            <a:endParaRPr lang="en-US" sz="1400" dirty="0"/>
          </a:p>
        </p:txBody>
      </p:sp>
      <p:sp>
        <p:nvSpPr>
          <p:cNvPr id="27" name="Done card 4"/>
          <p:cNvSpPr/>
          <p:nvPr/>
        </p:nvSpPr>
        <p:spPr>
          <a:xfrm>
            <a:off x="7635240" y="3246120"/>
            <a:ext cx="4023360" cy="1417320"/>
          </a:xfrm>
          <a:prstGeom prst="roundRect">
            <a:avLst>
              <a:gd name="adj" fmla="val 7742"/>
            </a:avLst>
          </a:prstGeom>
          <a:solidFill>
            <a:schemeClr val="bg2"/>
          </a:solidFill>
          <a:ln w="12700">
            <a:solidFill>
              <a:schemeClr val="bg2"/>
            </a:solidFill>
            <a:prstDash val="solid"/>
          </a:ln>
        </p:spPr>
      </p:sp>
      <p:sp>
        <p:nvSpPr>
          <p:cNvPr id="28" name="Done 4 bg"/>
          <p:cNvSpPr/>
          <p:nvPr/>
        </p:nvSpPr>
        <p:spPr>
          <a:xfrm>
            <a:off x="7836408" y="3447288"/>
            <a:ext cx="384048" cy="384048"/>
          </a:xfrm>
          <a:prstGeom prst="ellipse">
            <a:avLst/>
          </a:prstGeom>
          <a:solidFill>
            <a:schemeClr val="accent1"/>
          </a:solidFill>
          <a:ln w="12700">
            <a:solidFill>
              <a:schemeClr val="accent1"/>
            </a:solidFill>
            <a:prstDash val="solid"/>
          </a:ln>
        </p:spPr>
      </p:sp>
      <p:sp>
        <p:nvSpPr>
          <p:cNvPr id="29" name="Done 4 num"/>
          <p:cNvSpPr txBox="1"/>
          <p:nvPr/>
        </p:nvSpPr>
        <p:spPr>
          <a:xfrm>
            <a:off x="7836408" y="34472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0" name="Done head 4"/>
          <p:cNvSpPr txBox="1"/>
          <p:nvPr/>
        </p:nvSpPr>
        <p:spPr>
          <a:xfrm>
            <a:off x="8366760" y="3429000"/>
            <a:ext cx="3108960" cy="411480"/>
          </a:xfrm>
          <a:prstGeom prst="rect">
            <a:avLst/>
          </a:prstGeom>
          <a:noFill/>
          <a:ln/>
        </p:spPr>
        <p:txBody>
          <a:bodyPr wrap="square" lIns="0" tIns="0" rIns="0" bIns="0" rtlCol="0" anchor="ctr"/>
          <a:lstStyle/>
          <a:p>
            <a:pPr indent="0" marL="0">
              <a:buNone/>
            </a:pPr>
            <a:r>
              <a:rPr lang="en-US" sz="1700" b="1" dirty="0">
                <a:solidFill>
                  <a:schemeClr val="tx2"/>
                </a:solidFill>
              </a:rPr>
              <a:t>Enriched every aid</a:t>
            </a:r>
            <a:endParaRPr lang="en-US" sz="1700" dirty="0"/>
          </a:p>
        </p:txBody>
      </p:sp>
      <p:sp>
        <p:nvSpPr>
          <p:cNvPr id="31" name="Done body 4"/>
          <p:cNvSpPr txBox="1"/>
          <p:nvPr/>
        </p:nvSpPr>
        <p:spPr>
          <a:xfrm>
            <a:off x="8366760" y="3867912"/>
            <a:ext cx="3108960" cy="685800"/>
          </a:xfrm>
          <a:prstGeom prst="rect">
            <a:avLst/>
          </a:prstGeom>
          <a:noFill/>
          <a:ln/>
        </p:spPr>
        <p:txBody>
          <a:bodyPr wrap="square" lIns="0" tIns="0" rIns="0" bIns="0" rtlCol="0" anchor="t"/>
          <a:lstStyle/>
          <a:p>
            <a:pPr indent="0" marL="0">
              <a:buNone/>
            </a:pPr>
            <a:r>
              <a:rPr lang="en-US" sz="1400" dirty="0">
                <a:solidFill>
                  <a:schemeClr val="tx1"/>
                </a:solidFill>
              </a:rPr>
              <a:t>Region, deadline, company size, aid type and funder added; a region error in the source fixed</a:t>
            </a:r>
            <a:endParaRPr lang="en-US" sz="1400" dirty="0"/>
          </a:p>
        </p:txBody>
      </p:sp>
      <p:sp>
        <p:nvSpPr>
          <p:cNvPr id="32" name="Done card 5"/>
          <p:cNvSpPr/>
          <p:nvPr/>
        </p:nvSpPr>
        <p:spPr>
          <a:xfrm>
            <a:off x="3337560" y="4892040"/>
            <a:ext cx="4023360" cy="1417320"/>
          </a:xfrm>
          <a:prstGeom prst="roundRect">
            <a:avLst>
              <a:gd name="adj" fmla="val 7742"/>
            </a:avLst>
          </a:prstGeom>
          <a:solidFill>
            <a:schemeClr val="bg2"/>
          </a:solidFill>
          <a:ln w="12700">
            <a:solidFill>
              <a:schemeClr val="bg2"/>
            </a:solidFill>
            <a:prstDash val="solid"/>
          </a:ln>
        </p:spPr>
      </p:sp>
      <p:sp>
        <p:nvSpPr>
          <p:cNvPr id="33" name="Done 5 bg"/>
          <p:cNvSpPr/>
          <p:nvPr/>
        </p:nvSpPr>
        <p:spPr>
          <a:xfrm>
            <a:off x="3538728" y="5093208"/>
            <a:ext cx="384048" cy="384048"/>
          </a:xfrm>
          <a:prstGeom prst="ellipse">
            <a:avLst/>
          </a:prstGeom>
          <a:solidFill>
            <a:schemeClr val="accent1"/>
          </a:solidFill>
          <a:ln w="12700">
            <a:solidFill>
              <a:schemeClr val="accent1"/>
            </a:solidFill>
            <a:prstDash val="solid"/>
          </a:ln>
        </p:spPr>
      </p:sp>
      <p:sp>
        <p:nvSpPr>
          <p:cNvPr id="34" name="Done 5 num"/>
          <p:cNvSpPr txBox="1"/>
          <p:nvPr/>
        </p:nvSpPr>
        <p:spPr>
          <a:xfrm>
            <a:off x="3538728" y="509320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5" name="Done head 5"/>
          <p:cNvSpPr txBox="1"/>
          <p:nvPr/>
        </p:nvSpPr>
        <p:spPr>
          <a:xfrm>
            <a:off x="4069080" y="5074920"/>
            <a:ext cx="3108960" cy="411480"/>
          </a:xfrm>
          <a:prstGeom prst="rect">
            <a:avLst/>
          </a:prstGeom>
          <a:noFill/>
          <a:ln/>
        </p:spPr>
        <p:txBody>
          <a:bodyPr wrap="square" lIns="0" tIns="0" rIns="0" bIns="0" rtlCol="0" anchor="ctr"/>
          <a:lstStyle/>
          <a:p>
            <a:pPr indent="0" marL="0">
              <a:buNone/>
            </a:pPr>
            <a:r>
              <a:rPr lang="en-US" sz="1700" b="1" dirty="0">
                <a:solidFill>
                  <a:schemeClr val="tx2"/>
                </a:solidFill>
              </a:rPr>
              <a:t>Wrote 20 test questions</a:t>
            </a:r>
            <a:endParaRPr lang="en-US" sz="1700" dirty="0"/>
          </a:p>
        </p:txBody>
      </p:sp>
      <p:sp>
        <p:nvSpPr>
          <p:cNvPr id="36" name="Done body 5"/>
          <p:cNvSpPr txBox="1"/>
          <p:nvPr/>
        </p:nvSpPr>
        <p:spPr>
          <a:xfrm>
            <a:off x="4069080" y="5513832"/>
            <a:ext cx="3108960" cy="685800"/>
          </a:xfrm>
          <a:prstGeom prst="rect">
            <a:avLst/>
          </a:prstGeom>
          <a:noFill/>
          <a:ln/>
        </p:spPr>
        <p:txBody>
          <a:bodyPr wrap="square" lIns="0" tIns="0" rIns="0" bIns="0" rtlCol="0" anchor="t"/>
          <a:lstStyle/>
          <a:p>
            <a:pPr indent="0" marL="0">
              <a:buNone/>
            </a:pPr>
            <a:r>
              <a:rPr lang="en-US" sz="1400" dirty="0">
                <a:solidFill>
                  <a:schemeClr val="tx1"/>
                </a:solidFill>
              </a:rPr>
              <a:t>Facts, eligibility, regions, deadlines, plus trick questions and hacking attempts</a:t>
            </a:r>
            <a:endParaRPr lang="en-US" sz="1400" dirty="0"/>
          </a:p>
        </p:txBody>
      </p:sp>
      <p:sp>
        <p:nvSpPr>
          <p:cNvPr id="37" name="Done card 6"/>
          <p:cNvSpPr/>
          <p:nvPr/>
        </p:nvSpPr>
        <p:spPr>
          <a:xfrm>
            <a:off x="7635240" y="4892040"/>
            <a:ext cx="4023360" cy="1417320"/>
          </a:xfrm>
          <a:prstGeom prst="roundRect">
            <a:avLst>
              <a:gd name="adj" fmla="val 7742"/>
            </a:avLst>
          </a:prstGeom>
          <a:solidFill>
            <a:schemeClr val="bg2"/>
          </a:solidFill>
          <a:ln w="12700">
            <a:solidFill>
              <a:schemeClr val="bg2"/>
            </a:solidFill>
            <a:prstDash val="solid"/>
          </a:ln>
        </p:spPr>
      </p:sp>
      <p:sp>
        <p:nvSpPr>
          <p:cNvPr id="38" name="Done 6 bg"/>
          <p:cNvSpPr/>
          <p:nvPr/>
        </p:nvSpPr>
        <p:spPr>
          <a:xfrm>
            <a:off x="7836408" y="5093208"/>
            <a:ext cx="384048" cy="384048"/>
          </a:xfrm>
          <a:prstGeom prst="ellipse">
            <a:avLst/>
          </a:prstGeom>
          <a:solidFill>
            <a:schemeClr val="accent1"/>
          </a:solidFill>
          <a:ln w="12700">
            <a:solidFill>
              <a:schemeClr val="accent1"/>
            </a:solidFill>
            <a:prstDash val="solid"/>
          </a:ln>
        </p:spPr>
      </p:sp>
      <p:sp>
        <p:nvSpPr>
          <p:cNvPr id="39" name="Done 6 num"/>
          <p:cNvSpPr txBox="1"/>
          <p:nvPr/>
        </p:nvSpPr>
        <p:spPr>
          <a:xfrm>
            <a:off x="7836408" y="509320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40" name="Done head 6"/>
          <p:cNvSpPr txBox="1"/>
          <p:nvPr/>
        </p:nvSpPr>
        <p:spPr>
          <a:xfrm>
            <a:off x="8366760" y="5074920"/>
            <a:ext cx="3108960" cy="411480"/>
          </a:xfrm>
          <a:prstGeom prst="rect">
            <a:avLst/>
          </a:prstGeom>
          <a:noFill/>
          <a:ln/>
        </p:spPr>
        <p:txBody>
          <a:bodyPr wrap="square" lIns="0" tIns="0" rIns="0" bIns="0" rtlCol="0" anchor="ctr"/>
          <a:lstStyle/>
          <a:p>
            <a:pPr indent="0" marL="0">
              <a:buNone/>
            </a:pPr>
            <a:r>
              <a:rPr lang="en-US" sz="1700" b="1" dirty="0">
                <a:solidFill>
                  <a:schemeClr val="tx2"/>
                </a:solidFill>
              </a:rPr>
              <a:t>Built a safety net</a:t>
            </a:r>
            <a:endParaRPr lang="en-US" sz="1700" dirty="0"/>
          </a:p>
        </p:txBody>
      </p:sp>
      <p:sp>
        <p:nvSpPr>
          <p:cNvPr id="41" name="Done body 6"/>
          <p:cNvSpPr txBox="1"/>
          <p:nvPr/>
        </p:nvSpPr>
        <p:spPr>
          <a:xfrm>
            <a:off x="8366760" y="5513832"/>
            <a:ext cx="3108960" cy="685800"/>
          </a:xfrm>
          <a:prstGeom prst="rect">
            <a:avLst/>
          </a:prstGeom>
          <a:noFill/>
          <a:ln/>
        </p:spPr>
        <p:txBody>
          <a:bodyPr wrap="square" lIns="0" tIns="0" rIns="0" bIns="0" rtlCol="0" anchor="t"/>
          <a:lstStyle/>
          <a:p>
            <a:pPr indent="0" marL="0">
              <a:buNone/>
            </a:pPr>
            <a:r>
              <a:rPr lang="en-US" sz="1400" dirty="0">
                <a:solidFill>
                  <a:schemeClr val="tx1"/>
                </a:solidFill>
              </a:rPr>
              <a:t>Automated checks, an identical rebuild with one command, and a full data card</a:t>
            </a:r>
            <a:endParaRPr lang="en-US" sz="1400" dirty="0"/>
          </a:p>
        </p:txBody>
      </p:sp>
      <p:sp>
        <p:nvSpPr>
          <p:cNvPr id="42" name="Footnote 2"/>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Known limits: 47% of local aids have no region on file · 15 dead source links. Phase 2 starts on the next slides.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685800"/>
          </a:xfrm>
          <a:prstGeom prst="rect">
            <a:avLst/>
          </a:prstGeom>
          <a:noFill/>
          <a:ln/>
        </p:spPr>
        <p:txBody>
          <a:bodyPr wrap="square" lIns="0" tIns="0" rIns="0" bIns="0" rtlCol="0" anchor="ctr"/>
          <a:lstStyle/>
          <a:p>
            <a:pPr algn="l" indent="0" marL="0">
              <a:buNone/>
            </a:pPr>
            <a:r>
              <a:rPr lang="en-US" sz="3000" b="1" dirty="0">
                <a:solidFill>
                  <a:schemeClr val="tx2"/>
                </a:solidFill>
              </a:rPr>
              <a:t>How the 9 files fit together: one record per aid</a:t>
            </a:r>
            <a:endParaRPr lang="en-US" sz="3000" dirty="0"/>
          </a:p>
        </p:txBody>
      </p:sp>
      <p:sp>
        <p:nvSpPr>
          <p:cNvPr id="3" name="Subtitle 3"/>
          <p:cNvSpPr txBox="1"/>
          <p:nvPr/>
        </p:nvSpPr>
        <p:spPr>
          <a:xfrm>
            <a:off x="548640" y="1005840"/>
            <a:ext cx="11064240" cy="320040"/>
          </a:xfrm>
          <a:prstGeom prst="rect">
            <a:avLst/>
          </a:prstGeom>
          <a:noFill/>
          <a:ln/>
        </p:spPr>
        <p:txBody>
          <a:bodyPr wrap="square" lIns="0" tIns="0" rIns="0" bIns="0" rtlCol="0" anchor="ctr"/>
          <a:lstStyle/>
          <a:p>
            <a:pPr indent="0" marL="0">
              <a:buNone/>
            </a:pPr>
            <a:r>
              <a:rPr lang="en-US" sz="1400" dirty="0">
                <a:solidFill>
                  <a:schemeClr val="accent6"/>
                </a:solidFill>
              </a:rPr>
              <a:t>aides.csv points to lookup tables by ID; we join 5 of them into every aid</a:t>
            </a:r>
            <a:endParaRPr lang="en-US" sz="1400" dirty="0"/>
          </a:p>
        </p:txBody>
      </p:sp>
      <p:sp>
        <p:nvSpPr>
          <p:cNvPr id="4" name="Legend3 dot Joined"/>
          <p:cNvSpPr/>
          <p:nvPr/>
        </p:nvSpPr>
        <p:spPr>
          <a:xfrm>
            <a:off x="10012680" y="429768"/>
            <a:ext cx="137160" cy="137160"/>
          </a:xfrm>
          <a:prstGeom prst="ellipse">
            <a:avLst/>
          </a:prstGeom>
          <a:solidFill>
            <a:schemeClr val="accent1"/>
          </a:solidFill>
          <a:ln w="12700">
            <a:solidFill>
              <a:schemeClr val="accent1"/>
            </a:solidFill>
            <a:prstDash val="solid"/>
          </a:ln>
        </p:spPr>
      </p:sp>
      <p:sp>
        <p:nvSpPr>
          <p:cNvPr id="5" name="Legend3 Joined"/>
          <p:cNvSpPr txBox="1"/>
          <p:nvPr/>
        </p:nvSpPr>
        <p:spPr>
          <a:xfrm>
            <a:off x="10222992" y="384048"/>
            <a:ext cx="1737360" cy="228600"/>
          </a:xfrm>
          <a:prstGeom prst="rect">
            <a:avLst/>
          </a:prstGeom>
          <a:noFill/>
          <a:ln/>
        </p:spPr>
        <p:txBody>
          <a:bodyPr wrap="square" lIns="0" tIns="0" rIns="0" bIns="0" rtlCol="0" anchor="ctr"/>
          <a:lstStyle/>
          <a:p>
            <a:pPr indent="0" marL="0">
              <a:buNone/>
            </a:pPr>
            <a:r>
              <a:rPr lang="en-US" sz="1200" dirty="0">
                <a:solidFill>
                  <a:schemeClr val="tx1"/>
                </a:solidFill>
              </a:rPr>
              <a:t>Joined</a:t>
            </a:r>
            <a:endParaRPr lang="en-US" sz="1200" dirty="0"/>
          </a:p>
        </p:txBody>
      </p:sp>
      <p:sp>
        <p:nvSpPr>
          <p:cNvPr id="6" name="Legend3 dot Partly joined"/>
          <p:cNvSpPr/>
          <p:nvPr/>
        </p:nvSpPr>
        <p:spPr>
          <a:xfrm>
            <a:off x="10012680" y="676656"/>
            <a:ext cx="137160" cy="137160"/>
          </a:xfrm>
          <a:prstGeom prst="ellipse">
            <a:avLst/>
          </a:prstGeom>
          <a:solidFill>
            <a:schemeClr val="accent2"/>
          </a:solidFill>
          <a:ln w="12700">
            <a:solidFill>
              <a:schemeClr val="accent2"/>
            </a:solidFill>
            <a:prstDash val="solid"/>
          </a:ln>
        </p:spPr>
      </p:sp>
      <p:sp>
        <p:nvSpPr>
          <p:cNvPr id="7" name="Legend3 Partly joined"/>
          <p:cNvSpPr txBox="1"/>
          <p:nvPr/>
        </p:nvSpPr>
        <p:spPr>
          <a:xfrm>
            <a:off x="10222992" y="630936"/>
            <a:ext cx="1737360" cy="228600"/>
          </a:xfrm>
          <a:prstGeom prst="rect">
            <a:avLst/>
          </a:prstGeom>
          <a:noFill/>
          <a:ln/>
        </p:spPr>
        <p:txBody>
          <a:bodyPr wrap="square" lIns="0" tIns="0" rIns="0" bIns="0" rtlCol="0" anchor="ctr"/>
          <a:lstStyle/>
          <a:p>
            <a:pPr indent="0" marL="0">
              <a:buNone/>
            </a:pPr>
            <a:r>
              <a:rPr lang="en-US" sz="1200" dirty="0">
                <a:solidFill>
                  <a:schemeClr val="tx1"/>
                </a:solidFill>
              </a:rPr>
              <a:t>Partly joined</a:t>
            </a:r>
            <a:endParaRPr lang="en-US" sz="1200" dirty="0"/>
          </a:p>
        </p:txBody>
      </p:sp>
      <p:sp>
        <p:nvSpPr>
          <p:cNvPr id="8" name="Legend3 dot Not used"/>
          <p:cNvSpPr/>
          <p:nvPr/>
        </p:nvSpPr>
        <p:spPr>
          <a:xfrm>
            <a:off x="10012680" y="923544"/>
            <a:ext cx="137160" cy="137160"/>
          </a:xfrm>
          <a:prstGeom prst="ellipse">
            <a:avLst/>
          </a:prstGeom>
          <a:solidFill>
            <a:schemeClr val="accent4"/>
          </a:solidFill>
          <a:ln w="12700">
            <a:solidFill>
              <a:schemeClr val="accent4"/>
            </a:solidFill>
            <a:prstDash val="solid"/>
          </a:ln>
        </p:spPr>
      </p:sp>
      <p:sp>
        <p:nvSpPr>
          <p:cNvPr id="9" name="Legend3 Not used"/>
          <p:cNvSpPr txBox="1"/>
          <p:nvPr/>
        </p:nvSpPr>
        <p:spPr>
          <a:xfrm>
            <a:off x="10222992" y="877824"/>
            <a:ext cx="1737360" cy="228600"/>
          </a:xfrm>
          <a:prstGeom prst="rect">
            <a:avLst/>
          </a:prstGeom>
          <a:noFill/>
          <a:ln/>
        </p:spPr>
        <p:txBody>
          <a:bodyPr wrap="square" lIns="0" tIns="0" rIns="0" bIns="0" rtlCol="0" anchor="ctr"/>
          <a:lstStyle/>
          <a:p>
            <a:pPr indent="0" marL="0">
              <a:buNone/>
            </a:pPr>
            <a:r>
              <a:rPr lang="en-US" sz="1200" dirty="0">
                <a:solidFill>
                  <a:schemeClr val="tx1"/>
                </a:solidFill>
              </a:rPr>
              <a:t>Not used</a:t>
            </a:r>
            <a:endParaRPr lang="en-US" sz="1200" dirty="0"/>
          </a:p>
        </p:txBody>
      </p:sp>
      <p:sp>
        <p:nvSpPr>
          <p:cNvPr id="10" name="Box natures"/>
          <p:cNvSpPr/>
          <p:nvPr/>
        </p:nvSpPr>
        <p:spPr>
          <a:xfrm>
            <a:off x="548640" y="1600200"/>
            <a:ext cx="3383280" cy="960120"/>
          </a:xfrm>
          <a:prstGeom prst="roundRect">
            <a:avLst>
              <a:gd name="adj" fmla="val 9524"/>
            </a:avLst>
          </a:prstGeom>
          <a:solidFill>
            <a:schemeClr val="bg2"/>
          </a:solidFill>
          <a:ln w="22225">
            <a:solidFill>
              <a:schemeClr val="accent1"/>
            </a:solidFill>
            <a:prstDash val="solid"/>
          </a:ln>
        </p:spPr>
      </p:sp>
      <p:sp>
        <p:nvSpPr>
          <p:cNvPr id="11" name="Box head natures"/>
          <p:cNvSpPr txBox="1"/>
          <p:nvPr/>
        </p:nvSpPr>
        <p:spPr>
          <a:xfrm>
            <a:off x="731520" y="1691640"/>
            <a:ext cx="3017520" cy="347472"/>
          </a:xfrm>
          <a:prstGeom prst="rect">
            <a:avLst/>
          </a:prstGeom>
          <a:noFill/>
          <a:ln/>
        </p:spPr>
        <p:txBody>
          <a:bodyPr wrap="square" lIns="0" tIns="0" rIns="0" bIns="0" rtlCol="0" anchor="ctr"/>
          <a:lstStyle/>
          <a:p>
            <a:pPr indent="0" marL="0">
              <a:buNone/>
            </a:pPr>
            <a:r>
              <a:rPr lang="en-US" sz="1500" b="1" dirty="0">
                <a:solidFill>
                  <a:schemeClr val="tx2"/>
                </a:solidFill>
              </a:rPr>
              <a:t>natures.csv · 12 rows</a:t>
            </a:r>
            <a:endParaRPr lang="en-US" sz="1500" dirty="0"/>
          </a:p>
        </p:txBody>
      </p:sp>
      <p:sp>
        <p:nvSpPr>
          <p:cNvPr id="12" name="Box body natures"/>
          <p:cNvSpPr txBox="1"/>
          <p:nvPr/>
        </p:nvSpPr>
        <p:spPr>
          <a:xfrm>
            <a:off x="731520" y="2039112"/>
            <a:ext cx="3017520" cy="457200"/>
          </a:xfrm>
          <a:prstGeom prst="rect">
            <a:avLst/>
          </a:prstGeom>
          <a:noFill/>
          <a:ln/>
        </p:spPr>
        <p:txBody>
          <a:bodyPr wrap="square" lIns="0" tIns="0" rIns="0" bIns="0" rtlCol="0" anchor="t"/>
          <a:lstStyle/>
          <a:p>
            <a:pPr indent="0" marL="0">
              <a:buNone/>
            </a:pPr>
            <a:r>
              <a:rPr lang="en-US" sz="1200" dirty="0">
                <a:solidFill>
                  <a:schemeClr val="tx1"/>
                </a:solidFill>
              </a:rPr>
              <a:t>Aid type: grant, loan, tax relief… · 503 of 504 aids</a:t>
            </a:r>
            <a:endParaRPr lang="en-US" sz="1200" dirty="0"/>
          </a:p>
        </p:txBody>
      </p:sp>
      <p:sp>
        <p:nvSpPr>
          <p:cNvPr id="13" name="Link natures"/>
          <p:cNvSpPr/>
          <p:nvPr/>
        </p:nvSpPr>
        <p:spPr>
          <a:xfrm>
            <a:off x="3931920" y="2080260"/>
            <a:ext cx="795528" cy="982980"/>
          </a:xfrm>
          <a:prstGeom prst="line">
            <a:avLst/>
          </a:prstGeom>
          <a:noFill/>
          <a:ln w="25400">
            <a:solidFill>
              <a:schemeClr val="accent1"/>
            </a:solidFill>
            <a:prstDash val="solid"/>
          </a:ln>
        </p:spPr>
      </p:sp>
      <p:sp>
        <p:nvSpPr>
          <p:cNvPr id="14" name="Box projets"/>
          <p:cNvSpPr/>
          <p:nvPr/>
        </p:nvSpPr>
        <p:spPr>
          <a:xfrm>
            <a:off x="548640" y="2743200"/>
            <a:ext cx="3383280" cy="960120"/>
          </a:xfrm>
          <a:prstGeom prst="roundRect">
            <a:avLst>
              <a:gd name="adj" fmla="val 9524"/>
            </a:avLst>
          </a:prstGeom>
          <a:solidFill>
            <a:schemeClr val="bg2"/>
          </a:solidFill>
          <a:ln w="22225">
            <a:solidFill>
              <a:schemeClr val="accent1"/>
            </a:solidFill>
            <a:prstDash val="solid"/>
          </a:ln>
        </p:spPr>
      </p:sp>
      <p:sp>
        <p:nvSpPr>
          <p:cNvPr id="15" name="Box head projets"/>
          <p:cNvSpPr txBox="1"/>
          <p:nvPr/>
        </p:nvSpPr>
        <p:spPr>
          <a:xfrm>
            <a:off x="731520" y="2834640"/>
            <a:ext cx="3017520" cy="347472"/>
          </a:xfrm>
          <a:prstGeom prst="rect">
            <a:avLst/>
          </a:prstGeom>
          <a:noFill/>
          <a:ln/>
        </p:spPr>
        <p:txBody>
          <a:bodyPr wrap="square" lIns="0" tIns="0" rIns="0" bIns="0" rtlCol="0" anchor="ctr"/>
          <a:lstStyle/>
          <a:p>
            <a:pPr indent="0" marL="0">
              <a:buNone/>
            </a:pPr>
            <a:r>
              <a:rPr lang="en-US" sz="1500" b="1" dirty="0">
                <a:solidFill>
                  <a:schemeClr val="tx2"/>
                </a:solidFill>
              </a:rPr>
              <a:t>projets.csv · 101 rows</a:t>
            </a:r>
            <a:endParaRPr lang="en-US" sz="1500" dirty="0"/>
          </a:p>
        </p:txBody>
      </p:sp>
      <p:sp>
        <p:nvSpPr>
          <p:cNvPr id="16" name="Box body projets"/>
          <p:cNvSpPr txBox="1"/>
          <p:nvPr/>
        </p:nvSpPr>
        <p:spPr>
          <a:xfrm>
            <a:off x="731520" y="3182112"/>
            <a:ext cx="3017520" cy="457200"/>
          </a:xfrm>
          <a:prstGeom prst="rect">
            <a:avLst/>
          </a:prstGeom>
          <a:noFill/>
          <a:ln/>
        </p:spPr>
        <p:txBody>
          <a:bodyPr wrap="square" lIns="0" tIns="0" rIns="0" bIns="0" rtlCol="0" anchor="t"/>
          <a:lstStyle/>
          <a:p>
            <a:pPr indent="0" marL="0">
              <a:buNone/>
            </a:pPr>
            <a:r>
              <a:rPr lang="en-US" sz="1200" dirty="0">
                <a:solidFill>
                  <a:schemeClr val="tx1"/>
                </a:solidFill>
              </a:rPr>
              <a:t>Project themes, used for the green + innovation filter · 504 of 504</a:t>
            </a:r>
            <a:endParaRPr lang="en-US" sz="1200" dirty="0"/>
          </a:p>
        </p:txBody>
      </p:sp>
      <p:sp>
        <p:nvSpPr>
          <p:cNvPr id="17" name="Link projets"/>
          <p:cNvSpPr/>
          <p:nvPr/>
        </p:nvSpPr>
        <p:spPr>
          <a:xfrm flipV="1">
            <a:off x="3931920" y="3063240"/>
            <a:ext cx="795528" cy="160020"/>
          </a:xfrm>
          <a:prstGeom prst="line">
            <a:avLst/>
          </a:prstGeom>
          <a:noFill/>
          <a:ln w="25400">
            <a:solidFill>
              <a:schemeClr val="accent1"/>
            </a:solidFill>
            <a:prstDash val="solid"/>
          </a:ln>
        </p:spPr>
      </p:sp>
      <p:sp>
        <p:nvSpPr>
          <p:cNvPr id="18" name="Box profils"/>
          <p:cNvSpPr/>
          <p:nvPr/>
        </p:nvSpPr>
        <p:spPr>
          <a:xfrm>
            <a:off x="548640" y="3886200"/>
            <a:ext cx="3383280" cy="960120"/>
          </a:xfrm>
          <a:prstGeom prst="roundRect">
            <a:avLst>
              <a:gd name="adj" fmla="val 9524"/>
            </a:avLst>
          </a:prstGeom>
          <a:solidFill>
            <a:schemeClr val="bg2"/>
          </a:solidFill>
          <a:ln w="22225">
            <a:solidFill>
              <a:schemeClr val="accent1"/>
            </a:solidFill>
            <a:prstDash val="solid"/>
          </a:ln>
        </p:spPr>
      </p:sp>
      <p:sp>
        <p:nvSpPr>
          <p:cNvPr id="19" name="Box head profils"/>
          <p:cNvSpPr txBox="1"/>
          <p:nvPr/>
        </p:nvSpPr>
        <p:spPr>
          <a:xfrm>
            <a:off x="731520" y="3977640"/>
            <a:ext cx="3017520" cy="347472"/>
          </a:xfrm>
          <a:prstGeom prst="rect">
            <a:avLst/>
          </a:prstGeom>
          <a:noFill/>
          <a:ln/>
        </p:spPr>
        <p:txBody>
          <a:bodyPr wrap="square" lIns="0" tIns="0" rIns="0" bIns="0" rtlCol="0" anchor="ctr"/>
          <a:lstStyle/>
          <a:p>
            <a:pPr indent="0" marL="0">
              <a:buNone/>
            </a:pPr>
            <a:r>
              <a:rPr lang="en-US" sz="1500" b="1" dirty="0">
                <a:solidFill>
                  <a:schemeClr val="tx2"/>
                </a:solidFill>
              </a:rPr>
              <a:t>profils.csv · 17 rows</a:t>
            </a:r>
            <a:endParaRPr lang="en-US" sz="1500" dirty="0"/>
          </a:p>
        </p:txBody>
      </p:sp>
      <p:sp>
        <p:nvSpPr>
          <p:cNvPr id="20" name="Box body profils"/>
          <p:cNvSpPr txBox="1"/>
          <p:nvPr/>
        </p:nvSpPr>
        <p:spPr>
          <a:xfrm>
            <a:off x="731520" y="4325112"/>
            <a:ext cx="3017520" cy="457200"/>
          </a:xfrm>
          <a:prstGeom prst="rect">
            <a:avLst/>
          </a:prstGeom>
          <a:noFill/>
          <a:ln/>
        </p:spPr>
        <p:txBody>
          <a:bodyPr wrap="square" lIns="0" tIns="0" rIns="0" bIns="0" rtlCol="0" anchor="t"/>
          <a:lstStyle/>
          <a:p>
            <a:pPr indent="0" marL="0">
              <a:buNone/>
            </a:pPr>
            <a:r>
              <a:rPr lang="en-US" sz="1200" dirty="0">
                <a:solidFill>
                  <a:schemeClr val="tx1"/>
                </a:solidFill>
              </a:rPr>
              <a:t>Eligible business profiles (industry, crafts, retail…) · 504 of 504</a:t>
            </a:r>
            <a:endParaRPr lang="en-US" sz="1200" dirty="0"/>
          </a:p>
        </p:txBody>
      </p:sp>
      <p:sp>
        <p:nvSpPr>
          <p:cNvPr id="21" name="Link profils"/>
          <p:cNvSpPr/>
          <p:nvPr/>
        </p:nvSpPr>
        <p:spPr>
          <a:xfrm flipV="1">
            <a:off x="3931920" y="3063240"/>
            <a:ext cx="795528" cy="1303020"/>
          </a:xfrm>
          <a:prstGeom prst="line">
            <a:avLst/>
          </a:prstGeom>
          <a:noFill/>
          <a:ln w="25400">
            <a:solidFill>
              <a:schemeClr val="accent1"/>
            </a:solidFill>
            <a:prstDash val="solid"/>
          </a:ln>
        </p:spPr>
      </p:sp>
      <p:sp>
        <p:nvSpPr>
          <p:cNvPr id="22" name="Box financeurs"/>
          <p:cNvSpPr/>
          <p:nvPr/>
        </p:nvSpPr>
        <p:spPr>
          <a:xfrm>
            <a:off x="8259775" y="1600200"/>
            <a:ext cx="3383280" cy="960120"/>
          </a:xfrm>
          <a:prstGeom prst="roundRect">
            <a:avLst>
              <a:gd name="adj" fmla="val 9524"/>
            </a:avLst>
          </a:prstGeom>
          <a:solidFill>
            <a:schemeClr val="bg2"/>
          </a:solidFill>
          <a:ln w="22225">
            <a:solidFill>
              <a:schemeClr val="accent1"/>
            </a:solidFill>
            <a:prstDash val="solid"/>
          </a:ln>
        </p:spPr>
      </p:sp>
      <p:sp>
        <p:nvSpPr>
          <p:cNvPr id="23" name="Box head financeurs"/>
          <p:cNvSpPr txBox="1"/>
          <p:nvPr/>
        </p:nvSpPr>
        <p:spPr>
          <a:xfrm>
            <a:off x="8442655" y="1691640"/>
            <a:ext cx="3017520" cy="347472"/>
          </a:xfrm>
          <a:prstGeom prst="rect">
            <a:avLst/>
          </a:prstGeom>
          <a:noFill/>
          <a:ln/>
        </p:spPr>
        <p:txBody>
          <a:bodyPr wrap="square" lIns="0" tIns="0" rIns="0" bIns="0" rtlCol="0" anchor="ctr"/>
          <a:lstStyle/>
          <a:p>
            <a:pPr indent="0" marL="0">
              <a:buNone/>
            </a:pPr>
            <a:r>
              <a:rPr lang="en-US" sz="1500" b="1" dirty="0">
                <a:solidFill>
                  <a:schemeClr val="tx2"/>
                </a:solidFill>
              </a:rPr>
              <a:t>financeurs.csv · 1,427 rows</a:t>
            </a:r>
            <a:endParaRPr lang="en-US" sz="1500" dirty="0"/>
          </a:p>
        </p:txBody>
      </p:sp>
      <p:sp>
        <p:nvSpPr>
          <p:cNvPr id="24" name="Box body financeurs"/>
          <p:cNvSpPr txBox="1"/>
          <p:nvPr/>
        </p:nvSpPr>
        <p:spPr>
          <a:xfrm>
            <a:off x="8442655" y="2039112"/>
            <a:ext cx="3017520" cy="457200"/>
          </a:xfrm>
          <a:prstGeom prst="rect">
            <a:avLst/>
          </a:prstGeom>
          <a:noFill/>
          <a:ln/>
        </p:spPr>
        <p:txBody>
          <a:bodyPr wrap="square" lIns="0" tIns="0" rIns="0" bIns="0" rtlCol="0" anchor="t"/>
          <a:lstStyle/>
          <a:p>
            <a:pPr indent="0" marL="0">
              <a:buNone/>
            </a:pPr>
            <a:r>
              <a:rPr lang="en-US" sz="1200" dirty="0">
                <a:solidFill>
                  <a:schemeClr val="tx1"/>
                </a:solidFill>
              </a:rPr>
              <a:t>Funder names, and postcodes used to infer some regions · 504 of 504</a:t>
            </a:r>
            <a:endParaRPr lang="en-US" sz="1200" dirty="0"/>
          </a:p>
        </p:txBody>
      </p:sp>
      <p:sp>
        <p:nvSpPr>
          <p:cNvPr id="25" name="Link financeurs"/>
          <p:cNvSpPr/>
          <p:nvPr/>
        </p:nvSpPr>
        <p:spPr>
          <a:xfrm flipV="1">
            <a:off x="7470648" y="2080260"/>
            <a:ext cx="789127" cy="982980"/>
          </a:xfrm>
          <a:prstGeom prst="line">
            <a:avLst/>
          </a:prstGeom>
          <a:noFill/>
          <a:ln w="25400">
            <a:solidFill>
              <a:schemeClr val="accent1"/>
            </a:solidFill>
            <a:prstDash val="solid"/>
          </a:ln>
        </p:spPr>
      </p:sp>
      <p:sp>
        <p:nvSpPr>
          <p:cNvPr id="26" name="Box territoires"/>
          <p:cNvSpPr/>
          <p:nvPr/>
        </p:nvSpPr>
        <p:spPr>
          <a:xfrm>
            <a:off x="8259775" y="2743200"/>
            <a:ext cx="3383280" cy="960120"/>
          </a:xfrm>
          <a:prstGeom prst="roundRect">
            <a:avLst>
              <a:gd name="adj" fmla="val 9524"/>
            </a:avLst>
          </a:prstGeom>
          <a:solidFill>
            <a:schemeClr val="bg2"/>
          </a:solidFill>
          <a:ln w="22225">
            <a:solidFill>
              <a:schemeClr val="accent1"/>
            </a:solidFill>
            <a:prstDash val="solid"/>
          </a:ln>
        </p:spPr>
      </p:sp>
      <p:sp>
        <p:nvSpPr>
          <p:cNvPr id="27" name="Box head territoires"/>
          <p:cNvSpPr txBox="1"/>
          <p:nvPr/>
        </p:nvSpPr>
        <p:spPr>
          <a:xfrm>
            <a:off x="8442655" y="2834640"/>
            <a:ext cx="3017520" cy="347472"/>
          </a:xfrm>
          <a:prstGeom prst="rect">
            <a:avLst/>
          </a:prstGeom>
          <a:noFill/>
          <a:ln/>
        </p:spPr>
        <p:txBody>
          <a:bodyPr wrap="square" lIns="0" tIns="0" rIns="0" bIns="0" rtlCol="0" anchor="ctr"/>
          <a:lstStyle/>
          <a:p>
            <a:pPr indent="0" marL="0">
              <a:buNone/>
            </a:pPr>
            <a:r>
              <a:rPr lang="en-US" sz="1500" b="1" dirty="0">
                <a:solidFill>
                  <a:schemeClr val="tx2"/>
                </a:solidFill>
              </a:rPr>
              <a:t>territoires.csv · 39,348 rows</a:t>
            </a:r>
            <a:endParaRPr lang="en-US" sz="1500" dirty="0"/>
          </a:p>
        </p:txBody>
      </p:sp>
      <p:sp>
        <p:nvSpPr>
          <p:cNvPr id="28" name="Box body territoires"/>
          <p:cNvSpPr txBox="1"/>
          <p:nvPr/>
        </p:nvSpPr>
        <p:spPr>
          <a:xfrm>
            <a:off x="8442655" y="3182112"/>
            <a:ext cx="3017520" cy="457200"/>
          </a:xfrm>
          <a:prstGeom prst="rect">
            <a:avLst/>
          </a:prstGeom>
          <a:noFill/>
          <a:ln/>
        </p:spPr>
        <p:txBody>
          <a:bodyPr wrap="square" lIns="0" tIns="0" rIns="0" bIns="0" rtlCol="0" anchor="t"/>
          <a:lstStyle/>
          <a:p>
            <a:pPr indent="0" marL="0">
              <a:buNone/>
            </a:pPr>
            <a:r>
              <a:rPr lang="en-US" sz="1200" dirty="0">
                <a:solidFill>
                  <a:schemeClr val="tx1"/>
                </a:solidFill>
              </a:rPr>
              <a:t>Area → region, fixed with an official region table · 228 of 432 local aids</a:t>
            </a:r>
            <a:endParaRPr lang="en-US" sz="1200" dirty="0"/>
          </a:p>
        </p:txBody>
      </p:sp>
      <p:sp>
        <p:nvSpPr>
          <p:cNvPr id="29" name="Link territoires"/>
          <p:cNvSpPr/>
          <p:nvPr/>
        </p:nvSpPr>
        <p:spPr>
          <a:xfrm>
            <a:off x="7470648" y="3063240"/>
            <a:ext cx="789127" cy="160020"/>
          </a:xfrm>
          <a:prstGeom prst="line">
            <a:avLst/>
          </a:prstGeom>
          <a:noFill/>
          <a:ln w="25400">
            <a:solidFill>
              <a:schemeClr val="accent1"/>
            </a:solidFill>
            <a:prstDash val="solid"/>
          </a:ln>
        </p:spPr>
      </p:sp>
      <p:sp>
        <p:nvSpPr>
          <p:cNvPr id="30" name="Box contacts"/>
          <p:cNvSpPr/>
          <p:nvPr/>
        </p:nvSpPr>
        <p:spPr>
          <a:xfrm>
            <a:off x="8259775" y="3886200"/>
            <a:ext cx="3383280" cy="960120"/>
          </a:xfrm>
          <a:prstGeom prst="roundRect">
            <a:avLst>
              <a:gd name="adj" fmla="val 9524"/>
            </a:avLst>
          </a:prstGeom>
          <a:solidFill>
            <a:schemeClr val="bg2"/>
          </a:solidFill>
          <a:ln w="22225">
            <a:solidFill>
              <a:schemeClr val="accent2"/>
            </a:solidFill>
            <a:prstDash val="solid"/>
          </a:ln>
        </p:spPr>
      </p:sp>
      <p:sp>
        <p:nvSpPr>
          <p:cNvPr id="31" name="Box head contacts"/>
          <p:cNvSpPr txBox="1"/>
          <p:nvPr/>
        </p:nvSpPr>
        <p:spPr>
          <a:xfrm>
            <a:off x="8442655" y="3977640"/>
            <a:ext cx="3017520" cy="347472"/>
          </a:xfrm>
          <a:prstGeom prst="rect">
            <a:avLst/>
          </a:prstGeom>
          <a:noFill/>
          <a:ln/>
        </p:spPr>
        <p:txBody>
          <a:bodyPr wrap="square" lIns="0" tIns="0" rIns="0" bIns="0" rtlCol="0" anchor="ctr"/>
          <a:lstStyle/>
          <a:p>
            <a:pPr indent="0" marL="0">
              <a:buNone/>
            </a:pPr>
            <a:r>
              <a:rPr lang="en-US" sz="1500" b="1" dirty="0">
                <a:solidFill>
                  <a:schemeClr val="tx2"/>
                </a:solidFill>
              </a:rPr>
              <a:t>contacts.csv · 7,925 rows</a:t>
            </a:r>
            <a:endParaRPr lang="en-US" sz="1500" dirty="0"/>
          </a:p>
        </p:txBody>
      </p:sp>
      <p:sp>
        <p:nvSpPr>
          <p:cNvPr id="32" name="Box body contacts"/>
          <p:cNvSpPr txBox="1"/>
          <p:nvPr/>
        </p:nvSpPr>
        <p:spPr>
          <a:xfrm>
            <a:off x="8442655" y="4325112"/>
            <a:ext cx="3017520" cy="457200"/>
          </a:xfrm>
          <a:prstGeom prst="rect">
            <a:avLst/>
          </a:prstGeom>
          <a:noFill/>
          <a:ln/>
        </p:spPr>
        <p:txBody>
          <a:bodyPr wrap="square" lIns="0" tIns="0" rIns="0" bIns="0" rtlCol="0" anchor="t"/>
          <a:lstStyle/>
          <a:p>
            <a:pPr indent="0" marL="0">
              <a:buNone/>
            </a:pPr>
            <a:r>
              <a:rPr lang="en-US" sz="1200" dirty="0">
                <a:solidFill>
                  <a:schemeClr val="tx1"/>
                </a:solidFill>
              </a:rPr>
              <a:t>Contact IDs kept, details not joined yet · 503 of 504</a:t>
            </a:r>
            <a:endParaRPr lang="en-US" sz="1200" dirty="0"/>
          </a:p>
        </p:txBody>
      </p:sp>
      <p:sp>
        <p:nvSpPr>
          <p:cNvPr id="33" name="Link contacts"/>
          <p:cNvSpPr/>
          <p:nvPr/>
        </p:nvSpPr>
        <p:spPr>
          <a:xfrm>
            <a:off x="7470648" y="3063240"/>
            <a:ext cx="789127" cy="1303020"/>
          </a:xfrm>
          <a:prstGeom prst="line">
            <a:avLst/>
          </a:prstGeom>
          <a:noFill/>
          <a:ln w="25400">
            <a:solidFill>
              <a:schemeClr val="accent2"/>
            </a:solidFill>
            <a:prstDash val="solid"/>
          </a:ln>
        </p:spPr>
      </p:sp>
      <p:sp>
        <p:nvSpPr>
          <p:cNvPr id="34" name="Hub"/>
          <p:cNvSpPr/>
          <p:nvPr/>
        </p:nvSpPr>
        <p:spPr>
          <a:xfrm>
            <a:off x="4727448" y="2377440"/>
            <a:ext cx="2743200" cy="1371600"/>
          </a:xfrm>
          <a:prstGeom prst="roundRect">
            <a:avLst>
              <a:gd name="adj" fmla="val 8000"/>
            </a:avLst>
          </a:prstGeom>
          <a:solidFill>
            <a:schemeClr val="tx2"/>
          </a:solidFill>
          <a:ln w="12700">
            <a:solidFill>
              <a:schemeClr val="tx2"/>
            </a:solidFill>
            <a:prstDash val="solid"/>
          </a:ln>
        </p:spPr>
      </p:sp>
      <p:sp>
        <p:nvSpPr>
          <p:cNvPr id="35" name="Hub text"/>
          <p:cNvSpPr txBox="1"/>
          <p:nvPr/>
        </p:nvSpPr>
        <p:spPr>
          <a:xfrm>
            <a:off x="4727448" y="2377440"/>
            <a:ext cx="2743200" cy="1371600"/>
          </a:xfrm>
          <a:prstGeom prst="rect">
            <a:avLst/>
          </a:prstGeom>
          <a:noFill/>
          <a:ln/>
        </p:spPr>
        <p:txBody>
          <a:bodyPr wrap="square" lIns="0" tIns="0" rIns="0" bIns="0" rtlCol="0" anchor="ctr"/>
          <a:lstStyle/>
          <a:p>
            <a:pPr algn="ctr" indent="0" marL="0">
              <a:buNone/>
            </a:pPr>
            <a:r>
              <a:rPr lang="en-US" sz="2000" b="1" dirty="0">
                <a:solidFill>
                  <a:schemeClr val="bg1"/>
                </a:solidFill>
              </a:rPr>
              <a:t>aides.csv</a:t>
            </a:r>
            <a:endParaRPr lang="en-US" sz="2000" dirty="0"/>
          </a:p>
          <a:p>
            <a:pPr algn="ctr" indent="0" marL="0">
              <a:buNone/>
            </a:pPr>
            <a:r>
              <a:rPr lang="en-US" sz="1300" dirty="0">
                <a:solidFill>
                  <a:schemeClr val="bg1"/>
                </a:solidFill>
              </a:rPr>
              <a:t>2,442 aids, filtered to 504</a:t>
            </a:r>
            <a:endParaRPr lang="en-US" sz="2000" dirty="0"/>
          </a:p>
        </p:txBody>
      </p:sp>
      <p:sp>
        <p:nvSpPr>
          <p:cNvPr id="36" name="Output arrow"/>
          <p:cNvSpPr/>
          <p:nvPr/>
        </p:nvSpPr>
        <p:spPr>
          <a:xfrm>
            <a:off x="6099048" y="3749040"/>
            <a:ext cx="0" cy="457200"/>
          </a:xfrm>
          <a:prstGeom prst="line">
            <a:avLst/>
          </a:prstGeom>
          <a:noFill/>
          <a:ln w="31750">
            <a:solidFill>
              <a:schemeClr val="accent1"/>
            </a:solidFill>
            <a:prstDash val="solid"/>
            <a:tailEnd type="triangle"/>
          </a:ln>
        </p:spPr>
      </p:sp>
      <p:sp>
        <p:nvSpPr>
          <p:cNvPr id="37" name="Output"/>
          <p:cNvSpPr/>
          <p:nvPr/>
        </p:nvSpPr>
        <p:spPr>
          <a:xfrm>
            <a:off x="4544568" y="4206240"/>
            <a:ext cx="3108960" cy="868680"/>
          </a:xfrm>
          <a:prstGeom prst="roundRect">
            <a:avLst>
              <a:gd name="adj" fmla="val 12632"/>
            </a:avLst>
          </a:prstGeom>
          <a:solidFill>
            <a:schemeClr val="accent1"/>
          </a:solidFill>
          <a:ln w="12700">
            <a:solidFill>
              <a:schemeClr val="accent1"/>
            </a:solidFill>
            <a:prstDash val="solid"/>
          </a:ln>
        </p:spPr>
      </p:sp>
      <p:sp>
        <p:nvSpPr>
          <p:cNvPr id="38" name="Output text"/>
          <p:cNvSpPr txBox="1"/>
          <p:nvPr/>
        </p:nvSpPr>
        <p:spPr>
          <a:xfrm>
            <a:off x="4544568" y="4206240"/>
            <a:ext cx="3108960" cy="868680"/>
          </a:xfrm>
          <a:prstGeom prst="rect">
            <a:avLst/>
          </a:prstGeom>
          <a:noFill/>
          <a:ln/>
        </p:spPr>
        <p:txBody>
          <a:bodyPr wrap="square" lIns="0" tIns="0" rIns="0" bIns="0" rtlCol="0" anchor="ctr"/>
          <a:lstStyle/>
          <a:p>
            <a:pPr algn="ctr" indent="0" marL="0">
              <a:buNone/>
            </a:pPr>
            <a:r>
              <a:rPr lang="en-US" sz="1700" b="1" dirty="0">
                <a:solidFill>
                  <a:schemeClr val="bg1"/>
                </a:solidFill>
              </a:rPr>
              <a:t>aids.jsonl</a:t>
            </a:r>
            <a:endParaRPr lang="en-US" sz="1700" dirty="0"/>
          </a:p>
          <a:p>
            <a:pPr algn="ctr" indent="0" marL="0">
              <a:buNone/>
            </a:pPr>
            <a:r>
              <a:rPr lang="en-US" sz="1200" dirty="0">
                <a:solidFill>
                  <a:schemeClr val="bg1"/>
                </a:solidFill>
              </a:rPr>
              <a:t>504 clean records, labels instead of IDs</a:t>
            </a:r>
            <a:endParaRPr lang="en-US" sz="1700" dirty="0"/>
          </a:p>
        </p:txBody>
      </p:sp>
      <p:sp>
        <p:nvSpPr>
          <p:cNvPr id="39" name="Not used label"/>
          <p:cNvSpPr txBox="1"/>
          <p:nvPr/>
        </p:nvSpPr>
        <p:spPr>
          <a:xfrm>
            <a:off x="548640" y="5440680"/>
            <a:ext cx="1280160" cy="548640"/>
          </a:xfrm>
          <a:prstGeom prst="rect">
            <a:avLst/>
          </a:prstGeom>
          <a:noFill/>
          <a:ln/>
        </p:spPr>
        <p:txBody>
          <a:bodyPr wrap="square" lIns="0" tIns="0" rIns="0" bIns="0" rtlCol="0" anchor="ctr"/>
          <a:lstStyle/>
          <a:p>
            <a:pPr indent="0" marL="0">
              <a:buNone/>
            </a:pPr>
            <a:r>
              <a:rPr lang="en-US" sz="1400" b="1" dirty="0">
                <a:solidFill>
                  <a:schemeClr val="accent6"/>
                </a:solidFill>
              </a:rPr>
              <a:t>Not used</a:t>
            </a:r>
            <a:endParaRPr lang="en-US" sz="1400" dirty="0"/>
          </a:p>
        </p:txBody>
      </p:sp>
      <p:sp>
        <p:nvSpPr>
          <p:cNvPr id="40" name="Unused domaines.csv"/>
          <p:cNvSpPr/>
          <p:nvPr/>
        </p:nvSpPr>
        <p:spPr>
          <a:xfrm>
            <a:off x="1828800" y="5440680"/>
            <a:ext cx="4709160" cy="548640"/>
          </a:xfrm>
          <a:prstGeom prst="roundRect">
            <a:avLst>
              <a:gd name="adj" fmla="val 16667"/>
            </a:avLst>
          </a:prstGeom>
          <a:solidFill>
            <a:schemeClr val="bg1"/>
          </a:solidFill>
          <a:ln w="15875">
            <a:solidFill>
              <a:schemeClr val="accent4"/>
            </a:solidFill>
            <a:prstDash val="dash"/>
          </a:ln>
        </p:spPr>
      </p:sp>
      <p:sp>
        <p:nvSpPr>
          <p:cNvPr id="41" name="Unused text domaines.csv"/>
          <p:cNvSpPr txBox="1"/>
          <p:nvPr/>
        </p:nvSpPr>
        <p:spPr>
          <a:xfrm>
            <a:off x="2011680" y="5440680"/>
            <a:ext cx="4389120" cy="548640"/>
          </a:xfrm>
          <a:prstGeom prst="rect">
            <a:avLst/>
          </a:prstGeom>
          <a:noFill/>
          <a:ln/>
        </p:spPr>
        <p:txBody>
          <a:bodyPr wrap="square" lIns="0" tIns="0" rIns="0" bIns="0" rtlCol="0" anchor="ctr"/>
          <a:lstStyle/>
          <a:p>
            <a:pPr indent="0" marL="0">
              <a:buNone/>
            </a:pPr>
            <a:r>
              <a:rPr lang="en-US" sz="1300" b="1" dirty="0">
                <a:solidFill>
                  <a:schemeClr val="tx2"/>
                </a:solidFill>
              </a:rPr>
              <a:t>domaines.csv  </a:t>
            </a:r>
            <a:pPr indent="0" marL="0">
              <a:buNone/>
            </a:pPr>
            <a:r>
              <a:rPr lang="en-US" sz="1300" dirty="0">
                <a:solidFill>
                  <a:schemeClr val="accent6"/>
                </a:solidFill>
              </a:rPr>
              <a:t>domain names already written in aides.csv</a:t>
            </a:r>
            <a:endParaRPr lang="en-US" sz="1300" dirty="0"/>
          </a:p>
        </p:txBody>
      </p:sp>
      <p:sp>
        <p:nvSpPr>
          <p:cNvPr id="42" name="Unused niveaux.csv"/>
          <p:cNvSpPr/>
          <p:nvPr/>
        </p:nvSpPr>
        <p:spPr>
          <a:xfrm>
            <a:off x="6812280" y="5440680"/>
            <a:ext cx="4709160" cy="548640"/>
          </a:xfrm>
          <a:prstGeom prst="roundRect">
            <a:avLst>
              <a:gd name="adj" fmla="val 16667"/>
            </a:avLst>
          </a:prstGeom>
          <a:solidFill>
            <a:schemeClr val="bg1"/>
          </a:solidFill>
          <a:ln w="15875">
            <a:solidFill>
              <a:schemeClr val="accent4"/>
            </a:solidFill>
            <a:prstDash val="dash"/>
          </a:ln>
        </p:spPr>
      </p:sp>
      <p:sp>
        <p:nvSpPr>
          <p:cNvPr id="43" name="Unused text niveaux.csv"/>
          <p:cNvSpPr txBox="1"/>
          <p:nvPr/>
        </p:nvSpPr>
        <p:spPr>
          <a:xfrm>
            <a:off x="6995160" y="5440680"/>
            <a:ext cx="4389120" cy="548640"/>
          </a:xfrm>
          <a:prstGeom prst="rect">
            <a:avLst/>
          </a:prstGeom>
          <a:noFill/>
          <a:ln/>
        </p:spPr>
        <p:txBody>
          <a:bodyPr wrap="square" lIns="0" tIns="0" rIns="0" bIns="0" rtlCol="0" anchor="ctr"/>
          <a:lstStyle/>
          <a:p>
            <a:pPr indent="0" marL="0">
              <a:buNone/>
            </a:pPr>
            <a:r>
              <a:rPr lang="en-US" sz="1300" b="1" dirty="0">
                <a:solidFill>
                  <a:schemeClr val="tx2"/>
                </a:solidFill>
              </a:rPr>
              <a:t>niveaux.csv  </a:t>
            </a:r>
            <a:pPr indent="0" marL="0">
              <a:buNone/>
            </a:pPr>
            <a:r>
              <a:rPr lang="en-US" sz="1300" dirty="0">
                <a:solidFill>
                  <a:schemeClr val="accent6"/>
                </a:solidFill>
              </a:rPr>
              <a:t>national / regional / EU level already in aides.csv</a:t>
            </a:r>
            <a:endParaRPr lang="en-US" sz="1300" dirty="0"/>
          </a:p>
        </p:txBody>
      </p:sp>
      <p:sp>
        <p:nvSpPr>
          <p:cNvPr id="44" name="Footnote 3"/>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Joins are made on IDs (e.g. aides.natures → natures.id_typ). Counts from data/processed/aids.jsonl, 14 Oct 2026. No external dataset was merged.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ctr"/>
          <a:lstStyle/>
          <a:p>
            <a:pPr algn="l" indent="0" marL="0">
              <a:buNone/>
            </a:pPr>
            <a:r>
              <a:rPr lang="en-US" sz="4000" b="1" dirty="0">
                <a:solidFill>
                  <a:schemeClr val="bg1"/>
                </a:solidFill>
              </a:rPr>
              <a:t>Phase 2: from clean data to measurable search</a:t>
            </a:r>
            <a:endParaRPr lang="en-US" sz="4000" dirty="0"/>
          </a:p>
        </p:txBody>
      </p:sp>
      <p:sp>
        <p:nvSpPr>
          <p:cNvPr id="3" name="Section subtitle"/>
          <p:cNvSpPr txBox="1"/>
          <p:nvPr/>
        </p:nvSpPr>
        <p:spPr>
          <a:xfrm>
            <a:off x="731520" y="3657600"/>
            <a:ext cx="10698480" cy="457200"/>
          </a:xfrm>
          <a:prstGeom prst="rect">
            <a:avLst/>
          </a:prstGeom>
          <a:noFill/>
          <a:ln/>
        </p:spPr>
        <p:txBody>
          <a:bodyPr wrap="square" lIns="0" tIns="0" rIns="0" bIns="0" rtlCol="0" anchor="ctr"/>
          <a:lstStyle/>
          <a:p>
            <a:pPr indent="0" marL="0">
              <a:buNone/>
            </a:pPr>
            <a:r>
              <a:rPr lang="en-US" sz="1800" dirty="0">
                <a:solidFill>
                  <a:srgbClr val="CADCFC"/>
                </a:solidFill>
              </a:rPr>
              <a:t>15–16 Oct · steps 2 to 5 · every choice below is backed by a score on our 40 test questions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685800"/>
          </a:xfrm>
          <a:prstGeom prst="rect">
            <a:avLst/>
          </a:prstGeom>
          <a:noFill/>
          <a:ln/>
        </p:spPr>
        <p:txBody>
          <a:bodyPr wrap="square" lIns="0" tIns="0" rIns="0" bIns="0" rtlCol="0" anchor="ctr"/>
          <a:lstStyle/>
          <a:p>
            <a:pPr algn="l" indent="0" marL="0">
              <a:buNone/>
            </a:pPr>
            <a:r>
              <a:rPr lang="en-US" sz="3000" b="1" dirty="0">
                <a:solidFill>
                  <a:schemeClr val="tx2"/>
                </a:solidFill>
              </a:rPr>
              <a:t>The whole system in one picture</a:t>
            </a:r>
            <a:endParaRPr lang="en-US" sz="3000" dirty="0"/>
          </a:p>
        </p:txBody>
      </p:sp>
      <p:sp>
        <p:nvSpPr>
          <p:cNvPr id="3" name="Pipeline subtitle"/>
          <p:cNvSpPr txBox="1"/>
          <p:nvPr/>
        </p:nvSpPr>
        <p:spPr>
          <a:xfrm>
            <a:off x="548640" y="1005840"/>
            <a:ext cx="11064240" cy="320040"/>
          </a:xfrm>
          <a:prstGeom prst="rect">
            <a:avLst/>
          </a:prstGeom>
          <a:noFill/>
          <a:ln/>
        </p:spPr>
        <p:txBody>
          <a:bodyPr wrap="square" lIns="0" tIns="0" rIns="0" bIns="0" rtlCol="0" anchor="ctr"/>
          <a:lstStyle/>
          <a:p>
            <a:pPr indent="0" marL="0">
              <a:buNone/>
            </a:pPr>
            <a:r>
              <a:rPr lang="en-US" sz="1400" dirty="0">
                <a:solidFill>
                  <a:schemeClr val="accent6"/>
                </a:solidFill>
              </a:rPr>
              <a:t>What happens to a question, left to right. Colour = status today.</a:t>
            </a:r>
            <a:endParaRPr lang="en-US" sz="1400" dirty="0"/>
          </a:p>
        </p:txBody>
      </p:sp>
      <p:sp>
        <p:nvSpPr>
          <p:cNvPr id="4" name="Pipeline legend dot Done"/>
          <p:cNvSpPr/>
          <p:nvPr/>
        </p:nvSpPr>
        <p:spPr>
          <a:xfrm>
            <a:off x="10012680" y="429768"/>
            <a:ext cx="137160" cy="137160"/>
          </a:xfrm>
          <a:prstGeom prst="ellipse">
            <a:avLst/>
          </a:prstGeom>
          <a:solidFill>
            <a:schemeClr val="accent1"/>
          </a:solidFill>
          <a:ln w="12700">
            <a:solidFill>
              <a:schemeClr val="accent1"/>
            </a:solidFill>
            <a:prstDash val="solid"/>
          </a:ln>
        </p:spPr>
      </p:sp>
      <p:sp>
        <p:nvSpPr>
          <p:cNvPr id="5" name="Pipeline legend Done"/>
          <p:cNvSpPr txBox="1"/>
          <p:nvPr/>
        </p:nvSpPr>
        <p:spPr>
          <a:xfrm>
            <a:off x="10222992" y="384048"/>
            <a:ext cx="1737360" cy="228600"/>
          </a:xfrm>
          <a:prstGeom prst="rect">
            <a:avLst/>
          </a:prstGeom>
          <a:noFill/>
          <a:ln/>
        </p:spPr>
        <p:txBody>
          <a:bodyPr wrap="square" lIns="0" tIns="0" rIns="0" bIns="0" rtlCol="0" anchor="ctr"/>
          <a:lstStyle/>
          <a:p>
            <a:pPr indent="0" marL="0">
              <a:buNone/>
            </a:pPr>
            <a:r>
              <a:rPr lang="en-US" sz="1200" dirty="0">
                <a:solidFill>
                  <a:schemeClr val="tx1"/>
                </a:solidFill>
              </a:rPr>
              <a:t>Done</a:t>
            </a:r>
            <a:endParaRPr lang="en-US" sz="1200" dirty="0"/>
          </a:p>
        </p:txBody>
      </p:sp>
      <p:sp>
        <p:nvSpPr>
          <p:cNvPr id="6" name="Pipeline legend dot In progress"/>
          <p:cNvSpPr/>
          <p:nvPr/>
        </p:nvSpPr>
        <p:spPr>
          <a:xfrm>
            <a:off x="10012680" y="676656"/>
            <a:ext cx="137160" cy="137160"/>
          </a:xfrm>
          <a:prstGeom prst="ellipse">
            <a:avLst/>
          </a:prstGeom>
          <a:solidFill>
            <a:schemeClr val="accent2"/>
          </a:solidFill>
          <a:ln w="12700">
            <a:solidFill>
              <a:schemeClr val="accent2"/>
            </a:solidFill>
            <a:prstDash val="solid"/>
          </a:ln>
        </p:spPr>
      </p:sp>
      <p:sp>
        <p:nvSpPr>
          <p:cNvPr id="7" name="Pipeline legend In progress"/>
          <p:cNvSpPr txBox="1"/>
          <p:nvPr/>
        </p:nvSpPr>
        <p:spPr>
          <a:xfrm>
            <a:off x="10222992" y="630936"/>
            <a:ext cx="1737360" cy="228600"/>
          </a:xfrm>
          <a:prstGeom prst="rect">
            <a:avLst/>
          </a:prstGeom>
          <a:noFill/>
          <a:ln/>
        </p:spPr>
        <p:txBody>
          <a:bodyPr wrap="square" lIns="0" tIns="0" rIns="0" bIns="0" rtlCol="0" anchor="ctr"/>
          <a:lstStyle/>
          <a:p>
            <a:pPr indent="0" marL="0">
              <a:buNone/>
            </a:pPr>
            <a:r>
              <a:rPr lang="en-US" sz="1200" dirty="0">
                <a:solidFill>
                  <a:schemeClr val="tx1"/>
                </a:solidFill>
              </a:rPr>
              <a:t>In progress</a:t>
            </a:r>
            <a:endParaRPr lang="en-US" sz="1200" dirty="0"/>
          </a:p>
        </p:txBody>
      </p:sp>
      <p:sp>
        <p:nvSpPr>
          <p:cNvPr id="8" name="Pipeline legend dot Not started"/>
          <p:cNvSpPr/>
          <p:nvPr/>
        </p:nvSpPr>
        <p:spPr>
          <a:xfrm>
            <a:off x="10012680" y="923544"/>
            <a:ext cx="137160" cy="137160"/>
          </a:xfrm>
          <a:prstGeom prst="ellipse">
            <a:avLst/>
          </a:prstGeom>
          <a:solidFill>
            <a:schemeClr val="accent4"/>
          </a:solidFill>
          <a:ln w="12700">
            <a:solidFill>
              <a:schemeClr val="accent4"/>
            </a:solidFill>
            <a:prstDash val="solid"/>
          </a:ln>
        </p:spPr>
      </p:sp>
      <p:sp>
        <p:nvSpPr>
          <p:cNvPr id="9" name="Pipeline legend Not started"/>
          <p:cNvSpPr txBox="1"/>
          <p:nvPr/>
        </p:nvSpPr>
        <p:spPr>
          <a:xfrm>
            <a:off x="10222992" y="877824"/>
            <a:ext cx="1737360" cy="228600"/>
          </a:xfrm>
          <a:prstGeom prst="rect">
            <a:avLst/>
          </a:prstGeom>
          <a:noFill/>
          <a:ln/>
        </p:spPr>
        <p:txBody>
          <a:bodyPr wrap="square" lIns="0" tIns="0" rIns="0" bIns="0" rtlCol="0" anchor="ctr"/>
          <a:lstStyle/>
          <a:p>
            <a:pPr indent="0" marL="0">
              <a:buNone/>
            </a:pPr>
            <a:r>
              <a:rPr lang="en-US" sz="1200" dirty="0">
                <a:solidFill>
                  <a:schemeClr val="tx1"/>
                </a:solidFill>
              </a:rPr>
              <a:t>Not started</a:t>
            </a:r>
            <a:endParaRPr lang="en-US" sz="1200" dirty="0"/>
          </a:p>
        </p:txBody>
      </p:sp>
      <p:sp>
        <p:nvSpPr>
          <p:cNvPr id="10" name="Question box"/>
          <p:cNvSpPr/>
          <p:nvPr/>
        </p:nvSpPr>
        <p:spPr>
          <a:xfrm>
            <a:off x="548640" y="2697480"/>
            <a:ext cx="1417320" cy="1097280"/>
          </a:xfrm>
          <a:prstGeom prst="roundRect">
            <a:avLst>
              <a:gd name="adj" fmla="val 10000"/>
            </a:avLst>
          </a:prstGeom>
          <a:solidFill>
            <a:schemeClr val="tx2"/>
          </a:solidFill>
          <a:ln w="12700">
            <a:solidFill>
              <a:schemeClr val="tx2"/>
            </a:solidFill>
            <a:prstDash val="solid"/>
          </a:ln>
        </p:spPr>
      </p:sp>
      <p:sp>
        <p:nvSpPr>
          <p:cNvPr id="11" name="Question text"/>
          <p:cNvSpPr txBox="1"/>
          <p:nvPr/>
        </p:nvSpPr>
        <p:spPr>
          <a:xfrm>
            <a:off x="548640" y="2697480"/>
            <a:ext cx="1417320" cy="1097280"/>
          </a:xfrm>
          <a:prstGeom prst="rect">
            <a:avLst/>
          </a:prstGeom>
          <a:noFill/>
          <a:ln/>
        </p:spPr>
        <p:txBody>
          <a:bodyPr wrap="square" lIns="0" tIns="0" rIns="0" bIns="0" rtlCol="0" anchor="ctr"/>
          <a:lstStyle/>
          <a:p>
            <a:pPr algn="ctr" indent="0" marL="0">
              <a:buNone/>
            </a:pPr>
            <a:r>
              <a:rPr lang="en-US" sz="1500" b="1" dirty="0">
                <a:solidFill>
                  <a:schemeClr val="bg1"/>
                </a:solidFill>
              </a:rPr>
              <a:t>Question</a:t>
            </a:r>
            <a:endParaRPr lang="en-US" sz="1500" dirty="0"/>
          </a:p>
          <a:p>
            <a:pPr algn="ctr" indent="0" marL="0">
              <a:buNone/>
            </a:pPr>
            <a:r>
              <a:rPr lang="en-US" sz="1100" dirty="0">
                <a:solidFill>
                  <a:schemeClr val="bg1"/>
                </a:solidFill>
              </a:rPr>
              <a:t>in French, from an SME</a:t>
            </a:r>
            <a:endParaRPr lang="en-US" sz="1500" dirty="0"/>
          </a:p>
        </p:txBody>
      </p:sp>
      <p:sp>
        <p:nvSpPr>
          <p:cNvPr id="12" name="Node bm25"/>
          <p:cNvSpPr/>
          <p:nvPr/>
        </p:nvSpPr>
        <p:spPr>
          <a:xfrm>
            <a:off x="2194560" y="1737360"/>
            <a:ext cx="2011680" cy="1234440"/>
          </a:xfrm>
          <a:prstGeom prst="roundRect">
            <a:avLst>
              <a:gd name="adj" fmla="val 8889"/>
            </a:avLst>
          </a:prstGeom>
          <a:solidFill>
            <a:schemeClr val="bg2"/>
          </a:solidFill>
          <a:ln w="22225">
            <a:solidFill>
              <a:schemeClr val="accent1"/>
            </a:solidFill>
            <a:prstDash val="solid"/>
          </a:ln>
        </p:spPr>
      </p:sp>
      <p:sp>
        <p:nvSpPr>
          <p:cNvPr id="13" name="Node head bm25"/>
          <p:cNvSpPr txBox="1"/>
          <p:nvPr/>
        </p:nvSpPr>
        <p:spPr>
          <a:xfrm>
            <a:off x="2331720" y="1847088"/>
            <a:ext cx="1737360" cy="329184"/>
          </a:xfrm>
          <a:prstGeom prst="rect">
            <a:avLst/>
          </a:prstGeom>
          <a:noFill/>
          <a:ln/>
        </p:spPr>
        <p:txBody>
          <a:bodyPr wrap="square" lIns="0" tIns="0" rIns="0" bIns="0" rtlCol="0" anchor="ctr"/>
          <a:lstStyle/>
          <a:p>
            <a:pPr indent="0" marL="0">
              <a:buNone/>
            </a:pPr>
            <a:r>
              <a:rPr lang="en-US" sz="1500" b="1" dirty="0">
                <a:solidFill>
                  <a:schemeClr val="tx2"/>
                </a:solidFill>
              </a:rPr>
              <a:t>Keyword search</a:t>
            </a:r>
            <a:endParaRPr lang="en-US" sz="1500" dirty="0"/>
          </a:p>
        </p:txBody>
      </p:sp>
      <p:sp>
        <p:nvSpPr>
          <p:cNvPr id="14" name="Node body bm25"/>
          <p:cNvSpPr txBox="1"/>
          <p:nvPr/>
        </p:nvSpPr>
        <p:spPr>
          <a:xfrm>
            <a:off x="2331720" y="2194560"/>
            <a:ext cx="1737360" cy="685800"/>
          </a:xfrm>
          <a:prstGeom prst="rect">
            <a:avLst/>
          </a:prstGeom>
          <a:noFill/>
          <a:ln/>
        </p:spPr>
        <p:txBody>
          <a:bodyPr wrap="square" lIns="0" tIns="0" rIns="0" bIns="0" rtlCol="0" anchor="t"/>
          <a:lstStyle/>
          <a:p>
            <a:pPr indent="0" marL="0">
              <a:buNone/>
            </a:pPr>
            <a:r>
              <a:rPr lang="en-US" sz="1200" dirty="0">
                <a:solidFill>
                  <a:schemeClr val="tx1"/>
                </a:solidFill>
              </a:rPr>
              <a:t>BM25, French words. Good at names: “CIR”, “Bpifrance”</a:t>
            </a:r>
            <a:endParaRPr lang="en-US" sz="1200" dirty="0"/>
          </a:p>
        </p:txBody>
      </p:sp>
      <p:sp>
        <p:nvSpPr>
          <p:cNvPr id="15" name="Node step bm25 bg"/>
          <p:cNvSpPr/>
          <p:nvPr/>
        </p:nvSpPr>
        <p:spPr>
          <a:xfrm>
            <a:off x="3822192" y="1572768"/>
            <a:ext cx="329184" cy="329184"/>
          </a:xfrm>
          <a:prstGeom prst="ellipse">
            <a:avLst/>
          </a:prstGeom>
          <a:solidFill>
            <a:schemeClr val="accent1"/>
          </a:solidFill>
          <a:ln w="12700">
            <a:solidFill>
              <a:schemeClr val="accent1"/>
            </a:solidFill>
            <a:prstDash val="solid"/>
          </a:ln>
        </p:spPr>
      </p:sp>
      <p:sp>
        <p:nvSpPr>
          <p:cNvPr id="16" name="Node step bm25 num"/>
          <p:cNvSpPr txBox="1"/>
          <p:nvPr/>
        </p:nvSpPr>
        <p:spPr>
          <a:xfrm>
            <a:off x="3822192" y="1572768"/>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7" name="Node dense"/>
          <p:cNvSpPr/>
          <p:nvPr/>
        </p:nvSpPr>
        <p:spPr>
          <a:xfrm>
            <a:off x="2194560" y="3520440"/>
            <a:ext cx="2011680" cy="1234440"/>
          </a:xfrm>
          <a:prstGeom prst="roundRect">
            <a:avLst>
              <a:gd name="adj" fmla="val 8889"/>
            </a:avLst>
          </a:prstGeom>
          <a:solidFill>
            <a:schemeClr val="bg2"/>
          </a:solidFill>
          <a:ln w="22225">
            <a:solidFill>
              <a:schemeClr val="accent1"/>
            </a:solidFill>
            <a:prstDash val="solid"/>
          </a:ln>
        </p:spPr>
      </p:sp>
      <p:sp>
        <p:nvSpPr>
          <p:cNvPr id="18" name="Node head dense"/>
          <p:cNvSpPr txBox="1"/>
          <p:nvPr/>
        </p:nvSpPr>
        <p:spPr>
          <a:xfrm>
            <a:off x="2331720" y="3630168"/>
            <a:ext cx="1737360" cy="329184"/>
          </a:xfrm>
          <a:prstGeom prst="rect">
            <a:avLst/>
          </a:prstGeom>
          <a:noFill/>
          <a:ln/>
        </p:spPr>
        <p:txBody>
          <a:bodyPr wrap="square" lIns="0" tIns="0" rIns="0" bIns="0" rtlCol="0" anchor="ctr"/>
          <a:lstStyle/>
          <a:p>
            <a:pPr indent="0" marL="0">
              <a:buNone/>
            </a:pPr>
            <a:r>
              <a:rPr lang="en-US" sz="1500" b="1" dirty="0">
                <a:solidFill>
                  <a:schemeClr val="tx2"/>
                </a:solidFill>
              </a:rPr>
              <a:t>Meaning search</a:t>
            </a:r>
            <a:endParaRPr lang="en-US" sz="1500" dirty="0"/>
          </a:p>
        </p:txBody>
      </p:sp>
      <p:sp>
        <p:nvSpPr>
          <p:cNvPr id="19" name="Node body dense"/>
          <p:cNvSpPr txBox="1"/>
          <p:nvPr/>
        </p:nvSpPr>
        <p:spPr>
          <a:xfrm>
            <a:off x="2331720" y="3977640"/>
            <a:ext cx="1737360" cy="685800"/>
          </a:xfrm>
          <a:prstGeom prst="rect">
            <a:avLst/>
          </a:prstGeom>
          <a:noFill/>
          <a:ln/>
        </p:spPr>
        <p:txBody>
          <a:bodyPr wrap="square" lIns="0" tIns="0" rIns="0" bIns="0" rtlCol="0" anchor="t"/>
          <a:lstStyle/>
          <a:p>
            <a:pPr indent="0" marL="0">
              <a:buNone/>
            </a:pPr>
            <a:r>
              <a:rPr lang="en-US" sz="1200" dirty="0">
                <a:solidFill>
                  <a:schemeClr val="tx1"/>
                </a:solidFill>
              </a:rPr>
              <a:t>bge-m3 fingerprints. Good at paraphrases</a:t>
            </a:r>
            <a:endParaRPr lang="en-US" sz="1200" dirty="0"/>
          </a:p>
        </p:txBody>
      </p:sp>
      <p:sp>
        <p:nvSpPr>
          <p:cNvPr id="20" name="Node step dense bg"/>
          <p:cNvSpPr/>
          <p:nvPr/>
        </p:nvSpPr>
        <p:spPr>
          <a:xfrm>
            <a:off x="3822192" y="3355848"/>
            <a:ext cx="329184" cy="329184"/>
          </a:xfrm>
          <a:prstGeom prst="ellipse">
            <a:avLst/>
          </a:prstGeom>
          <a:solidFill>
            <a:schemeClr val="accent1"/>
          </a:solidFill>
          <a:ln w="12700">
            <a:solidFill>
              <a:schemeClr val="accent1"/>
            </a:solidFill>
            <a:prstDash val="solid"/>
          </a:ln>
        </p:spPr>
      </p:sp>
      <p:sp>
        <p:nvSpPr>
          <p:cNvPr id="21" name="Node step dense num"/>
          <p:cNvSpPr txBox="1"/>
          <p:nvPr/>
        </p:nvSpPr>
        <p:spPr>
          <a:xfrm>
            <a:off x="3822192" y="3355848"/>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Node rrf"/>
          <p:cNvSpPr/>
          <p:nvPr/>
        </p:nvSpPr>
        <p:spPr>
          <a:xfrm>
            <a:off x="4526280" y="2606040"/>
            <a:ext cx="1508760" cy="1280160"/>
          </a:xfrm>
          <a:prstGeom prst="roundRect">
            <a:avLst>
              <a:gd name="adj" fmla="val 8571"/>
            </a:avLst>
          </a:prstGeom>
          <a:solidFill>
            <a:schemeClr val="bg2"/>
          </a:solidFill>
          <a:ln w="22225">
            <a:solidFill>
              <a:schemeClr val="accent1"/>
            </a:solidFill>
            <a:prstDash val="solid"/>
          </a:ln>
        </p:spPr>
      </p:sp>
      <p:sp>
        <p:nvSpPr>
          <p:cNvPr id="23" name="Node head rrf"/>
          <p:cNvSpPr txBox="1"/>
          <p:nvPr/>
        </p:nvSpPr>
        <p:spPr>
          <a:xfrm>
            <a:off x="4663440" y="2715768"/>
            <a:ext cx="1234440" cy="329184"/>
          </a:xfrm>
          <a:prstGeom prst="rect">
            <a:avLst/>
          </a:prstGeom>
          <a:noFill/>
          <a:ln/>
        </p:spPr>
        <p:txBody>
          <a:bodyPr wrap="square" lIns="0" tIns="0" rIns="0" bIns="0" rtlCol="0" anchor="ctr"/>
          <a:lstStyle/>
          <a:p>
            <a:pPr indent="0" marL="0">
              <a:buNone/>
            </a:pPr>
            <a:r>
              <a:rPr lang="en-US" sz="1500" b="1" dirty="0">
                <a:solidFill>
                  <a:schemeClr val="tx2"/>
                </a:solidFill>
              </a:rPr>
              <a:t>Merge (RRF)</a:t>
            </a:r>
            <a:endParaRPr lang="en-US" sz="1500" dirty="0"/>
          </a:p>
        </p:txBody>
      </p:sp>
      <p:sp>
        <p:nvSpPr>
          <p:cNvPr id="24" name="Node body rrf"/>
          <p:cNvSpPr txBox="1"/>
          <p:nvPr/>
        </p:nvSpPr>
        <p:spPr>
          <a:xfrm>
            <a:off x="4663440" y="3063240"/>
            <a:ext cx="1234440" cy="731520"/>
          </a:xfrm>
          <a:prstGeom prst="rect">
            <a:avLst/>
          </a:prstGeom>
          <a:noFill/>
          <a:ln/>
        </p:spPr>
        <p:txBody>
          <a:bodyPr wrap="square" lIns="0" tIns="0" rIns="0" bIns="0" rtlCol="0" anchor="t"/>
          <a:lstStyle/>
          <a:p>
            <a:pPr indent="0" marL="0">
              <a:buNone/>
            </a:pPr>
            <a:r>
              <a:rPr lang="en-US" sz="1200" dirty="0">
                <a:solidFill>
                  <a:schemeClr val="tx1"/>
                </a:solidFill>
              </a:rPr>
              <a:t>Rank-based fusion of both lists</a:t>
            </a:r>
            <a:endParaRPr lang="en-US" sz="1200" dirty="0"/>
          </a:p>
        </p:txBody>
      </p:sp>
      <p:sp>
        <p:nvSpPr>
          <p:cNvPr id="25" name="Node step rrf bg"/>
          <p:cNvSpPr/>
          <p:nvPr/>
        </p:nvSpPr>
        <p:spPr>
          <a:xfrm>
            <a:off x="5650992" y="2441448"/>
            <a:ext cx="329184" cy="329184"/>
          </a:xfrm>
          <a:prstGeom prst="ellipse">
            <a:avLst/>
          </a:prstGeom>
          <a:solidFill>
            <a:schemeClr val="accent1"/>
          </a:solidFill>
          <a:ln w="12700">
            <a:solidFill>
              <a:schemeClr val="accent1"/>
            </a:solidFill>
            <a:prstDash val="solid"/>
          </a:ln>
        </p:spPr>
      </p:sp>
      <p:sp>
        <p:nvSpPr>
          <p:cNvPr id="26" name="Node step rrf num"/>
          <p:cNvSpPr txBox="1"/>
          <p:nvPr/>
        </p:nvSpPr>
        <p:spPr>
          <a:xfrm>
            <a:off x="5650992" y="2441448"/>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Node rerank"/>
          <p:cNvSpPr/>
          <p:nvPr/>
        </p:nvSpPr>
        <p:spPr>
          <a:xfrm>
            <a:off x="6355080" y="2606040"/>
            <a:ext cx="1600200" cy="1280160"/>
          </a:xfrm>
          <a:prstGeom prst="roundRect">
            <a:avLst>
              <a:gd name="adj" fmla="val 8571"/>
            </a:avLst>
          </a:prstGeom>
          <a:solidFill>
            <a:schemeClr val="bg2"/>
          </a:solidFill>
          <a:ln w="22225">
            <a:solidFill>
              <a:schemeClr val="accent2"/>
            </a:solidFill>
            <a:prstDash val="solid"/>
          </a:ln>
        </p:spPr>
      </p:sp>
      <p:sp>
        <p:nvSpPr>
          <p:cNvPr id="28" name="Node head rerank"/>
          <p:cNvSpPr txBox="1"/>
          <p:nvPr/>
        </p:nvSpPr>
        <p:spPr>
          <a:xfrm>
            <a:off x="6492240" y="2715768"/>
            <a:ext cx="1325880" cy="329184"/>
          </a:xfrm>
          <a:prstGeom prst="rect">
            <a:avLst/>
          </a:prstGeom>
          <a:noFill/>
          <a:ln/>
        </p:spPr>
        <p:txBody>
          <a:bodyPr wrap="square" lIns="0" tIns="0" rIns="0" bIns="0" rtlCol="0" anchor="ctr"/>
          <a:lstStyle/>
          <a:p>
            <a:pPr indent="0" marL="0">
              <a:buNone/>
            </a:pPr>
            <a:r>
              <a:rPr lang="en-US" sz="1500" b="1" dirty="0">
                <a:solidFill>
                  <a:schemeClr val="tx2"/>
                </a:solidFill>
              </a:rPr>
              <a:t>Reranker</a:t>
            </a:r>
            <a:endParaRPr lang="en-US" sz="1500" dirty="0"/>
          </a:p>
        </p:txBody>
      </p:sp>
      <p:sp>
        <p:nvSpPr>
          <p:cNvPr id="29" name="Node body rerank"/>
          <p:cNvSpPr txBox="1"/>
          <p:nvPr/>
        </p:nvSpPr>
        <p:spPr>
          <a:xfrm>
            <a:off x="6492240" y="3063240"/>
            <a:ext cx="1325880" cy="731520"/>
          </a:xfrm>
          <a:prstGeom prst="rect">
            <a:avLst/>
          </a:prstGeom>
          <a:noFill/>
          <a:ln/>
        </p:spPr>
        <p:txBody>
          <a:bodyPr wrap="square" lIns="0" tIns="0" rIns="0" bIns="0" rtlCol="0" anchor="t"/>
          <a:lstStyle/>
          <a:p>
            <a:pPr indent="0" marL="0">
              <a:buNone/>
            </a:pPr>
            <a:r>
              <a:rPr lang="en-US" sz="1200" dirty="0">
                <a:solidFill>
                  <a:schemeClr val="tx1"/>
                </a:solidFill>
              </a:rPr>
              <a:t>Re-reads question + piece; keeps top 5</a:t>
            </a:r>
            <a:endParaRPr lang="en-US" sz="1200" dirty="0"/>
          </a:p>
        </p:txBody>
      </p:sp>
      <p:sp>
        <p:nvSpPr>
          <p:cNvPr id="30" name="Node step rerank bg"/>
          <p:cNvSpPr/>
          <p:nvPr/>
        </p:nvSpPr>
        <p:spPr>
          <a:xfrm>
            <a:off x="7571232" y="2441448"/>
            <a:ext cx="329184" cy="329184"/>
          </a:xfrm>
          <a:prstGeom prst="ellipse">
            <a:avLst/>
          </a:prstGeom>
          <a:solidFill>
            <a:schemeClr val="accent2"/>
          </a:solidFill>
          <a:ln w="12700">
            <a:solidFill>
              <a:schemeClr val="accent2"/>
            </a:solidFill>
            <a:prstDash val="solid"/>
          </a:ln>
        </p:spPr>
      </p:sp>
      <p:sp>
        <p:nvSpPr>
          <p:cNvPr id="31" name="Node step rerank num"/>
          <p:cNvSpPr txBox="1"/>
          <p:nvPr/>
        </p:nvSpPr>
        <p:spPr>
          <a:xfrm>
            <a:off x="7571232" y="2441448"/>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2" name="Node llm"/>
          <p:cNvSpPr/>
          <p:nvPr/>
        </p:nvSpPr>
        <p:spPr>
          <a:xfrm>
            <a:off x="8275320" y="2606040"/>
            <a:ext cx="1600200" cy="1280160"/>
          </a:xfrm>
          <a:prstGeom prst="roundRect">
            <a:avLst>
              <a:gd name="adj" fmla="val 8571"/>
            </a:avLst>
          </a:prstGeom>
          <a:solidFill>
            <a:schemeClr val="bg1"/>
          </a:solidFill>
          <a:ln w="22225">
            <a:solidFill>
              <a:schemeClr val="accent4"/>
            </a:solidFill>
            <a:prstDash val="solid"/>
          </a:ln>
        </p:spPr>
      </p:sp>
      <p:sp>
        <p:nvSpPr>
          <p:cNvPr id="33" name="Node head llm"/>
          <p:cNvSpPr txBox="1"/>
          <p:nvPr/>
        </p:nvSpPr>
        <p:spPr>
          <a:xfrm>
            <a:off x="8412480" y="2715768"/>
            <a:ext cx="1325880" cy="329184"/>
          </a:xfrm>
          <a:prstGeom prst="rect">
            <a:avLst/>
          </a:prstGeom>
          <a:noFill/>
          <a:ln/>
        </p:spPr>
        <p:txBody>
          <a:bodyPr wrap="square" lIns="0" tIns="0" rIns="0" bIns="0" rtlCol="0" anchor="ctr"/>
          <a:lstStyle/>
          <a:p>
            <a:pPr indent="0" marL="0">
              <a:buNone/>
            </a:pPr>
            <a:r>
              <a:rPr lang="en-US" sz="1500" b="1" dirty="0">
                <a:solidFill>
                  <a:schemeClr val="tx2"/>
                </a:solidFill>
              </a:rPr>
              <a:t>Answer (LLM)</a:t>
            </a:r>
            <a:endParaRPr lang="en-US" sz="1500" dirty="0"/>
          </a:p>
        </p:txBody>
      </p:sp>
      <p:sp>
        <p:nvSpPr>
          <p:cNvPr id="34" name="Node body llm"/>
          <p:cNvSpPr txBox="1"/>
          <p:nvPr/>
        </p:nvSpPr>
        <p:spPr>
          <a:xfrm>
            <a:off x="8412480" y="3063240"/>
            <a:ext cx="1325880" cy="731520"/>
          </a:xfrm>
          <a:prstGeom prst="rect">
            <a:avLst/>
          </a:prstGeom>
          <a:noFill/>
          <a:ln/>
        </p:spPr>
        <p:txBody>
          <a:bodyPr wrap="square" lIns="0" tIns="0" rIns="0" bIns="0" rtlCol="0" anchor="t"/>
          <a:lstStyle/>
          <a:p>
            <a:pPr indent="0" marL="0">
              <a:buNone/>
            </a:pPr>
            <a:r>
              <a:rPr lang="en-US" sz="1200" dirty="0">
                <a:solidFill>
                  <a:schemeClr val="tx1"/>
                </a:solidFill>
              </a:rPr>
              <a:t>Answer with aid IDs, or “I don't know”</a:t>
            </a:r>
            <a:endParaRPr lang="en-US" sz="1200" dirty="0"/>
          </a:p>
        </p:txBody>
      </p:sp>
      <p:sp>
        <p:nvSpPr>
          <p:cNvPr id="35" name="Node step llm bg"/>
          <p:cNvSpPr/>
          <p:nvPr/>
        </p:nvSpPr>
        <p:spPr>
          <a:xfrm>
            <a:off x="9491472" y="2441448"/>
            <a:ext cx="329184" cy="329184"/>
          </a:xfrm>
          <a:prstGeom prst="ellipse">
            <a:avLst/>
          </a:prstGeom>
          <a:solidFill>
            <a:schemeClr val="accent4"/>
          </a:solidFill>
          <a:ln w="12700">
            <a:solidFill>
              <a:schemeClr val="accent4"/>
            </a:solidFill>
            <a:prstDash val="solid"/>
          </a:ln>
        </p:spPr>
      </p:sp>
      <p:sp>
        <p:nvSpPr>
          <p:cNvPr id="36" name="Node step llm num"/>
          <p:cNvSpPr txBox="1"/>
          <p:nvPr/>
        </p:nvSpPr>
        <p:spPr>
          <a:xfrm>
            <a:off x="9491472" y="2441448"/>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7" name="Node agent"/>
          <p:cNvSpPr/>
          <p:nvPr/>
        </p:nvSpPr>
        <p:spPr>
          <a:xfrm>
            <a:off x="10195560" y="2606040"/>
            <a:ext cx="1463040" cy="1280160"/>
          </a:xfrm>
          <a:prstGeom prst="roundRect">
            <a:avLst>
              <a:gd name="adj" fmla="val 8571"/>
            </a:avLst>
          </a:prstGeom>
          <a:solidFill>
            <a:schemeClr val="bg1"/>
          </a:solidFill>
          <a:ln w="22225">
            <a:solidFill>
              <a:schemeClr val="accent4"/>
            </a:solidFill>
            <a:prstDash val="solid"/>
          </a:ln>
        </p:spPr>
      </p:sp>
      <p:sp>
        <p:nvSpPr>
          <p:cNvPr id="38" name="Node head agent"/>
          <p:cNvSpPr txBox="1"/>
          <p:nvPr/>
        </p:nvSpPr>
        <p:spPr>
          <a:xfrm>
            <a:off x="10332720" y="2715768"/>
            <a:ext cx="1188720" cy="329184"/>
          </a:xfrm>
          <a:prstGeom prst="rect">
            <a:avLst/>
          </a:prstGeom>
          <a:noFill/>
          <a:ln/>
        </p:spPr>
        <p:txBody>
          <a:bodyPr wrap="square" lIns="0" tIns="0" rIns="0" bIns="0" rtlCol="0" anchor="ctr"/>
          <a:lstStyle/>
          <a:p>
            <a:pPr indent="0" marL="0">
              <a:buNone/>
            </a:pPr>
            <a:r>
              <a:rPr lang="en-US" sz="1500" b="1" dirty="0">
                <a:solidFill>
                  <a:schemeClr val="tx2"/>
                </a:solidFill>
              </a:rPr>
              <a:t>Agent tools</a:t>
            </a:r>
            <a:endParaRPr lang="en-US" sz="1500" dirty="0"/>
          </a:p>
        </p:txBody>
      </p:sp>
      <p:sp>
        <p:nvSpPr>
          <p:cNvPr id="39" name="Node body agent"/>
          <p:cNvSpPr txBox="1"/>
          <p:nvPr/>
        </p:nvSpPr>
        <p:spPr>
          <a:xfrm>
            <a:off x="10332720" y="3063240"/>
            <a:ext cx="1188720" cy="731520"/>
          </a:xfrm>
          <a:prstGeom prst="rect">
            <a:avLst/>
          </a:prstGeom>
          <a:noFill/>
          <a:ln/>
        </p:spPr>
        <p:txBody>
          <a:bodyPr wrap="square" lIns="0" tIns="0" rIns="0" bIns="0" rtlCol="0" anchor="t"/>
          <a:lstStyle/>
          <a:p>
            <a:pPr indent="0" marL="0">
              <a:buNone/>
            </a:pPr>
            <a:r>
              <a:rPr lang="en-US" sz="1200" dirty="0">
                <a:solidFill>
                  <a:schemeClr val="tx1"/>
                </a:solidFill>
              </a:rPr>
              <a:t>Filter region, date, type; fetch an aid</a:t>
            </a:r>
            <a:endParaRPr lang="en-US" sz="1200" dirty="0"/>
          </a:p>
        </p:txBody>
      </p:sp>
      <p:sp>
        <p:nvSpPr>
          <p:cNvPr id="40" name="Node step agent bg"/>
          <p:cNvSpPr/>
          <p:nvPr/>
        </p:nvSpPr>
        <p:spPr>
          <a:xfrm>
            <a:off x="11274552" y="2441448"/>
            <a:ext cx="329184" cy="329184"/>
          </a:xfrm>
          <a:prstGeom prst="ellipse">
            <a:avLst/>
          </a:prstGeom>
          <a:solidFill>
            <a:schemeClr val="accent4"/>
          </a:solidFill>
          <a:ln w="12700">
            <a:solidFill>
              <a:schemeClr val="accent4"/>
            </a:solidFill>
            <a:prstDash val="solid"/>
          </a:ln>
        </p:spPr>
      </p:sp>
      <p:sp>
        <p:nvSpPr>
          <p:cNvPr id="41" name="Node step agent num"/>
          <p:cNvSpPr txBox="1"/>
          <p:nvPr/>
        </p:nvSpPr>
        <p:spPr>
          <a:xfrm>
            <a:off x="11274552" y="2441448"/>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42" name="Arrow q-bm25"/>
          <p:cNvSpPr/>
          <p:nvPr/>
        </p:nvSpPr>
        <p:spPr>
          <a:xfrm flipV="1">
            <a:off x="1965960" y="2377440"/>
            <a:ext cx="228600" cy="868680"/>
          </a:xfrm>
          <a:prstGeom prst="line">
            <a:avLst/>
          </a:prstGeom>
          <a:noFill/>
          <a:ln w="28575">
            <a:solidFill>
              <a:schemeClr val="tx2"/>
            </a:solidFill>
            <a:prstDash val="solid"/>
            <a:tailEnd type="triangle"/>
          </a:ln>
        </p:spPr>
      </p:sp>
      <p:sp>
        <p:nvSpPr>
          <p:cNvPr id="43" name="Arrow q-dense"/>
          <p:cNvSpPr/>
          <p:nvPr/>
        </p:nvSpPr>
        <p:spPr>
          <a:xfrm>
            <a:off x="1965960" y="3246120"/>
            <a:ext cx="228600" cy="868680"/>
          </a:xfrm>
          <a:prstGeom prst="line">
            <a:avLst/>
          </a:prstGeom>
          <a:noFill/>
          <a:ln w="28575">
            <a:solidFill>
              <a:schemeClr val="tx2"/>
            </a:solidFill>
            <a:prstDash val="solid"/>
            <a:tailEnd type="triangle"/>
          </a:ln>
        </p:spPr>
      </p:sp>
      <p:sp>
        <p:nvSpPr>
          <p:cNvPr id="44" name="Arrow bm25-rrf"/>
          <p:cNvSpPr/>
          <p:nvPr/>
        </p:nvSpPr>
        <p:spPr>
          <a:xfrm>
            <a:off x="4206240" y="2359152"/>
            <a:ext cx="320040" cy="886968"/>
          </a:xfrm>
          <a:prstGeom prst="line">
            <a:avLst/>
          </a:prstGeom>
          <a:noFill/>
          <a:ln w="28575">
            <a:solidFill>
              <a:schemeClr val="tx2"/>
            </a:solidFill>
            <a:prstDash val="solid"/>
            <a:tailEnd type="triangle"/>
          </a:ln>
        </p:spPr>
      </p:sp>
      <p:sp>
        <p:nvSpPr>
          <p:cNvPr id="45" name="Arrow dense-rrf"/>
          <p:cNvSpPr/>
          <p:nvPr/>
        </p:nvSpPr>
        <p:spPr>
          <a:xfrm flipV="1">
            <a:off x="4206240" y="3246120"/>
            <a:ext cx="320040" cy="886968"/>
          </a:xfrm>
          <a:prstGeom prst="line">
            <a:avLst/>
          </a:prstGeom>
          <a:noFill/>
          <a:ln w="28575">
            <a:solidFill>
              <a:schemeClr val="tx2"/>
            </a:solidFill>
            <a:prstDash val="solid"/>
            <a:tailEnd type="triangle"/>
          </a:ln>
        </p:spPr>
      </p:sp>
      <p:sp>
        <p:nvSpPr>
          <p:cNvPr id="46" name="Arrow rrf-rerank"/>
          <p:cNvSpPr/>
          <p:nvPr/>
        </p:nvSpPr>
        <p:spPr>
          <a:xfrm>
            <a:off x="6035040" y="3246120"/>
            <a:ext cx="320040" cy="0"/>
          </a:xfrm>
          <a:prstGeom prst="line">
            <a:avLst/>
          </a:prstGeom>
          <a:noFill/>
          <a:ln w="28575">
            <a:solidFill>
              <a:schemeClr val="tx2"/>
            </a:solidFill>
            <a:prstDash val="solid"/>
            <a:tailEnd type="triangle"/>
          </a:ln>
        </p:spPr>
      </p:sp>
      <p:sp>
        <p:nvSpPr>
          <p:cNvPr id="47" name="Arrow rerank-llm"/>
          <p:cNvSpPr/>
          <p:nvPr/>
        </p:nvSpPr>
        <p:spPr>
          <a:xfrm>
            <a:off x="7955280" y="3246120"/>
            <a:ext cx="320040" cy="0"/>
          </a:xfrm>
          <a:prstGeom prst="line">
            <a:avLst/>
          </a:prstGeom>
          <a:noFill/>
          <a:ln w="28575">
            <a:solidFill>
              <a:schemeClr val="tx2"/>
            </a:solidFill>
            <a:prstDash val="solid"/>
            <a:tailEnd type="triangle"/>
          </a:ln>
        </p:spPr>
      </p:sp>
      <p:sp>
        <p:nvSpPr>
          <p:cNvPr id="48" name="Arrow llm-agent"/>
          <p:cNvSpPr/>
          <p:nvPr/>
        </p:nvSpPr>
        <p:spPr>
          <a:xfrm>
            <a:off x="9875520" y="3246120"/>
            <a:ext cx="320040" cy="0"/>
          </a:xfrm>
          <a:prstGeom prst="line">
            <a:avLst/>
          </a:prstGeom>
          <a:noFill/>
          <a:ln w="28575">
            <a:solidFill>
              <a:schemeClr val="tx2"/>
            </a:solidFill>
            <a:prstDash val="solid"/>
            <a:tailEnd type="triangle"/>
          </a:ln>
        </p:spPr>
      </p:sp>
      <p:sp>
        <p:nvSpPr>
          <p:cNvPr id="49" name="Base data"/>
          <p:cNvSpPr/>
          <p:nvPr/>
        </p:nvSpPr>
        <p:spPr>
          <a:xfrm>
            <a:off x="548640" y="5074920"/>
            <a:ext cx="5394960" cy="1097280"/>
          </a:xfrm>
          <a:prstGeom prst="roundRect">
            <a:avLst>
              <a:gd name="adj" fmla="val 10000"/>
            </a:avLst>
          </a:prstGeom>
          <a:solidFill>
            <a:schemeClr val="bg2"/>
          </a:solidFill>
          <a:ln w="22225">
            <a:solidFill>
              <a:schemeClr val="accent1"/>
            </a:solidFill>
            <a:prstDash val="solid"/>
          </a:ln>
        </p:spPr>
      </p:sp>
      <p:sp>
        <p:nvSpPr>
          <p:cNvPr id="50" name="Base data text"/>
          <p:cNvSpPr txBox="1"/>
          <p:nvPr/>
        </p:nvSpPr>
        <p:spPr>
          <a:xfrm>
            <a:off x="731520" y="5120640"/>
            <a:ext cx="5029200" cy="1005840"/>
          </a:xfrm>
          <a:prstGeom prst="rect">
            <a:avLst/>
          </a:prstGeom>
          <a:noFill/>
          <a:ln/>
        </p:spPr>
        <p:txBody>
          <a:bodyPr wrap="square" lIns="0" tIns="0" rIns="0" bIns="0" rtlCol="0" anchor="ctr"/>
          <a:lstStyle/>
          <a:p>
            <a:pPr indent="0" marL="0">
              <a:buNone/>
            </a:pPr>
            <a:r>
              <a:rPr lang="en-US" sz="1300" b="1" dirty="0">
                <a:solidFill>
                  <a:schemeClr val="tx2"/>
                </a:solidFill>
              </a:rPr>
              <a:t>Underneath: 865 pieces  </a:t>
            </a:r>
            <a:pPr indent="0" marL="0">
              <a:buNone/>
            </a:pPr>
            <a:r>
              <a:rPr lang="en-US" sz="1300" dirty="0">
                <a:solidFill>
                  <a:schemeClr val="tx1"/>
                </a:solidFill>
              </a:rPr>
              <a:t>504 aids cut into searchable pieces, each with an ID-card header (step 2)</a:t>
            </a:r>
            <a:endParaRPr lang="en-US" sz="1300" dirty="0"/>
          </a:p>
        </p:txBody>
      </p:sp>
      <p:sp>
        <p:nvSpPr>
          <p:cNvPr id="51" name="Exam machine"/>
          <p:cNvSpPr/>
          <p:nvPr/>
        </p:nvSpPr>
        <p:spPr>
          <a:xfrm>
            <a:off x="6263640" y="5074920"/>
            <a:ext cx="5394960" cy="1097280"/>
          </a:xfrm>
          <a:prstGeom prst="roundRect">
            <a:avLst>
              <a:gd name="adj" fmla="val 10000"/>
            </a:avLst>
          </a:prstGeom>
          <a:solidFill>
            <a:schemeClr val="bg2"/>
          </a:solidFill>
          <a:ln w="22225">
            <a:solidFill>
              <a:schemeClr val="accent1"/>
            </a:solidFill>
            <a:prstDash val="solid"/>
          </a:ln>
        </p:spPr>
      </p:sp>
      <p:sp>
        <p:nvSpPr>
          <p:cNvPr id="52" name="Exam text"/>
          <p:cNvSpPr txBox="1"/>
          <p:nvPr/>
        </p:nvSpPr>
        <p:spPr>
          <a:xfrm>
            <a:off x="6446520" y="5120640"/>
            <a:ext cx="5029200" cy="1005840"/>
          </a:xfrm>
          <a:prstGeom prst="rect">
            <a:avLst/>
          </a:prstGeom>
          <a:noFill/>
          <a:ln/>
        </p:spPr>
        <p:txBody>
          <a:bodyPr wrap="square" lIns="0" tIns="0" rIns="0" bIns="0" rtlCol="0" anchor="ctr"/>
          <a:lstStyle/>
          <a:p>
            <a:pPr indent="0" marL="0">
              <a:buNone/>
            </a:pPr>
            <a:r>
              <a:rPr lang="en-US" sz="1300" b="1" dirty="0">
                <a:solidFill>
                  <a:schemeClr val="tx2"/>
                </a:solidFill>
              </a:rPr>
              <a:t>Around it: the exam machine  </a:t>
            </a:r>
            <a:pPr indent="0" marL="0">
              <a:buNone/>
            </a:pPr>
            <a:r>
              <a:rPr lang="en-US" sz="1300" dirty="0">
                <a:solidFill>
                  <a:schemeClr val="tx1"/>
                </a:solidFill>
              </a:rPr>
              <a:t>run_eval.py asks all 40 questions and logs answer, sources, tokens, latency, tool calls (step 3)</a:t>
            </a:r>
            <a:endParaRPr lang="en-US" sz="1300" dirty="0"/>
          </a:p>
        </p:txBody>
      </p:sp>
      <p:sp>
        <p:nvSpPr>
          <p:cNvPr id="53" name="Pipeline footnote"/>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Numbers in circles = roadmap step. The brief requires: hybrid search (BM25 + dense) + reranking, citations, structured outputs, tracking, evaluation.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685800"/>
          </a:xfrm>
          <a:prstGeom prst="rect">
            <a:avLst/>
          </a:prstGeom>
          <a:noFill/>
          <a:ln/>
        </p:spPr>
        <p:txBody>
          <a:bodyPr wrap="square" lIns="0" tIns="0" rIns="0" bIns="0" rtlCol="0" anchor="ctr"/>
          <a:lstStyle/>
          <a:p>
            <a:pPr algn="l" indent="0" marL="0">
              <a:buNone/>
            </a:pPr>
            <a:r>
              <a:rPr lang="en-US" sz="3000" b="1" dirty="0">
                <a:solidFill>
                  <a:schemeClr val="tx2"/>
                </a:solidFill>
              </a:rPr>
              <a:t>Step 2 · Cutting the 504 aids into 865 searchable pieces</a:t>
            </a:r>
            <a:endParaRPr lang="en-US" sz="3000" dirty="0"/>
          </a:p>
        </p:txBody>
      </p:sp>
      <p:sp>
        <p:nvSpPr>
          <p:cNvPr id="3" name="Chunk subtitle"/>
          <p:cNvSpPr txBox="1"/>
          <p:nvPr/>
        </p:nvSpPr>
        <p:spPr>
          <a:xfrm>
            <a:off x="548640" y="1005840"/>
            <a:ext cx="11064240" cy="320040"/>
          </a:xfrm>
          <a:prstGeom prst="rect">
            <a:avLst/>
          </a:prstGeom>
          <a:noFill/>
          <a:ln/>
        </p:spPr>
        <p:txBody>
          <a:bodyPr wrap="square" lIns="0" tIns="0" rIns="0" bIns="0" rtlCol="0" anchor="ctr"/>
          <a:lstStyle/>
          <a:p>
            <a:pPr indent="0" marL="0">
              <a:buNone/>
            </a:pPr>
            <a:r>
              <a:rPr lang="en-US" sz="1400" dirty="0">
                <a:solidFill>
                  <a:schemeClr val="accent6"/>
                </a:solidFill>
              </a:rPr>
              <a:t>Each piece carries an ID-card header, so even a lone “amount” piece knows which aid it belongs to</a:t>
            </a:r>
            <a:endParaRPr lang="en-US" sz="1400" dirty="0"/>
          </a:p>
        </p:txBody>
      </p:sp>
      <p:sp>
        <p:nvSpPr>
          <p:cNvPr id="4" name="Aid card"/>
          <p:cNvSpPr/>
          <p:nvPr/>
        </p:nvSpPr>
        <p:spPr>
          <a:xfrm>
            <a:off x="548640" y="1600200"/>
            <a:ext cx="2103120" cy="2743200"/>
          </a:xfrm>
          <a:prstGeom prst="roundRect">
            <a:avLst>
              <a:gd name="adj" fmla="val 5217"/>
            </a:avLst>
          </a:prstGeom>
          <a:solidFill>
            <a:schemeClr val="bg2"/>
          </a:solidFill>
          <a:ln w="22225">
            <a:solidFill>
              <a:schemeClr val="accent6"/>
            </a:solidFill>
            <a:prstDash val="solid"/>
          </a:ln>
        </p:spPr>
      </p:sp>
      <p:sp>
        <p:nvSpPr>
          <p:cNvPr id="5" name="Aid card text"/>
          <p:cNvSpPr txBox="1"/>
          <p:nvPr/>
        </p:nvSpPr>
        <p:spPr>
          <a:xfrm>
            <a:off x="731520" y="1691640"/>
            <a:ext cx="1737360" cy="2560320"/>
          </a:xfrm>
          <a:prstGeom prst="rect">
            <a:avLst/>
          </a:prstGeom>
          <a:noFill/>
          <a:ln/>
        </p:spPr>
        <p:txBody>
          <a:bodyPr wrap="square" lIns="0" tIns="0" rIns="0" bIns="0" rtlCol="0" anchor="t"/>
          <a:lstStyle/>
          <a:p>
            <a:pPr indent="0" marL="0">
              <a:spcAft>
                <a:spcPts val="600"/>
              </a:spcAft>
              <a:buNone/>
            </a:pPr>
            <a:r>
              <a:rPr lang="en-US" sz="1500" b="1" dirty="0">
                <a:solidFill>
                  <a:schemeClr val="tx2"/>
                </a:solidFill>
              </a:rPr>
              <a:t>1 aid</a:t>
            </a:r>
            <a:endParaRPr lang="en-US" sz="1500" dirty="0"/>
          </a:p>
          <a:p>
            <a:pPr indent="0" marL="0">
              <a:spcAft>
                <a:spcPts val="600"/>
              </a:spcAft>
              <a:buNone/>
            </a:pPr>
            <a:r>
              <a:rPr lang="en-US" sz="1200" dirty="0">
                <a:solidFill>
                  <a:schemeClr val="tx1"/>
                </a:solidFill>
              </a:rPr>
              <a:t>Objet</a:t>
            </a:r>
            <a:endParaRPr lang="en-US" sz="1500" dirty="0"/>
          </a:p>
          <a:p>
            <a:pPr indent="0" marL="0">
              <a:spcAft>
                <a:spcPts val="600"/>
              </a:spcAft>
              <a:buNone/>
            </a:pPr>
            <a:r>
              <a:rPr lang="en-US" sz="1200" dirty="0">
                <a:solidFill>
                  <a:schemeClr val="tx1"/>
                </a:solidFill>
              </a:rPr>
              <a:t>Dépenses éligibles</a:t>
            </a:r>
            <a:endParaRPr lang="en-US" sz="1500" dirty="0"/>
          </a:p>
          <a:p>
            <a:pPr indent="0" marL="0">
              <a:spcAft>
                <a:spcPts val="600"/>
              </a:spcAft>
              <a:buNone/>
            </a:pPr>
            <a:r>
              <a:rPr lang="en-US" sz="1200" dirty="0">
                <a:solidFill>
                  <a:schemeClr val="tx1"/>
                </a:solidFill>
              </a:rPr>
              <a:t>Conditions</a:t>
            </a:r>
            <a:endParaRPr lang="en-US" sz="1500" dirty="0"/>
          </a:p>
          <a:p>
            <a:pPr indent="0" marL="0">
              <a:spcAft>
                <a:spcPts val="600"/>
              </a:spcAft>
              <a:buNone/>
            </a:pPr>
            <a:r>
              <a:rPr lang="en-US" sz="1200" dirty="0">
                <a:solidFill>
                  <a:schemeClr val="tx1"/>
                </a:solidFill>
              </a:rPr>
              <a:t>Montant</a:t>
            </a:r>
            <a:endParaRPr lang="en-US" sz="1500" dirty="0"/>
          </a:p>
          <a:p>
            <a:pPr indent="0" marL="0">
              <a:spcAft>
                <a:spcPts val="600"/>
              </a:spcAft>
              <a:buNone/>
            </a:pPr>
            <a:r>
              <a:rPr lang="en-US" sz="1200" dirty="0">
                <a:solidFill>
                  <a:schemeClr val="tx1"/>
                </a:solidFill>
              </a:rPr>
              <a:t>Bénéficiaires</a:t>
            </a:r>
            <a:endParaRPr lang="en-US" sz="1500" dirty="0"/>
          </a:p>
        </p:txBody>
      </p:sp>
      <p:sp>
        <p:nvSpPr>
          <p:cNvPr id="6" name="Arrow chunk"/>
          <p:cNvSpPr/>
          <p:nvPr/>
        </p:nvSpPr>
        <p:spPr>
          <a:xfrm>
            <a:off x="2743200" y="2971800"/>
            <a:ext cx="640080" cy="0"/>
          </a:xfrm>
          <a:prstGeom prst="line">
            <a:avLst/>
          </a:prstGeom>
          <a:noFill/>
          <a:ln w="28575">
            <a:solidFill>
              <a:schemeClr val="tx2"/>
            </a:solidFill>
            <a:prstDash val="solid"/>
            <a:tailEnd type="triangle"/>
          </a:ln>
        </p:spPr>
      </p:sp>
      <p:sp>
        <p:nvSpPr>
          <p:cNvPr id="7" name="Piece 0"/>
          <p:cNvSpPr/>
          <p:nvPr/>
        </p:nvSpPr>
        <p:spPr>
          <a:xfrm>
            <a:off x="3520440" y="1600200"/>
            <a:ext cx="2834640" cy="1280160"/>
          </a:xfrm>
          <a:prstGeom prst="roundRect">
            <a:avLst>
              <a:gd name="adj" fmla="val 8571"/>
            </a:avLst>
          </a:prstGeom>
          <a:solidFill>
            <a:schemeClr val="bg1"/>
          </a:solidFill>
          <a:ln w="22225">
            <a:solidFill>
              <a:schemeClr val="accent1"/>
            </a:solidFill>
            <a:prstDash val="solid"/>
          </a:ln>
        </p:spPr>
      </p:sp>
      <p:sp>
        <p:nvSpPr>
          <p:cNvPr id="8" name="Piece header 0"/>
          <p:cNvSpPr/>
          <p:nvPr/>
        </p:nvSpPr>
        <p:spPr>
          <a:xfrm>
            <a:off x="3611880" y="1709928"/>
            <a:ext cx="2651760" cy="457200"/>
          </a:xfrm>
          <a:prstGeom prst="rect">
            <a:avLst/>
          </a:prstGeom>
          <a:solidFill>
            <a:schemeClr val="tx2"/>
          </a:solidFill>
          <a:ln w="12700">
            <a:solidFill>
              <a:schemeClr val="tx2"/>
            </a:solidFill>
            <a:prstDash val="solid"/>
          </a:ln>
        </p:spPr>
      </p:sp>
      <p:sp>
        <p:nvSpPr>
          <p:cNvPr id="9" name="Piece header text 0"/>
          <p:cNvSpPr txBox="1"/>
          <p:nvPr/>
        </p:nvSpPr>
        <p:spPr>
          <a:xfrm>
            <a:off x="3703320" y="1709928"/>
            <a:ext cx="2514600" cy="457200"/>
          </a:xfrm>
          <a:prstGeom prst="rect">
            <a:avLst/>
          </a:prstGeom>
          <a:noFill/>
          <a:ln/>
        </p:spPr>
        <p:txBody>
          <a:bodyPr wrap="square" lIns="0" tIns="0" rIns="0" bIns="0" rtlCol="0" anchor="ctr"/>
          <a:lstStyle/>
          <a:p>
            <a:pPr indent="0" marL="0">
              <a:buNone/>
            </a:pPr>
            <a:r>
              <a:rPr lang="en-US" sz="1050" dirty="0">
                <a:solidFill>
                  <a:schemeClr val="bg1"/>
                </a:solidFill>
              </a:rPr>
              <a:t>Header: name · type · region · funder · deadline</a:t>
            </a:r>
            <a:endParaRPr lang="en-US" sz="1050" dirty="0"/>
          </a:p>
        </p:txBody>
      </p:sp>
      <p:sp>
        <p:nvSpPr>
          <p:cNvPr id="10" name="Piece body text 0"/>
          <p:cNvSpPr txBox="1"/>
          <p:nvPr/>
        </p:nvSpPr>
        <p:spPr>
          <a:xfrm>
            <a:off x="3703320" y="2240280"/>
            <a:ext cx="2514600" cy="548640"/>
          </a:xfrm>
          <a:prstGeom prst="rect">
            <a:avLst/>
          </a:prstGeom>
          <a:noFill/>
          <a:ln/>
        </p:spPr>
        <p:txBody>
          <a:bodyPr wrap="square" lIns="0" tIns="0" rIns="0" bIns="0" rtlCol="0" anchor="ctr"/>
          <a:lstStyle/>
          <a:p>
            <a:pPr indent="0" marL="0">
              <a:buNone/>
            </a:pPr>
            <a:r>
              <a:rPr lang="en-US" sz="1200" dirty="0">
                <a:solidFill>
                  <a:schemeClr val="tx1"/>
                </a:solidFill>
              </a:rPr>
              <a:t>Objet + dépenses éligibles…</a:t>
            </a:r>
            <a:endParaRPr lang="en-US" sz="1200" dirty="0"/>
          </a:p>
        </p:txBody>
      </p:sp>
      <p:sp>
        <p:nvSpPr>
          <p:cNvPr id="11" name="Piece 1"/>
          <p:cNvSpPr/>
          <p:nvPr/>
        </p:nvSpPr>
        <p:spPr>
          <a:xfrm>
            <a:off x="3520440" y="3063240"/>
            <a:ext cx="2834640" cy="1280160"/>
          </a:xfrm>
          <a:prstGeom prst="roundRect">
            <a:avLst>
              <a:gd name="adj" fmla="val 8571"/>
            </a:avLst>
          </a:prstGeom>
          <a:solidFill>
            <a:schemeClr val="bg1"/>
          </a:solidFill>
          <a:ln w="22225">
            <a:solidFill>
              <a:schemeClr val="accent1"/>
            </a:solidFill>
            <a:prstDash val="solid"/>
          </a:ln>
        </p:spPr>
      </p:sp>
      <p:sp>
        <p:nvSpPr>
          <p:cNvPr id="12" name="Piece header 1"/>
          <p:cNvSpPr/>
          <p:nvPr/>
        </p:nvSpPr>
        <p:spPr>
          <a:xfrm>
            <a:off x="3611880" y="3172968"/>
            <a:ext cx="2651760" cy="457200"/>
          </a:xfrm>
          <a:prstGeom prst="rect">
            <a:avLst/>
          </a:prstGeom>
          <a:solidFill>
            <a:schemeClr val="tx2"/>
          </a:solidFill>
          <a:ln w="12700">
            <a:solidFill>
              <a:schemeClr val="tx2"/>
            </a:solidFill>
            <a:prstDash val="solid"/>
          </a:ln>
        </p:spPr>
      </p:sp>
      <p:sp>
        <p:nvSpPr>
          <p:cNvPr id="13" name="Piece header text 1"/>
          <p:cNvSpPr txBox="1"/>
          <p:nvPr/>
        </p:nvSpPr>
        <p:spPr>
          <a:xfrm>
            <a:off x="3703320" y="3172968"/>
            <a:ext cx="2514600" cy="457200"/>
          </a:xfrm>
          <a:prstGeom prst="rect">
            <a:avLst/>
          </a:prstGeom>
          <a:noFill/>
          <a:ln/>
        </p:spPr>
        <p:txBody>
          <a:bodyPr wrap="square" lIns="0" tIns="0" rIns="0" bIns="0" rtlCol="0" anchor="ctr"/>
          <a:lstStyle/>
          <a:p>
            <a:pPr indent="0" marL="0">
              <a:buNone/>
            </a:pPr>
            <a:r>
              <a:rPr lang="en-US" sz="1050" dirty="0">
                <a:solidFill>
                  <a:schemeClr val="bg1"/>
                </a:solidFill>
              </a:rPr>
              <a:t>Header: name · type · region · funder · deadline</a:t>
            </a:r>
            <a:endParaRPr lang="en-US" sz="1050" dirty="0"/>
          </a:p>
        </p:txBody>
      </p:sp>
      <p:sp>
        <p:nvSpPr>
          <p:cNvPr id="14" name="Piece body text 1"/>
          <p:cNvSpPr txBox="1"/>
          <p:nvPr/>
        </p:nvSpPr>
        <p:spPr>
          <a:xfrm>
            <a:off x="3703320" y="3703320"/>
            <a:ext cx="2514600" cy="548640"/>
          </a:xfrm>
          <a:prstGeom prst="rect">
            <a:avLst/>
          </a:prstGeom>
          <a:noFill/>
          <a:ln/>
        </p:spPr>
        <p:txBody>
          <a:bodyPr wrap="square" lIns="0" tIns="0" rIns="0" bIns="0" rtlCol="0" anchor="ctr"/>
          <a:lstStyle/>
          <a:p>
            <a:pPr indent="0" marL="0">
              <a:buNone/>
            </a:pPr>
            <a:r>
              <a:rPr lang="en-US" sz="1200" dirty="0">
                <a:solidFill>
                  <a:schemeClr val="tx1"/>
                </a:solidFill>
              </a:rPr>
              <a:t>Montant + bénéficiaires… (15% overlap)</a:t>
            </a:r>
            <a:endParaRPr lang="en-US" sz="1200" dirty="0"/>
          </a:p>
        </p:txBody>
      </p:sp>
      <p:sp>
        <p:nvSpPr>
          <p:cNvPr id="15" name="Chunk stat 0"/>
          <p:cNvSpPr txBox="1"/>
          <p:nvPr/>
        </p:nvSpPr>
        <p:spPr>
          <a:xfrm>
            <a:off x="548640" y="4709160"/>
            <a:ext cx="1828800" cy="548640"/>
          </a:xfrm>
          <a:prstGeom prst="rect">
            <a:avLst/>
          </a:prstGeom>
          <a:noFill/>
          <a:ln/>
        </p:spPr>
        <p:txBody>
          <a:bodyPr wrap="square" lIns="0" tIns="0" rIns="0" bIns="0" rtlCol="0" anchor="b"/>
          <a:lstStyle/>
          <a:p>
            <a:pPr indent="0" marL="0">
              <a:buNone/>
            </a:pPr>
            <a:r>
              <a:rPr lang="en-US" sz="3000" b="1" dirty="0">
                <a:solidFill>
                  <a:schemeClr val="accent1"/>
                </a:solidFill>
              </a:rPr>
              <a:t>865</a:t>
            </a:r>
            <a:endParaRPr lang="en-US" sz="3000" dirty="0"/>
          </a:p>
        </p:txBody>
      </p:sp>
      <p:sp>
        <p:nvSpPr>
          <p:cNvPr id="16" name="Chunk stat label 0"/>
          <p:cNvSpPr txBox="1"/>
          <p:nvPr/>
        </p:nvSpPr>
        <p:spPr>
          <a:xfrm>
            <a:off x="548640" y="5285232"/>
            <a:ext cx="1828800" cy="457200"/>
          </a:xfrm>
          <a:prstGeom prst="rect">
            <a:avLst/>
          </a:prstGeom>
          <a:noFill/>
          <a:ln/>
        </p:spPr>
        <p:txBody>
          <a:bodyPr wrap="square" lIns="0" tIns="0" rIns="0" bIns="0" rtlCol="0" anchor="t"/>
          <a:lstStyle/>
          <a:p>
            <a:pPr indent="0" marL="0">
              <a:buNone/>
            </a:pPr>
            <a:r>
              <a:rPr lang="en-US" sz="1200" dirty="0">
                <a:solidFill>
                  <a:schemeClr val="accent6"/>
                </a:solidFill>
              </a:rPr>
              <a:t>pieces from 504 aids</a:t>
            </a:r>
            <a:endParaRPr lang="en-US" sz="1200" dirty="0"/>
          </a:p>
        </p:txBody>
      </p:sp>
      <p:sp>
        <p:nvSpPr>
          <p:cNvPr id="17" name="Chunk stat 1"/>
          <p:cNvSpPr txBox="1"/>
          <p:nvPr/>
        </p:nvSpPr>
        <p:spPr>
          <a:xfrm>
            <a:off x="2514600" y="4709160"/>
            <a:ext cx="1828800" cy="548640"/>
          </a:xfrm>
          <a:prstGeom prst="rect">
            <a:avLst/>
          </a:prstGeom>
          <a:noFill/>
          <a:ln/>
        </p:spPr>
        <p:txBody>
          <a:bodyPr wrap="square" lIns="0" tIns="0" rIns="0" bIns="0" rtlCol="0" anchor="b"/>
          <a:lstStyle/>
          <a:p>
            <a:pPr indent="0" marL="0">
              <a:buNone/>
            </a:pPr>
            <a:r>
              <a:rPr lang="en-US" sz="3000" b="1" dirty="0">
                <a:solidFill>
                  <a:schemeClr val="accent1"/>
                </a:solidFill>
              </a:rPr>
              <a:t>281</a:t>
            </a:r>
            <a:endParaRPr lang="en-US" sz="3000" dirty="0"/>
          </a:p>
        </p:txBody>
      </p:sp>
      <p:sp>
        <p:nvSpPr>
          <p:cNvPr id="18" name="Chunk stat label 1"/>
          <p:cNvSpPr txBox="1"/>
          <p:nvPr/>
        </p:nvSpPr>
        <p:spPr>
          <a:xfrm>
            <a:off x="2514600" y="5285232"/>
            <a:ext cx="1828800" cy="457200"/>
          </a:xfrm>
          <a:prstGeom prst="rect">
            <a:avLst/>
          </a:prstGeom>
          <a:noFill/>
          <a:ln/>
        </p:spPr>
        <p:txBody>
          <a:bodyPr wrap="square" lIns="0" tIns="0" rIns="0" bIns="0" rtlCol="0" anchor="t"/>
          <a:lstStyle/>
          <a:p>
            <a:pPr indent="0" marL="0">
              <a:buNone/>
            </a:pPr>
            <a:r>
              <a:rPr lang="en-US" sz="1200" dirty="0">
                <a:solidFill>
                  <a:schemeClr val="accent6"/>
                </a:solidFill>
              </a:rPr>
              <a:t>aids fit in one piece</a:t>
            </a:r>
            <a:endParaRPr lang="en-US" sz="1200" dirty="0"/>
          </a:p>
        </p:txBody>
      </p:sp>
      <p:sp>
        <p:nvSpPr>
          <p:cNvPr id="19" name="Chunk stat 2"/>
          <p:cNvSpPr txBox="1"/>
          <p:nvPr/>
        </p:nvSpPr>
        <p:spPr>
          <a:xfrm>
            <a:off x="4480560" y="4709160"/>
            <a:ext cx="1828800" cy="548640"/>
          </a:xfrm>
          <a:prstGeom prst="rect">
            <a:avLst/>
          </a:prstGeom>
          <a:noFill/>
          <a:ln/>
        </p:spPr>
        <p:txBody>
          <a:bodyPr wrap="square" lIns="0" tIns="0" rIns="0" bIns="0" rtlCol="0" anchor="b"/>
          <a:lstStyle/>
          <a:p>
            <a:pPr indent="0" marL="0">
              <a:buNone/>
            </a:pPr>
            <a:r>
              <a:rPr lang="en-US" sz="3000" b="1" dirty="0">
                <a:solidFill>
                  <a:schemeClr val="accent1"/>
                </a:solidFill>
              </a:rPr>
              <a:t>300–700</a:t>
            </a:r>
            <a:endParaRPr lang="en-US" sz="3000" dirty="0"/>
          </a:p>
        </p:txBody>
      </p:sp>
      <p:sp>
        <p:nvSpPr>
          <p:cNvPr id="20" name="Chunk stat label 2"/>
          <p:cNvSpPr txBox="1"/>
          <p:nvPr/>
        </p:nvSpPr>
        <p:spPr>
          <a:xfrm>
            <a:off x="4480560" y="5285232"/>
            <a:ext cx="1828800" cy="457200"/>
          </a:xfrm>
          <a:prstGeom prst="rect">
            <a:avLst/>
          </a:prstGeom>
          <a:noFill/>
          <a:ln/>
        </p:spPr>
        <p:txBody>
          <a:bodyPr wrap="square" lIns="0" tIns="0" rIns="0" bIns="0" rtlCol="0" anchor="t"/>
          <a:lstStyle/>
          <a:p>
            <a:pPr indent="0" marL="0">
              <a:buNone/>
            </a:pPr>
            <a:r>
              <a:rPr lang="en-US" sz="1200" dirty="0">
                <a:solidFill>
                  <a:schemeClr val="accent6"/>
                </a:solidFill>
              </a:rPr>
              <a:t>tokens per piece (target 300–800)</a:t>
            </a:r>
            <a:endParaRPr lang="en-US" sz="1200" dirty="0"/>
          </a:p>
        </p:txBody>
      </p:sp>
      <p:graphicFrame>
        <p:nvGraphicFramePr>
          <p:cNvPr id="21" name="Header effect chart" descr=""/>
          <p:cNvGraphicFramePr/>
          <p:nvPr/>
        </p:nvGraphicFramePr>
        <p:xfrm>
          <a:off x="6766560" y="1508760"/>
          <a:ext cx="4892040" cy="3566160"/>
        </p:xfrm>
        <a:graphic xmlns:a="http://schemas.openxmlformats.org/drawingml/2006/main">
          <a:graphicData uri="http://schemas.openxmlformats.org/drawingml/2006/chart">
            <c:chart xmlns:c="http://schemas.openxmlformats.org/drawingml/2006/chart" r:id="rId1"/>
          </a:graphicData>
        </a:graphic>
      </p:graphicFrame>
      <p:sp>
        <p:nvSpPr>
          <p:cNvPr id="22" name="Chunk decision"/>
          <p:cNvSpPr/>
          <p:nvPr/>
        </p:nvSpPr>
        <p:spPr>
          <a:xfrm>
            <a:off x="6766560" y="5212080"/>
            <a:ext cx="4892040" cy="1051560"/>
          </a:xfrm>
          <a:prstGeom prst="roundRect">
            <a:avLst>
              <a:gd name="adj" fmla="val 10435"/>
            </a:avLst>
          </a:prstGeom>
          <a:solidFill>
            <a:schemeClr val="bg2"/>
          </a:solidFill>
          <a:ln w="22225">
            <a:solidFill>
              <a:schemeClr val="accent1"/>
            </a:solidFill>
            <a:prstDash val="solid"/>
          </a:ln>
        </p:spPr>
      </p:sp>
      <p:sp>
        <p:nvSpPr>
          <p:cNvPr id="23" name="Chunk decision text"/>
          <p:cNvSpPr txBox="1"/>
          <p:nvPr/>
        </p:nvSpPr>
        <p:spPr>
          <a:xfrm>
            <a:off x="6949440" y="5257800"/>
            <a:ext cx="4572000" cy="960120"/>
          </a:xfrm>
          <a:prstGeom prst="rect">
            <a:avLst/>
          </a:prstGeom>
          <a:noFill/>
          <a:ln/>
        </p:spPr>
        <p:txBody>
          <a:bodyPr wrap="square" lIns="0" tIns="0" rIns="0" bIns="0" rtlCol="0" anchor="ctr"/>
          <a:lstStyle/>
          <a:p>
            <a:pPr indent="0" marL="0">
              <a:buNone/>
            </a:pPr>
            <a:r>
              <a:rPr lang="en-US" sz="1300" b="1" dirty="0">
                <a:solidFill>
                  <a:schemeClr val="accent1"/>
                </a:solidFill>
              </a:rPr>
              <a:t>Decision: </a:t>
            </a:r>
            <a:pPr indent="0" marL="0">
              <a:buNone/>
            </a:pPr>
            <a:r>
              <a:rPr lang="en-US" sz="1300" dirty="0">
                <a:solidFill>
                  <a:schemeClr val="tx1"/>
                </a:solidFill>
              </a:rPr>
              <a:t>keep the header on every piece (+23 points on dev). Placeholders %pme% and %mini% are replaced by their real meaning.</a:t>
            </a:r>
            <a:endParaRPr lang="en-US" sz="1300" dirty="0"/>
          </a:p>
        </p:txBody>
      </p:sp>
      <p:sp>
        <p:nvSpPr>
          <p:cNvPr id="24" name="Chunk footnote"/>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Source: eval/retrieval_bm25.json (BM25 variants). Long aids are split by section, never mid-word; a piece repeats ~15% of the previous one.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685800"/>
          </a:xfrm>
          <a:prstGeom prst="rect">
            <a:avLst/>
          </a:prstGeom>
          <a:noFill/>
          <a:ln/>
        </p:spPr>
        <p:txBody>
          <a:bodyPr wrap="square" lIns="0" tIns="0" rIns="0" bIns="0" rtlCol="0" anchor="ctr"/>
          <a:lstStyle/>
          <a:p>
            <a:pPr algn="l" indent="0" marL="0">
              <a:buNone/>
            </a:pPr>
            <a:r>
              <a:rPr lang="en-US" sz="3000" b="1" dirty="0">
                <a:solidFill>
                  <a:schemeClr val="tx2"/>
                </a:solidFill>
              </a:rPr>
              <a:t>Step 2 · Hand check: 40 samples read, cut confirmed</a:t>
            </a:r>
            <a:endParaRPr lang="en-US" sz="3000" dirty="0"/>
          </a:p>
        </p:txBody>
      </p:sp>
      <p:sp>
        <p:nvSpPr>
          <p:cNvPr id="3" name="Check subtitle"/>
          <p:cNvSpPr txBox="1"/>
          <p:nvPr/>
        </p:nvSpPr>
        <p:spPr>
          <a:xfrm>
            <a:off x="548640" y="1005840"/>
            <a:ext cx="11064240" cy="320040"/>
          </a:xfrm>
          <a:prstGeom prst="rect">
            <a:avLst/>
          </a:prstGeom>
          <a:noFill/>
          <a:ln/>
        </p:spPr>
        <p:txBody>
          <a:bodyPr wrap="square" lIns="0" tIns="0" rIns="0" bIns="0" rtlCol="0" anchor="ctr"/>
          <a:lstStyle/>
          <a:p>
            <a:pPr indent="0" marL="0">
              <a:buNone/>
            </a:pPr>
            <a:r>
              <a:rPr lang="en-US" sz="1400" dirty="0">
                <a:solidFill>
                  <a:schemeClr val="accent6"/>
                </a:solidFill>
              </a:rPr>
              <a:t>The brief's tip: open 20 random documents and 20 random pieces before trusting a cutting strategy</a:t>
            </a:r>
            <a:endParaRPr lang="en-US" sz="1400" dirty="0"/>
          </a:p>
        </p:txBody>
      </p:sp>
      <p:sp>
        <p:nvSpPr>
          <p:cNvPr id="4" name="Check col 0"/>
          <p:cNvSpPr/>
          <p:nvPr/>
        </p:nvSpPr>
        <p:spPr>
          <a:xfrm>
            <a:off x="548640" y="1600200"/>
            <a:ext cx="3520440" cy="3246120"/>
          </a:xfrm>
          <a:prstGeom prst="roundRect">
            <a:avLst>
              <a:gd name="adj" fmla="val 3380"/>
            </a:avLst>
          </a:prstGeom>
          <a:solidFill>
            <a:schemeClr val="bg2"/>
          </a:solidFill>
          <a:ln w="12700">
            <a:solidFill>
              <a:schemeClr val="bg2"/>
            </a:solidFill>
            <a:prstDash val="solid"/>
          </a:ln>
        </p:spPr>
      </p:sp>
      <p:sp>
        <p:nvSpPr>
          <p:cNvPr id="5" name="Check col 0 dot"/>
          <p:cNvSpPr/>
          <p:nvPr/>
        </p:nvSpPr>
        <p:spPr>
          <a:xfrm>
            <a:off x="777240" y="1847088"/>
            <a:ext cx="182880" cy="182880"/>
          </a:xfrm>
          <a:prstGeom prst="ellipse">
            <a:avLst/>
          </a:prstGeom>
          <a:solidFill>
            <a:schemeClr val="accent5"/>
          </a:solidFill>
          <a:ln w="12700">
            <a:solidFill>
              <a:schemeClr val="accent5"/>
            </a:solidFill>
            <a:prstDash val="solid"/>
          </a:ln>
        </p:spPr>
      </p:sp>
      <p:sp>
        <p:nvSpPr>
          <p:cNvPr id="6" name="Check col 0 title"/>
          <p:cNvSpPr txBox="1"/>
          <p:nvPr/>
        </p:nvSpPr>
        <p:spPr>
          <a:xfrm>
            <a:off x="1051560" y="1755648"/>
            <a:ext cx="2834640" cy="365760"/>
          </a:xfrm>
          <a:prstGeom prst="rect">
            <a:avLst/>
          </a:prstGeom>
          <a:noFill/>
          <a:ln/>
        </p:spPr>
        <p:txBody>
          <a:bodyPr wrap="square" lIns="0" tIns="0" rIns="0" bIns="0" rtlCol="0" anchor="ctr"/>
          <a:lstStyle/>
          <a:p>
            <a:pPr indent="0" marL="0">
              <a:buNone/>
            </a:pPr>
            <a:r>
              <a:rPr lang="en-US" sz="1800" b="1" dirty="0">
                <a:solidFill>
                  <a:schemeClr val="tx2"/>
                </a:solidFill>
              </a:rPr>
              <a:t>What we read</a:t>
            </a:r>
            <a:endParaRPr lang="en-US" sz="1800" dirty="0"/>
          </a:p>
        </p:txBody>
      </p:sp>
      <p:sp>
        <p:nvSpPr>
          <p:cNvPr id="7" name="Check body 0"/>
          <p:cNvSpPr txBox="1"/>
          <p:nvPr/>
        </p:nvSpPr>
        <p:spPr>
          <a:xfrm>
            <a:off x="777240" y="2286000"/>
            <a:ext cx="3108960" cy="32004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20 random aids</a:t>
            </a:r>
            <a:endParaRPr lang="en-US" sz="1400" dirty="0"/>
          </a:p>
          <a:p>
            <a:pPr marL="177800" indent="-177800">
              <a:spcAft>
                <a:spcPts val="600"/>
              </a:spcAft>
              <a:buSzPct val="100000"/>
              <a:buChar char="•"/>
            </a:pPr>
            <a:r>
              <a:rPr lang="en-US" sz="1400" dirty="0">
                <a:solidFill>
                  <a:schemeClr val="tx1"/>
                </a:solidFill>
              </a:rPr>
              <a:t>20 random pieces</a:t>
            </a:r>
            <a:endParaRPr lang="en-US" sz="1400" dirty="0"/>
          </a:p>
          <a:p>
            <a:pPr marL="177800" indent="-177800">
              <a:spcAft>
                <a:spcPts val="600"/>
              </a:spcAft>
              <a:buSzPct val="100000"/>
              <a:buChar char="•"/>
            </a:pPr>
            <a:r>
              <a:rPr lang="en-US" sz="1400" dirty="0">
                <a:solidFill>
                  <a:schemeClr val="tx1"/>
                </a:solidFill>
              </a:rPr>
              <a:t>Fixed random seed (42): anyone can redraw the same sample</a:t>
            </a:r>
            <a:endParaRPr lang="en-US" sz="1400" dirty="0"/>
          </a:p>
          <a:p>
            <a:pPr marL="177800" indent="-177800">
              <a:spcAft>
                <a:spcPts val="600"/>
              </a:spcAft>
              <a:buSzPct val="100000"/>
              <a:buChar char="•"/>
            </a:pPr>
            <a:r>
              <a:rPr lang="en-US" sz="1400" dirty="0">
                <a:solidFill>
                  <a:schemeClr val="tx1"/>
                </a:solidFill>
              </a:rPr>
              <a:t>Record: docs/reviews/chunking-review.md</a:t>
            </a:r>
            <a:endParaRPr lang="en-US" sz="1400" dirty="0"/>
          </a:p>
        </p:txBody>
      </p:sp>
      <p:sp>
        <p:nvSpPr>
          <p:cNvPr id="8" name="Check arrow 0"/>
          <p:cNvSpPr/>
          <p:nvPr/>
        </p:nvSpPr>
        <p:spPr>
          <a:xfrm>
            <a:off x="4096512" y="3200400"/>
            <a:ext cx="219456" cy="0"/>
          </a:xfrm>
          <a:prstGeom prst="line">
            <a:avLst/>
          </a:prstGeom>
          <a:noFill/>
          <a:ln w="28575">
            <a:solidFill>
              <a:schemeClr val="tx2"/>
            </a:solidFill>
            <a:prstDash val="solid"/>
            <a:tailEnd type="triangle"/>
          </a:ln>
        </p:spPr>
      </p:sp>
      <p:sp>
        <p:nvSpPr>
          <p:cNvPr id="9" name="Check col 1"/>
          <p:cNvSpPr/>
          <p:nvPr/>
        </p:nvSpPr>
        <p:spPr>
          <a:xfrm>
            <a:off x="4343400" y="1600200"/>
            <a:ext cx="3520440" cy="3246120"/>
          </a:xfrm>
          <a:prstGeom prst="roundRect">
            <a:avLst>
              <a:gd name="adj" fmla="val 3380"/>
            </a:avLst>
          </a:prstGeom>
          <a:solidFill>
            <a:schemeClr val="bg2"/>
          </a:solidFill>
          <a:ln w="12700">
            <a:solidFill>
              <a:schemeClr val="bg2"/>
            </a:solidFill>
            <a:prstDash val="solid"/>
          </a:ln>
        </p:spPr>
      </p:sp>
      <p:sp>
        <p:nvSpPr>
          <p:cNvPr id="10" name="Check col 1 dot"/>
          <p:cNvSpPr/>
          <p:nvPr/>
        </p:nvSpPr>
        <p:spPr>
          <a:xfrm>
            <a:off x="4572000" y="1847088"/>
            <a:ext cx="182880" cy="182880"/>
          </a:xfrm>
          <a:prstGeom prst="ellipse">
            <a:avLst/>
          </a:prstGeom>
          <a:solidFill>
            <a:schemeClr val="accent2"/>
          </a:solidFill>
          <a:ln w="12700">
            <a:solidFill>
              <a:schemeClr val="accent2"/>
            </a:solidFill>
            <a:prstDash val="solid"/>
          </a:ln>
        </p:spPr>
      </p:sp>
      <p:sp>
        <p:nvSpPr>
          <p:cNvPr id="11" name="Check col 1 title"/>
          <p:cNvSpPr txBox="1"/>
          <p:nvPr/>
        </p:nvSpPr>
        <p:spPr>
          <a:xfrm>
            <a:off x="4846320" y="1755648"/>
            <a:ext cx="2834640" cy="365760"/>
          </a:xfrm>
          <a:prstGeom prst="rect">
            <a:avLst/>
          </a:prstGeom>
          <a:noFill/>
          <a:ln/>
        </p:spPr>
        <p:txBody>
          <a:bodyPr wrap="square" lIns="0" tIns="0" rIns="0" bIns="0" rtlCol="0" anchor="ctr"/>
          <a:lstStyle/>
          <a:p>
            <a:pPr indent="0" marL="0">
              <a:buNone/>
            </a:pPr>
            <a:r>
              <a:rPr lang="en-US" sz="1800" b="1" dirty="0">
                <a:solidFill>
                  <a:schemeClr val="tx2"/>
                </a:solidFill>
              </a:rPr>
              <a:t>What we found</a:t>
            </a:r>
            <a:endParaRPr lang="en-US" sz="1800" dirty="0"/>
          </a:p>
        </p:txBody>
      </p:sp>
      <p:sp>
        <p:nvSpPr>
          <p:cNvPr id="12" name="Check body 1"/>
          <p:cNvSpPr txBox="1"/>
          <p:nvPr/>
        </p:nvSpPr>
        <p:spPr>
          <a:xfrm>
            <a:off x="4572000" y="2286000"/>
            <a:ext cx="3108960" cy="32004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Answers (rates, ceilings, who qualifies) sit in short sections kept whole</a:t>
            </a:r>
            <a:endParaRPr lang="en-US" sz="1400" dirty="0"/>
          </a:p>
          <a:p>
            <a:pPr marL="177800" indent="-177800">
              <a:spcAft>
                <a:spcPts val="600"/>
              </a:spcAft>
              <a:buSzPct val="100000"/>
              <a:buChar char="•"/>
            </a:pPr>
            <a:r>
              <a:rPr lang="en-US" sz="1400" dirty="0">
                <a:solidFill>
                  <a:schemeClr val="tx1"/>
                </a:solidFill>
              </a:rPr>
              <a:t>Split sections lost their line breaks</a:t>
            </a:r>
            <a:endParaRPr lang="en-US" sz="1400" dirty="0"/>
          </a:p>
          <a:p>
            <a:pPr marL="177800" indent="-177800">
              <a:spcAft>
                <a:spcPts val="600"/>
              </a:spcAft>
              <a:buSzPct val="100000"/>
              <a:buChar char="•"/>
            </a:pPr>
            <a:r>
              <a:rPr lang="en-US" sz="1400" dirty="0">
                <a:solidFill>
                  <a:schemeClr val="tx1"/>
                </a:solidFill>
              </a:rPr>
              <a:t>Many aids list exclusions: “heat pumps not eligible”</a:t>
            </a:r>
            <a:endParaRPr lang="en-US" sz="1400" dirty="0"/>
          </a:p>
          <a:p>
            <a:pPr marL="177800" indent="-177800">
              <a:spcAft>
                <a:spcPts val="600"/>
              </a:spcAft>
              <a:buSzPct val="100000"/>
              <a:buChar char="•"/>
            </a:pPr>
            <a:r>
              <a:rPr lang="en-US" sz="1400" dirty="0">
                <a:solidFill>
                  <a:schemeClr val="tx1"/>
                </a:solidFill>
              </a:rPr>
              <a:t>Some aids give no amount at all</a:t>
            </a:r>
            <a:endParaRPr lang="en-US" sz="1400" dirty="0"/>
          </a:p>
        </p:txBody>
      </p:sp>
      <p:sp>
        <p:nvSpPr>
          <p:cNvPr id="13" name="Check arrow 1"/>
          <p:cNvSpPr/>
          <p:nvPr/>
        </p:nvSpPr>
        <p:spPr>
          <a:xfrm>
            <a:off x="7891272" y="3200400"/>
            <a:ext cx="219456" cy="0"/>
          </a:xfrm>
          <a:prstGeom prst="line">
            <a:avLst/>
          </a:prstGeom>
          <a:noFill/>
          <a:ln w="28575">
            <a:solidFill>
              <a:schemeClr val="tx2"/>
            </a:solidFill>
            <a:prstDash val="solid"/>
            <a:tailEnd type="triangle"/>
          </a:ln>
        </p:spPr>
      </p:sp>
      <p:sp>
        <p:nvSpPr>
          <p:cNvPr id="14" name="Check col 2"/>
          <p:cNvSpPr/>
          <p:nvPr/>
        </p:nvSpPr>
        <p:spPr>
          <a:xfrm>
            <a:off x="8138160" y="1600200"/>
            <a:ext cx="3520440" cy="3246120"/>
          </a:xfrm>
          <a:prstGeom prst="roundRect">
            <a:avLst>
              <a:gd name="adj" fmla="val 3380"/>
            </a:avLst>
          </a:prstGeom>
          <a:solidFill>
            <a:schemeClr val="bg2"/>
          </a:solidFill>
          <a:ln w="12700">
            <a:solidFill>
              <a:schemeClr val="bg2"/>
            </a:solidFill>
            <a:prstDash val="solid"/>
          </a:ln>
        </p:spPr>
      </p:sp>
      <p:sp>
        <p:nvSpPr>
          <p:cNvPr id="15" name="Check col 2 dot"/>
          <p:cNvSpPr/>
          <p:nvPr/>
        </p:nvSpPr>
        <p:spPr>
          <a:xfrm>
            <a:off x="8366760" y="1847088"/>
            <a:ext cx="182880" cy="182880"/>
          </a:xfrm>
          <a:prstGeom prst="ellipse">
            <a:avLst/>
          </a:prstGeom>
          <a:solidFill>
            <a:schemeClr val="accent1"/>
          </a:solidFill>
          <a:ln w="12700">
            <a:solidFill>
              <a:schemeClr val="accent1"/>
            </a:solidFill>
            <a:prstDash val="solid"/>
          </a:ln>
        </p:spPr>
      </p:sp>
      <p:sp>
        <p:nvSpPr>
          <p:cNvPr id="16" name="Check col 2 title"/>
          <p:cNvSpPr txBox="1"/>
          <p:nvPr/>
        </p:nvSpPr>
        <p:spPr>
          <a:xfrm>
            <a:off x="8641080" y="1755648"/>
            <a:ext cx="2834640" cy="365760"/>
          </a:xfrm>
          <a:prstGeom prst="rect">
            <a:avLst/>
          </a:prstGeom>
          <a:noFill/>
          <a:ln/>
        </p:spPr>
        <p:txBody>
          <a:bodyPr wrap="square" lIns="0" tIns="0" rIns="0" bIns="0" rtlCol="0" anchor="ctr"/>
          <a:lstStyle/>
          <a:p>
            <a:pPr indent="0" marL="0">
              <a:buNone/>
            </a:pPr>
            <a:r>
              <a:rPr lang="en-US" sz="1800" b="1" dirty="0">
                <a:solidFill>
                  <a:schemeClr val="tx2"/>
                </a:solidFill>
              </a:rPr>
              <a:t>What we did</a:t>
            </a:r>
            <a:endParaRPr lang="en-US" sz="1800" dirty="0"/>
          </a:p>
        </p:txBody>
      </p:sp>
      <p:sp>
        <p:nvSpPr>
          <p:cNvPr id="17" name="Check body 2"/>
          <p:cNvSpPr txBox="1"/>
          <p:nvPr/>
        </p:nvSpPr>
        <p:spPr>
          <a:xfrm>
            <a:off x="8366760" y="2286000"/>
            <a:ext cx="3108960" cy="32004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Fixed: line breaks kept</a:t>
            </a:r>
            <a:endParaRPr lang="en-US" sz="1400" dirty="0"/>
          </a:p>
          <a:p>
            <a:pPr marL="177800" indent="-177800">
              <a:spcAft>
                <a:spcPts val="600"/>
              </a:spcAft>
              <a:buSzPct val="100000"/>
              <a:buChar char="•"/>
            </a:pPr>
            <a:r>
              <a:rPr lang="en-US" sz="1400" dirty="0">
                <a:solidFill>
                  <a:schemeClr val="tx1"/>
                </a:solidFill>
              </a:rPr>
              <a:t>Rule for the answering model: respect “not eligible”</a:t>
            </a:r>
            <a:endParaRPr lang="en-US" sz="1400" dirty="0"/>
          </a:p>
          <a:p>
            <a:pPr marL="177800" indent="-177800">
              <a:spcAft>
                <a:spcPts val="600"/>
              </a:spcAft>
              <a:buSzPct val="100000"/>
              <a:buChar char="•"/>
            </a:pPr>
            <a:r>
              <a:rPr lang="en-US" sz="1400" dirty="0">
                <a:solidFill>
                  <a:schemeClr val="tx1"/>
                </a:solidFill>
              </a:rPr>
              <a:t>Rule: say “amount not stated”, never invent one</a:t>
            </a:r>
            <a:endParaRPr lang="en-US" sz="1400" dirty="0"/>
          </a:p>
          <a:p>
            <a:pPr marL="177800" indent="-177800">
              <a:spcAft>
                <a:spcPts val="600"/>
              </a:spcAft>
              <a:buSzPct val="100000"/>
              <a:buChar char="•"/>
            </a:pPr>
            <a:r>
              <a:rPr lang="en-US" sz="1400" dirty="0">
                <a:solidFill>
                  <a:schemeClr val="tx1"/>
                </a:solidFill>
              </a:rPr>
              <a:t>Added 3 test questions for these traps (q033–q035)</a:t>
            </a:r>
            <a:endParaRPr lang="en-US" sz="1400" dirty="0"/>
          </a:p>
        </p:txBody>
      </p:sp>
      <p:sp>
        <p:nvSpPr>
          <p:cNvPr id="18" name="Verdict"/>
          <p:cNvSpPr/>
          <p:nvPr/>
        </p:nvSpPr>
        <p:spPr>
          <a:xfrm>
            <a:off x="548640" y="5074920"/>
            <a:ext cx="11109960" cy="685800"/>
          </a:xfrm>
          <a:prstGeom prst="roundRect">
            <a:avLst>
              <a:gd name="adj" fmla="val 16000"/>
            </a:avLst>
          </a:prstGeom>
          <a:solidFill>
            <a:schemeClr val="accent1"/>
          </a:solidFill>
          <a:ln w="12700">
            <a:solidFill>
              <a:schemeClr val="accent1"/>
            </a:solidFill>
            <a:prstDash val="solid"/>
          </a:ln>
        </p:spPr>
      </p:sp>
      <p:sp>
        <p:nvSpPr>
          <p:cNvPr id="19" name="Verdict text"/>
          <p:cNvSpPr txBox="1"/>
          <p:nvPr/>
        </p:nvSpPr>
        <p:spPr>
          <a:xfrm>
            <a:off x="731520" y="5074920"/>
            <a:ext cx="10789920" cy="685800"/>
          </a:xfrm>
          <a:prstGeom prst="rect">
            <a:avLst/>
          </a:prstGeom>
          <a:noFill/>
          <a:ln/>
        </p:spPr>
        <p:txBody>
          <a:bodyPr wrap="square" lIns="0" tIns="0" rIns="0" bIns="0" rtlCol="0" anchor="ctr"/>
          <a:lstStyle/>
          <a:p>
            <a:pPr indent="0" marL="0">
              <a:buNone/>
            </a:pPr>
            <a:r>
              <a:rPr lang="en-US" sz="1500" b="1" dirty="0">
                <a:solidFill>
                  <a:schemeClr val="bg1"/>
                </a:solidFill>
              </a:rPr>
              <a:t>Verdict: CONFIRMED · 1 aid = 1 piece, long aids split by section, header on every piece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685800"/>
          </a:xfrm>
          <a:prstGeom prst="rect">
            <a:avLst/>
          </a:prstGeom>
          <a:noFill/>
          <a:ln/>
        </p:spPr>
        <p:txBody>
          <a:bodyPr wrap="square" lIns="0" tIns="0" rIns="0" bIns="0" rtlCol="0" anchor="ctr"/>
          <a:lstStyle/>
          <a:p>
            <a:pPr algn="l" indent="0" marL="0">
              <a:buNone/>
            </a:pPr>
            <a:r>
              <a:rPr lang="en-US" sz="3000" b="1" dirty="0">
                <a:solidFill>
                  <a:schemeClr val="tx2"/>
                </a:solidFill>
              </a:rPr>
              <a:t>Step 2 · Keyword search: great on names, not synonyms</a:t>
            </a:r>
            <a:endParaRPr lang="en-US" sz="3000" dirty="0"/>
          </a:p>
        </p:txBody>
      </p:sp>
      <p:sp>
        <p:nvSpPr>
          <p:cNvPr id="3" name="BM25 subtitle"/>
          <p:cNvSpPr txBox="1"/>
          <p:nvPr/>
        </p:nvSpPr>
        <p:spPr>
          <a:xfrm>
            <a:off x="548640" y="1005840"/>
            <a:ext cx="11064240" cy="320040"/>
          </a:xfrm>
          <a:prstGeom prst="rect">
            <a:avLst/>
          </a:prstGeom>
          <a:noFill/>
          <a:ln/>
        </p:spPr>
        <p:txBody>
          <a:bodyPr wrap="square" lIns="0" tIns="0" rIns="0" bIns="0" rtlCol="0" anchor="ctr"/>
          <a:lstStyle/>
          <a:p>
            <a:pPr indent="0" marL="0">
              <a:buNone/>
            </a:pPr>
            <a:r>
              <a:rPr lang="en-US" sz="1400" dirty="0">
                <a:solidFill>
                  <a:schemeClr val="accent6"/>
                </a:solidFill>
              </a:rPr>
              <a:t>BM25 scores a piece by the question words it contains, rare words counting more</a:t>
            </a:r>
            <a:endParaRPr lang="en-US" sz="1400" dirty="0"/>
          </a:p>
        </p:txBody>
      </p:sp>
      <p:sp>
        <p:nvSpPr>
          <p:cNvPr id="4" name="KW step 0"/>
          <p:cNvSpPr/>
          <p:nvPr/>
        </p:nvSpPr>
        <p:spPr>
          <a:xfrm>
            <a:off x="548640" y="1600200"/>
            <a:ext cx="1783080" cy="1417320"/>
          </a:xfrm>
          <a:prstGeom prst="roundRect">
            <a:avLst>
              <a:gd name="adj" fmla="val 7742"/>
            </a:avLst>
          </a:prstGeom>
          <a:solidFill>
            <a:schemeClr val="bg2"/>
          </a:solidFill>
          <a:ln w="12700">
            <a:solidFill>
              <a:schemeClr val="bg2"/>
            </a:solidFill>
            <a:prstDash val="solid"/>
          </a:ln>
        </p:spPr>
      </p:sp>
      <p:sp>
        <p:nvSpPr>
          <p:cNvPr id="5" name="KW 0 bg"/>
          <p:cNvSpPr/>
          <p:nvPr/>
        </p:nvSpPr>
        <p:spPr>
          <a:xfrm>
            <a:off x="685800" y="1719072"/>
            <a:ext cx="329184" cy="329184"/>
          </a:xfrm>
          <a:prstGeom prst="ellipse">
            <a:avLst/>
          </a:prstGeom>
          <a:solidFill>
            <a:schemeClr val="accent5"/>
          </a:solidFill>
          <a:ln w="12700">
            <a:solidFill>
              <a:schemeClr val="accent5"/>
            </a:solidFill>
            <a:prstDash val="solid"/>
          </a:ln>
        </p:spPr>
      </p:sp>
      <p:sp>
        <p:nvSpPr>
          <p:cNvPr id="6" name="KW 0 num"/>
          <p:cNvSpPr txBox="1"/>
          <p:nvPr/>
        </p:nvSpPr>
        <p:spPr>
          <a:xfrm>
            <a:off x="685800" y="171907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KW head 0"/>
          <p:cNvSpPr txBox="1"/>
          <p:nvPr/>
        </p:nvSpPr>
        <p:spPr>
          <a:xfrm>
            <a:off x="685800" y="2103120"/>
            <a:ext cx="1554480" cy="457200"/>
          </a:xfrm>
          <a:prstGeom prst="rect">
            <a:avLst/>
          </a:prstGeom>
          <a:noFill/>
          <a:ln/>
        </p:spPr>
        <p:txBody>
          <a:bodyPr wrap="square" lIns="0" tIns="0" rIns="0" bIns="0" rtlCol="0" anchor="t"/>
          <a:lstStyle/>
          <a:p>
            <a:pPr indent="0" marL="0">
              <a:buNone/>
            </a:pPr>
            <a:r>
              <a:rPr lang="en-US" sz="1300" b="1" dirty="0">
                <a:solidFill>
                  <a:schemeClr val="tx2"/>
                </a:solidFill>
              </a:rPr>
              <a:t>Lowercase, drop accents</a:t>
            </a:r>
            <a:endParaRPr lang="en-US" sz="1300" dirty="0"/>
          </a:p>
        </p:txBody>
      </p:sp>
      <p:sp>
        <p:nvSpPr>
          <p:cNvPr id="8" name="KW ex 0"/>
          <p:cNvSpPr txBox="1"/>
          <p:nvPr/>
        </p:nvSpPr>
        <p:spPr>
          <a:xfrm>
            <a:off x="685800" y="2560320"/>
            <a:ext cx="1554480" cy="411480"/>
          </a:xfrm>
          <a:prstGeom prst="rect">
            <a:avLst/>
          </a:prstGeom>
          <a:noFill/>
          <a:ln/>
        </p:spPr>
        <p:txBody>
          <a:bodyPr wrap="square" lIns="0" tIns="0" rIns="0" bIns="0" rtlCol="0" anchor="t"/>
          <a:lstStyle/>
          <a:p>
            <a:pPr indent="0" marL="0">
              <a:buNone/>
            </a:pPr>
            <a:r>
              <a:rPr lang="en-US" sz="1150" i="1" dirty="0">
                <a:solidFill>
                  <a:schemeClr val="accent6"/>
                </a:solidFill>
              </a:rPr>
              <a:t>“Écologique” = “ecologique”</a:t>
            </a:r>
            <a:endParaRPr lang="en-US" sz="1150" dirty="0"/>
          </a:p>
        </p:txBody>
      </p:sp>
      <p:sp>
        <p:nvSpPr>
          <p:cNvPr id="9" name="KW step 1"/>
          <p:cNvSpPr/>
          <p:nvPr/>
        </p:nvSpPr>
        <p:spPr>
          <a:xfrm>
            <a:off x="2514600" y="1600200"/>
            <a:ext cx="1783080" cy="1417320"/>
          </a:xfrm>
          <a:prstGeom prst="roundRect">
            <a:avLst>
              <a:gd name="adj" fmla="val 7742"/>
            </a:avLst>
          </a:prstGeom>
          <a:solidFill>
            <a:schemeClr val="bg2"/>
          </a:solidFill>
          <a:ln w="12700">
            <a:solidFill>
              <a:schemeClr val="bg2"/>
            </a:solidFill>
            <a:prstDash val="solid"/>
          </a:ln>
        </p:spPr>
      </p:sp>
      <p:sp>
        <p:nvSpPr>
          <p:cNvPr id="10" name="KW 1 bg"/>
          <p:cNvSpPr/>
          <p:nvPr/>
        </p:nvSpPr>
        <p:spPr>
          <a:xfrm>
            <a:off x="2651760" y="1719072"/>
            <a:ext cx="329184" cy="329184"/>
          </a:xfrm>
          <a:prstGeom prst="ellipse">
            <a:avLst/>
          </a:prstGeom>
          <a:solidFill>
            <a:schemeClr val="accent5"/>
          </a:solidFill>
          <a:ln w="12700">
            <a:solidFill>
              <a:schemeClr val="accent5"/>
            </a:solidFill>
            <a:prstDash val="solid"/>
          </a:ln>
        </p:spPr>
      </p:sp>
      <p:sp>
        <p:nvSpPr>
          <p:cNvPr id="11" name="KW 1 num"/>
          <p:cNvSpPr txBox="1"/>
          <p:nvPr/>
        </p:nvSpPr>
        <p:spPr>
          <a:xfrm>
            <a:off x="2651760" y="171907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KW head 1"/>
          <p:cNvSpPr txBox="1"/>
          <p:nvPr/>
        </p:nvSpPr>
        <p:spPr>
          <a:xfrm>
            <a:off x="2651760" y="2103120"/>
            <a:ext cx="1554480" cy="457200"/>
          </a:xfrm>
          <a:prstGeom prst="rect">
            <a:avLst/>
          </a:prstGeom>
          <a:noFill/>
          <a:ln/>
        </p:spPr>
        <p:txBody>
          <a:bodyPr wrap="square" lIns="0" tIns="0" rIns="0" bIns="0" rtlCol="0" anchor="t"/>
          <a:lstStyle/>
          <a:p>
            <a:pPr indent="0" marL="0">
              <a:buNone/>
            </a:pPr>
            <a:r>
              <a:rPr lang="en-US" sz="1300" b="1" dirty="0">
                <a:solidFill>
                  <a:schemeClr val="tx2"/>
                </a:solidFill>
              </a:rPr>
              <a:t>Remove common words</a:t>
            </a:r>
            <a:endParaRPr lang="en-US" sz="1300" dirty="0"/>
          </a:p>
        </p:txBody>
      </p:sp>
      <p:sp>
        <p:nvSpPr>
          <p:cNvPr id="13" name="KW ex 1"/>
          <p:cNvSpPr txBox="1"/>
          <p:nvPr/>
        </p:nvSpPr>
        <p:spPr>
          <a:xfrm>
            <a:off x="2651760" y="2560320"/>
            <a:ext cx="1554480" cy="411480"/>
          </a:xfrm>
          <a:prstGeom prst="rect">
            <a:avLst/>
          </a:prstGeom>
          <a:noFill/>
          <a:ln/>
        </p:spPr>
        <p:txBody>
          <a:bodyPr wrap="square" lIns="0" tIns="0" rIns="0" bIns="0" rtlCol="0" anchor="t"/>
          <a:lstStyle/>
          <a:p>
            <a:pPr indent="0" marL="0">
              <a:buNone/>
            </a:pPr>
            <a:r>
              <a:rPr lang="en-US" sz="1150" i="1" dirty="0">
                <a:solidFill>
                  <a:schemeClr val="accent6"/>
                </a:solidFill>
              </a:rPr>
              <a:t>le, de, pour, les…</a:t>
            </a:r>
            <a:endParaRPr lang="en-US" sz="1150" dirty="0"/>
          </a:p>
        </p:txBody>
      </p:sp>
      <p:sp>
        <p:nvSpPr>
          <p:cNvPr id="14" name="KW step 2"/>
          <p:cNvSpPr/>
          <p:nvPr/>
        </p:nvSpPr>
        <p:spPr>
          <a:xfrm>
            <a:off x="4480560" y="1600200"/>
            <a:ext cx="1783080" cy="1417320"/>
          </a:xfrm>
          <a:prstGeom prst="roundRect">
            <a:avLst>
              <a:gd name="adj" fmla="val 7742"/>
            </a:avLst>
          </a:prstGeom>
          <a:solidFill>
            <a:schemeClr val="bg2"/>
          </a:solidFill>
          <a:ln w="12700">
            <a:solidFill>
              <a:schemeClr val="bg2"/>
            </a:solidFill>
            <a:prstDash val="solid"/>
          </a:ln>
        </p:spPr>
      </p:sp>
      <p:sp>
        <p:nvSpPr>
          <p:cNvPr id="15" name="KW 2 bg"/>
          <p:cNvSpPr/>
          <p:nvPr/>
        </p:nvSpPr>
        <p:spPr>
          <a:xfrm>
            <a:off x="4617720" y="1719072"/>
            <a:ext cx="329184" cy="329184"/>
          </a:xfrm>
          <a:prstGeom prst="ellipse">
            <a:avLst/>
          </a:prstGeom>
          <a:solidFill>
            <a:schemeClr val="accent5"/>
          </a:solidFill>
          <a:ln w="12700">
            <a:solidFill>
              <a:schemeClr val="accent5"/>
            </a:solidFill>
            <a:prstDash val="solid"/>
          </a:ln>
        </p:spPr>
      </p:sp>
      <p:sp>
        <p:nvSpPr>
          <p:cNvPr id="16" name="KW 2 num"/>
          <p:cNvSpPr txBox="1"/>
          <p:nvPr/>
        </p:nvSpPr>
        <p:spPr>
          <a:xfrm>
            <a:off x="4617720" y="171907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KW head 2"/>
          <p:cNvSpPr txBox="1"/>
          <p:nvPr/>
        </p:nvSpPr>
        <p:spPr>
          <a:xfrm>
            <a:off x="4617720" y="2103120"/>
            <a:ext cx="1554480" cy="457200"/>
          </a:xfrm>
          <a:prstGeom prst="rect">
            <a:avLst/>
          </a:prstGeom>
          <a:noFill/>
          <a:ln/>
        </p:spPr>
        <p:txBody>
          <a:bodyPr wrap="square" lIns="0" tIns="0" rIns="0" bIns="0" rtlCol="0" anchor="t"/>
          <a:lstStyle/>
          <a:p>
            <a:pPr indent="0" marL="0">
              <a:buNone/>
            </a:pPr>
            <a:r>
              <a:rPr lang="en-US" sz="1300" b="1" dirty="0">
                <a:solidFill>
                  <a:schemeClr val="tx2"/>
                </a:solidFill>
              </a:rPr>
              <a:t>Keep word roots</a:t>
            </a:r>
            <a:endParaRPr lang="en-US" sz="1300" dirty="0"/>
          </a:p>
        </p:txBody>
      </p:sp>
      <p:sp>
        <p:nvSpPr>
          <p:cNvPr id="18" name="KW ex 2"/>
          <p:cNvSpPr txBox="1"/>
          <p:nvPr/>
        </p:nvSpPr>
        <p:spPr>
          <a:xfrm>
            <a:off x="4617720" y="2560320"/>
            <a:ext cx="1554480" cy="411480"/>
          </a:xfrm>
          <a:prstGeom prst="rect">
            <a:avLst/>
          </a:prstGeom>
          <a:noFill/>
          <a:ln/>
        </p:spPr>
        <p:txBody>
          <a:bodyPr wrap="square" lIns="0" tIns="0" rIns="0" bIns="0" rtlCol="0" anchor="t"/>
          <a:lstStyle/>
          <a:p>
            <a:pPr indent="0" marL="0">
              <a:buNone/>
            </a:pPr>
            <a:r>
              <a:rPr lang="en-US" sz="1150" i="1" dirty="0">
                <a:solidFill>
                  <a:schemeClr val="accent6"/>
                </a:solidFill>
              </a:rPr>
              <a:t>“subventions” → “subvent”</a:t>
            </a:r>
            <a:endParaRPr lang="en-US" sz="1150" dirty="0"/>
          </a:p>
        </p:txBody>
      </p:sp>
      <p:sp>
        <p:nvSpPr>
          <p:cNvPr id="19" name="KW stat 0"/>
          <p:cNvSpPr txBox="1"/>
          <p:nvPr/>
        </p:nvSpPr>
        <p:spPr>
          <a:xfrm>
            <a:off x="548640" y="3337560"/>
            <a:ext cx="2377440" cy="594360"/>
          </a:xfrm>
          <a:prstGeom prst="rect">
            <a:avLst/>
          </a:prstGeom>
          <a:noFill/>
          <a:ln/>
        </p:spPr>
        <p:txBody>
          <a:bodyPr wrap="square" lIns="0" tIns="0" rIns="0" bIns="0" rtlCol="0" anchor="b"/>
          <a:lstStyle/>
          <a:p>
            <a:pPr indent="0" marL="0">
              <a:buNone/>
            </a:pPr>
            <a:r>
              <a:rPr lang="en-US" sz="3600" b="1" dirty="0">
                <a:solidFill>
                  <a:schemeClr val="accent1"/>
                </a:solidFill>
              </a:rPr>
              <a:t>17 / 17</a:t>
            </a:r>
            <a:endParaRPr lang="en-US" sz="3600" dirty="0"/>
          </a:p>
        </p:txBody>
      </p:sp>
      <p:sp>
        <p:nvSpPr>
          <p:cNvPr id="20" name="KW stat label 0"/>
          <p:cNvSpPr txBox="1"/>
          <p:nvPr/>
        </p:nvSpPr>
        <p:spPr>
          <a:xfrm>
            <a:off x="2971800" y="3447288"/>
            <a:ext cx="3017520" cy="502920"/>
          </a:xfrm>
          <a:prstGeom prst="rect">
            <a:avLst/>
          </a:prstGeom>
          <a:noFill/>
          <a:ln/>
        </p:spPr>
        <p:txBody>
          <a:bodyPr wrap="square" lIns="0" tIns="0" rIns="0" bIns="0" rtlCol="0" anchor="ctr"/>
          <a:lstStyle/>
          <a:p>
            <a:pPr indent="0" marL="0">
              <a:buNone/>
            </a:pPr>
            <a:r>
              <a:rPr lang="en-US" sz="1400" dirty="0">
                <a:solidFill>
                  <a:schemeClr val="tx1"/>
                </a:solidFill>
              </a:rPr>
              <a:t>dev questions: right aid in top 5</a:t>
            </a:r>
            <a:endParaRPr lang="en-US" sz="1400" dirty="0"/>
          </a:p>
        </p:txBody>
      </p:sp>
      <p:sp>
        <p:nvSpPr>
          <p:cNvPr id="21" name="KW stat 1"/>
          <p:cNvSpPr txBox="1"/>
          <p:nvPr/>
        </p:nvSpPr>
        <p:spPr>
          <a:xfrm>
            <a:off x="548640" y="4572000"/>
            <a:ext cx="2377440" cy="594360"/>
          </a:xfrm>
          <a:prstGeom prst="rect">
            <a:avLst/>
          </a:prstGeom>
          <a:noFill/>
          <a:ln/>
        </p:spPr>
        <p:txBody>
          <a:bodyPr wrap="square" lIns="0" tIns="0" rIns="0" bIns="0" rtlCol="0" anchor="b"/>
          <a:lstStyle/>
          <a:p>
            <a:pPr indent="0" marL="0">
              <a:buNone/>
            </a:pPr>
            <a:r>
              <a:rPr lang="en-US" sz="3600" b="1" dirty="0">
                <a:solidFill>
                  <a:schemeClr val="accent2"/>
                </a:solidFill>
              </a:rPr>
              <a:t>14 / 16</a:t>
            </a:r>
            <a:endParaRPr lang="en-US" sz="3600" dirty="0"/>
          </a:p>
        </p:txBody>
      </p:sp>
      <p:sp>
        <p:nvSpPr>
          <p:cNvPr id="22" name="KW stat label 1"/>
          <p:cNvSpPr txBox="1"/>
          <p:nvPr/>
        </p:nvSpPr>
        <p:spPr>
          <a:xfrm>
            <a:off x="2971800" y="4681728"/>
            <a:ext cx="3017520" cy="502920"/>
          </a:xfrm>
          <a:prstGeom prst="rect">
            <a:avLst/>
          </a:prstGeom>
          <a:noFill/>
          <a:ln/>
        </p:spPr>
        <p:txBody>
          <a:bodyPr wrap="square" lIns="0" tIns="0" rIns="0" bIns="0" rtlCol="0" anchor="ctr"/>
          <a:lstStyle/>
          <a:p>
            <a:pPr indent="0" marL="0">
              <a:buNone/>
            </a:pPr>
            <a:r>
              <a:rPr lang="en-US" sz="1400" dirty="0">
                <a:solidFill>
                  <a:schemeClr val="tx1"/>
                </a:solidFill>
              </a:rPr>
              <a:t>held-out questions: right aid in top 5</a:t>
            </a:r>
            <a:endParaRPr lang="en-US" sz="1400" dirty="0"/>
          </a:p>
        </p:txBody>
      </p:sp>
      <p:sp>
        <p:nvSpPr>
          <p:cNvPr id="23" name="Miss example"/>
          <p:cNvSpPr/>
          <p:nvPr/>
        </p:nvSpPr>
        <p:spPr>
          <a:xfrm>
            <a:off x="6492240" y="1600200"/>
            <a:ext cx="5166360" cy="4343400"/>
          </a:xfrm>
          <a:prstGeom prst="roundRect">
            <a:avLst>
              <a:gd name="adj" fmla="val 2526"/>
            </a:avLst>
          </a:prstGeom>
          <a:solidFill>
            <a:schemeClr val="bg2"/>
          </a:solidFill>
          <a:ln w="22225">
            <a:solidFill>
              <a:schemeClr val="accent3"/>
            </a:solidFill>
            <a:prstDash val="solid"/>
          </a:ln>
        </p:spPr>
      </p:sp>
      <p:sp>
        <p:nvSpPr>
          <p:cNvPr id="24" name="Miss title"/>
          <p:cNvSpPr txBox="1"/>
          <p:nvPr/>
        </p:nvSpPr>
        <p:spPr>
          <a:xfrm>
            <a:off x="6720840" y="1737360"/>
            <a:ext cx="4754880" cy="365760"/>
          </a:xfrm>
          <a:prstGeom prst="rect">
            <a:avLst/>
          </a:prstGeom>
          <a:noFill/>
          <a:ln/>
        </p:spPr>
        <p:txBody>
          <a:bodyPr wrap="square" lIns="0" tIns="0" rIns="0" bIns="0" rtlCol="0" anchor="ctr"/>
          <a:lstStyle/>
          <a:p>
            <a:pPr indent="0" marL="0">
              <a:buNone/>
            </a:pPr>
            <a:r>
              <a:rPr lang="en-US" sz="1700" b="1" dirty="0">
                <a:solidFill>
                  <a:schemeClr val="tx2"/>
                </a:solidFill>
              </a:rPr>
              <a:t>Why it missed q028 (ranked 11th)</a:t>
            </a:r>
            <a:endParaRPr lang="en-US" sz="1700" dirty="0"/>
          </a:p>
        </p:txBody>
      </p:sp>
      <p:sp>
        <p:nvSpPr>
          <p:cNvPr id="25" name="Miss q label"/>
          <p:cNvSpPr txBox="1"/>
          <p:nvPr/>
        </p:nvSpPr>
        <p:spPr>
          <a:xfrm>
            <a:off x="6720840" y="2240280"/>
            <a:ext cx="4754880" cy="274320"/>
          </a:xfrm>
          <a:prstGeom prst="rect">
            <a:avLst/>
          </a:prstGeom>
          <a:noFill/>
          <a:ln/>
        </p:spPr>
        <p:txBody>
          <a:bodyPr wrap="square" lIns="0" tIns="0" rIns="0" bIns="0" rtlCol="0" anchor="ctr"/>
          <a:lstStyle/>
          <a:p>
            <a:pPr indent="0" marL="0">
              <a:buNone/>
            </a:pPr>
            <a:r>
              <a:rPr lang="en-US" sz="1200" dirty="0">
                <a:solidFill>
                  <a:schemeClr val="accent6"/>
                </a:solidFill>
              </a:rPr>
              <a:t>The question says</a:t>
            </a:r>
            <a:endParaRPr lang="en-US" sz="1200" dirty="0"/>
          </a:p>
        </p:txBody>
      </p:sp>
      <p:sp>
        <p:nvSpPr>
          <p:cNvPr id="26" name="Miss q"/>
          <p:cNvSpPr txBox="1"/>
          <p:nvPr/>
        </p:nvSpPr>
        <p:spPr>
          <a:xfrm>
            <a:off x="6720840" y="2514600"/>
            <a:ext cx="4754880" cy="640080"/>
          </a:xfrm>
          <a:prstGeom prst="rect">
            <a:avLst/>
          </a:prstGeom>
          <a:noFill/>
          <a:ln/>
        </p:spPr>
        <p:txBody>
          <a:bodyPr wrap="square" lIns="0" tIns="0" rIns="0" bIns="0" rtlCol="0" anchor="t"/>
          <a:lstStyle/>
          <a:p>
            <a:pPr indent="0" marL="0">
              <a:buNone/>
            </a:pPr>
            <a:r>
              <a:rPr lang="en-US" sz="1500" i="1" dirty="0">
                <a:solidFill>
                  <a:schemeClr val="tx1"/>
                </a:solidFill>
              </a:rPr>
              <a:t>“J'ai une entreprise de livraison en vélo cargo à Saintes…”</a:t>
            </a:r>
            <a:endParaRPr lang="en-US" sz="1500" dirty="0"/>
          </a:p>
        </p:txBody>
      </p:sp>
      <p:sp>
        <p:nvSpPr>
          <p:cNvPr id="27" name="Miss a label"/>
          <p:cNvSpPr txBox="1"/>
          <p:nvPr/>
        </p:nvSpPr>
        <p:spPr>
          <a:xfrm>
            <a:off x="6720840" y="3246120"/>
            <a:ext cx="4754880" cy="274320"/>
          </a:xfrm>
          <a:prstGeom prst="rect">
            <a:avLst/>
          </a:prstGeom>
          <a:noFill/>
          <a:ln/>
        </p:spPr>
        <p:txBody>
          <a:bodyPr wrap="square" lIns="0" tIns="0" rIns="0" bIns="0" rtlCol="0" anchor="ctr"/>
          <a:lstStyle/>
          <a:p>
            <a:pPr indent="0" marL="0">
              <a:buNone/>
            </a:pPr>
            <a:r>
              <a:rPr lang="en-US" sz="1200" dirty="0">
                <a:solidFill>
                  <a:schemeClr val="accent6"/>
                </a:solidFill>
              </a:rPr>
              <a:t>The aid says</a:t>
            </a:r>
            <a:endParaRPr lang="en-US" sz="1200" dirty="0"/>
          </a:p>
        </p:txBody>
      </p:sp>
      <p:sp>
        <p:nvSpPr>
          <p:cNvPr id="28" name="Miss a"/>
          <p:cNvSpPr txBox="1"/>
          <p:nvPr/>
        </p:nvSpPr>
        <p:spPr>
          <a:xfrm>
            <a:off x="6720840" y="3520440"/>
            <a:ext cx="4754880" cy="640080"/>
          </a:xfrm>
          <a:prstGeom prst="rect">
            <a:avLst/>
          </a:prstGeom>
          <a:noFill/>
          <a:ln/>
        </p:spPr>
        <p:txBody>
          <a:bodyPr wrap="square" lIns="0" tIns="0" rIns="0" bIns="0" rtlCol="0" anchor="t"/>
          <a:lstStyle/>
          <a:p>
            <a:pPr indent="0" marL="0">
              <a:buNone/>
            </a:pPr>
            <a:r>
              <a:rPr lang="en-US" sz="1500" i="1" dirty="0">
                <a:solidFill>
                  <a:schemeClr val="tx1"/>
                </a:solidFill>
              </a:rPr>
              <a:t>“…logistique du dernier kilomètre… cyclo-entrepreneurs… cycles”</a:t>
            </a:r>
            <a:endParaRPr lang="en-US" sz="1500" dirty="0"/>
          </a:p>
        </p:txBody>
      </p:sp>
      <p:sp>
        <p:nvSpPr>
          <p:cNvPr id="29" name="Miss rule"/>
          <p:cNvSpPr/>
          <p:nvPr/>
        </p:nvSpPr>
        <p:spPr>
          <a:xfrm>
            <a:off x="6720840" y="4343400"/>
            <a:ext cx="4709160" cy="0"/>
          </a:xfrm>
          <a:prstGeom prst="line">
            <a:avLst/>
          </a:prstGeom>
          <a:noFill/>
          <a:ln w="12700">
            <a:solidFill>
              <a:schemeClr val="accent4"/>
            </a:solidFill>
            <a:prstDash val="solid"/>
          </a:ln>
        </p:spPr>
      </p:sp>
      <p:sp>
        <p:nvSpPr>
          <p:cNvPr id="30" name="Miss conclusion"/>
          <p:cNvSpPr txBox="1"/>
          <p:nvPr/>
        </p:nvSpPr>
        <p:spPr>
          <a:xfrm>
            <a:off x="6720840" y="4480560"/>
            <a:ext cx="4754880" cy="1280160"/>
          </a:xfrm>
          <a:prstGeom prst="rect">
            <a:avLst/>
          </a:prstGeom>
          <a:noFill/>
          <a:ln/>
        </p:spPr>
        <p:txBody>
          <a:bodyPr wrap="square" lIns="0" tIns="0" rIns="0" bIns="0" rtlCol="0" anchor="t"/>
          <a:lstStyle/>
          <a:p>
            <a:pPr indent="0" marL="0">
              <a:buNone/>
            </a:pPr>
            <a:r>
              <a:rPr lang="en-US" sz="1400" b="1" dirty="0">
                <a:solidFill>
                  <a:schemeClr val="accent3"/>
                </a:solidFill>
              </a:rPr>
              <a:t>Same meaning, different words. </a:t>
            </a:r>
            <a:pPr indent="0" marL="0">
              <a:buNone/>
            </a:pPr>
            <a:r>
              <a:rPr lang="en-US" sz="1400" dirty="0">
                <a:solidFill>
                  <a:schemeClr val="tx1"/>
                </a:solidFill>
              </a:rPr>
              <a:t>Real users never use the official wording, so we need search by meaning too (step 4).</a:t>
            </a:r>
            <a:endParaRPr lang="en-US" sz="1400" dirty="0"/>
          </a:p>
        </p:txBody>
      </p:sp>
      <p:sp>
        <p:nvSpPr>
          <p:cNvPr id="31" name="BM25 footnote"/>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Dev = 20 questions used for tuning (17 have an answer in our data). Held-out = 20 questions only used for final scores (16 answerable).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685800"/>
          </a:xfrm>
          <a:prstGeom prst="rect">
            <a:avLst/>
          </a:prstGeom>
          <a:noFill/>
          <a:ln/>
        </p:spPr>
        <p:txBody>
          <a:bodyPr wrap="square" lIns="0" tIns="0" rIns="0" bIns="0" rtlCol="0" anchor="ctr"/>
          <a:lstStyle/>
          <a:p>
            <a:pPr algn="l" indent="0" marL="0">
              <a:buNone/>
            </a:pPr>
            <a:r>
              <a:rPr lang="en-US" sz="3000" b="1" dirty="0">
                <a:solidFill>
                  <a:schemeClr val="tx2"/>
                </a:solidFill>
              </a:rPr>
              <a:t>Step 3 · Exam machine: 40 questions, auto-scored</a:t>
            </a:r>
            <a:endParaRPr lang="en-US" sz="3000" dirty="0"/>
          </a:p>
        </p:txBody>
      </p:sp>
      <p:sp>
        <p:nvSpPr>
          <p:cNvPr id="3" name="Exam subtitle"/>
          <p:cNvSpPr txBox="1"/>
          <p:nvPr/>
        </p:nvSpPr>
        <p:spPr>
          <a:xfrm>
            <a:off x="548640" y="1005840"/>
            <a:ext cx="11064240" cy="320040"/>
          </a:xfrm>
          <a:prstGeom prst="rect">
            <a:avLst/>
          </a:prstGeom>
          <a:noFill/>
          <a:ln/>
        </p:spPr>
        <p:txBody>
          <a:bodyPr wrap="square" lIns="0" tIns="0" rIns="0" bIns="0" rtlCol="0" anchor="ctr"/>
          <a:lstStyle/>
          <a:p>
            <a:pPr indent="0" marL="0">
              <a:buNone/>
            </a:pPr>
            <a:r>
              <a:rPr lang="en-US" sz="1400" dirty="0">
                <a:solidFill>
                  <a:schemeClr val="accent6"/>
                </a:solidFill>
              </a:rPr>
              <a:t>Brief: “no component is working until it is scored on a held-out golden set with cost and latency tracked”</a:t>
            </a:r>
            <a:endParaRPr lang="en-US" sz="1400" dirty="0"/>
          </a:p>
        </p:txBody>
      </p:sp>
      <p:graphicFrame>
        <p:nvGraphicFramePr>
          <p:cNvPr id="4" name="Golden mix chart" descr=""/>
          <p:cNvGraphicFramePr/>
          <p:nvPr/>
        </p:nvGraphicFramePr>
        <p:xfrm>
          <a:off x="548640" y="1508760"/>
          <a:ext cx="6035040" cy="4754880"/>
        </p:xfrm>
        <a:graphic xmlns:a="http://schemas.openxmlformats.org/drawingml/2006/main">
          <a:graphicData uri="http://schemas.openxmlformats.org/drawingml/2006/chart">
            <c:chart xmlns:c="http://schemas.openxmlformats.org/drawingml/2006/chart" r:id="rId1"/>
          </a:graphicData>
        </a:graphic>
      </p:graphicFrame>
      <p:sp>
        <p:nvSpPr>
          <p:cNvPr id="5" name="Split card"/>
          <p:cNvSpPr/>
          <p:nvPr/>
        </p:nvSpPr>
        <p:spPr>
          <a:xfrm>
            <a:off x="6903720" y="1600200"/>
            <a:ext cx="4754880" cy="1874520"/>
          </a:xfrm>
          <a:prstGeom prst="roundRect">
            <a:avLst>
              <a:gd name="adj" fmla="val 5854"/>
            </a:avLst>
          </a:prstGeom>
          <a:solidFill>
            <a:schemeClr val="bg2"/>
          </a:solidFill>
          <a:ln w="22225">
            <a:solidFill>
              <a:schemeClr val="accent5"/>
            </a:solidFill>
            <a:prstDash val="solid"/>
          </a:ln>
        </p:spPr>
      </p:sp>
      <p:sp>
        <p:nvSpPr>
          <p:cNvPr id="6" name="Split title"/>
          <p:cNvSpPr txBox="1"/>
          <p:nvPr/>
        </p:nvSpPr>
        <p:spPr>
          <a:xfrm>
            <a:off x="7132320" y="1719072"/>
            <a:ext cx="4389120" cy="365760"/>
          </a:xfrm>
          <a:prstGeom prst="rect">
            <a:avLst/>
          </a:prstGeom>
          <a:noFill/>
          <a:ln/>
        </p:spPr>
        <p:txBody>
          <a:bodyPr wrap="square" lIns="0" tIns="0" rIns="0" bIns="0" rtlCol="0" anchor="ctr"/>
          <a:lstStyle/>
          <a:p>
            <a:pPr indent="0" marL="0">
              <a:buNone/>
            </a:pPr>
            <a:r>
              <a:rPr lang="en-US" sz="1700" b="1" dirty="0">
                <a:solidFill>
                  <a:schemeClr val="tx2"/>
                </a:solidFill>
              </a:rPr>
              <a:t>Two sets, never mixed</a:t>
            </a:r>
            <a:endParaRPr lang="en-US" sz="1700" dirty="0"/>
          </a:p>
        </p:txBody>
      </p:sp>
      <p:sp>
        <p:nvSpPr>
          <p:cNvPr id="7" name="Split body"/>
          <p:cNvSpPr txBox="1"/>
          <p:nvPr/>
        </p:nvSpPr>
        <p:spPr>
          <a:xfrm>
            <a:off x="7132320" y="2148840"/>
            <a:ext cx="4389120" cy="12801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Dev (q001–q020): we tune on these</a:t>
            </a:r>
            <a:endParaRPr lang="en-US" sz="1400" dirty="0"/>
          </a:p>
          <a:p>
            <a:pPr marL="177800" indent="-177800">
              <a:spcAft>
                <a:spcPts val="600"/>
              </a:spcAft>
              <a:buSzPct val="100000"/>
              <a:buChar char="•"/>
            </a:pPr>
            <a:r>
              <a:rPr lang="en-US" sz="1400" dirty="0">
                <a:solidFill>
                  <a:schemeClr val="tx1"/>
                </a:solidFill>
              </a:rPr>
              <a:t>Held-out (q021–q040): final scores only</a:t>
            </a:r>
            <a:endParaRPr lang="en-US" sz="1400" dirty="0"/>
          </a:p>
          <a:p>
            <a:pPr marL="177800" indent="-177800">
              <a:spcAft>
                <a:spcPts val="600"/>
              </a:spcAft>
              <a:buSzPct val="100000"/>
              <a:buChar char="•"/>
            </a:pPr>
            <a:r>
              <a:rPr lang="en-US" sz="1400" dirty="0">
                <a:solidFill>
                  <a:schemeClr val="tx1"/>
                </a:solidFill>
              </a:rPr>
              <a:t>No aid appears in both: a test enforces it</a:t>
            </a:r>
            <a:endParaRPr lang="en-US" sz="1400" dirty="0"/>
          </a:p>
        </p:txBody>
      </p:sp>
      <p:sp>
        <p:nvSpPr>
          <p:cNvPr id="8" name="Runner card"/>
          <p:cNvSpPr/>
          <p:nvPr/>
        </p:nvSpPr>
        <p:spPr>
          <a:xfrm>
            <a:off x="6903720" y="3611880"/>
            <a:ext cx="4754880" cy="2651760"/>
          </a:xfrm>
          <a:prstGeom prst="roundRect">
            <a:avLst>
              <a:gd name="adj" fmla="val 4138"/>
            </a:avLst>
          </a:prstGeom>
          <a:solidFill>
            <a:schemeClr val="bg2"/>
          </a:solidFill>
          <a:ln w="22225">
            <a:solidFill>
              <a:schemeClr val="accent1"/>
            </a:solidFill>
            <a:prstDash val="solid"/>
          </a:ln>
        </p:spPr>
      </p:sp>
      <p:sp>
        <p:nvSpPr>
          <p:cNvPr id="9" name="Runner title"/>
          <p:cNvSpPr txBox="1"/>
          <p:nvPr/>
        </p:nvSpPr>
        <p:spPr>
          <a:xfrm>
            <a:off x="7132320" y="3730752"/>
            <a:ext cx="4389120" cy="365760"/>
          </a:xfrm>
          <a:prstGeom prst="rect">
            <a:avLst/>
          </a:prstGeom>
          <a:noFill/>
          <a:ln/>
        </p:spPr>
        <p:txBody>
          <a:bodyPr wrap="square" lIns="0" tIns="0" rIns="0" bIns="0" rtlCol="0" anchor="ctr"/>
          <a:lstStyle/>
          <a:p>
            <a:pPr indent="0" marL="0">
              <a:buNone/>
            </a:pPr>
            <a:r>
              <a:rPr lang="en-US" sz="1700" b="1" dirty="0">
                <a:solidFill>
                  <a:schemeClr val="tx2"/>
                </a:solidFill>
              </a:rPr>
              <a:t>run_eval.py logs, per question</a:t>
            </a:r>
            <a:endParaRPr lang="en-US" sz="1700" dirty="0"/>
          </a:p>
        </p:txBody>
      </p:sp>
      <p:sp>
        <p:nvSpPr>
          <p:cNvPr id="10" name="Runner body"/>
          <p:cNvSpPr txBox="1"/>
          <p:nvPr/>
        </p:nvSpPr>
        <p:spPr>
          <a:xfrm>
            <a:off x="7132320" y="4160520"/>
            <a:ext cx="4389120" cy="11887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Answer + cited sources · retrieved aid IDs</a:t>
            </a:r>
            <a:endParaRPr lang="en-US" sz="1400" dirty="0"/>
          </a:p>
          <a:p>
            <a:pPr marL="177800" indent="-177800">
              <a:spcAft>
                <a:spcPts val="600"/>
              </a:spcAft>
              <a:buSzPct val="100000"/>
              <a:buChar char="•"/>
            </a:pPr>
            <a:r>
              <a:rPr lang="en-US" sz="1400" dirty="0">
                <a:solidFill>
                  <a:schemeClr val="tx1"/>
                </a:solidFill>
              </a:rPr>
              <a:t>Tokens in / out (→ cost)</a:t>
            </a:r>
            <a:endParaRPr lang="en-US" sz="1400" dirty="0"/>
          </a:p>
          <a:p>
            <a:pPr marL="177800" indent="-177800">
              <a:spcAft>
                <a:spcPts val="600"/>
              </a:spcAft>
              <a:buSzPct val="100000"/>
              <a:buChar char="•"/>
            </a:pPr>
            <a:r>
              <a:rPr lang="en-US" sz="1400" dirty="0">
                <a:solidFill>
                  <a:schemeClr val="tx1"/>
                </a:solidFill>
              </a:rPr>
              <a:t>Latency, tool calls, stop reason</a:t>
            </a:r>
            <a:endParaRPr lang="en-US" sz="1400" dirty="0"/>
          </a:p>
        </p:txBody>
      </p:sp>
      <p:sp>
        <p:nvSpPr>
          <p:cNvPr id="11" name="Runner command"/>
          <p:cNvSpPr txBox="1"/>
          <p:nvPr/>
        </p:nvSpPr>
        <p:spPr>
          <a:xfrm>
            <a:off x="7132320" y="5440680"/>
            <a:ext cx="4389120" cy="685800"/>
          </a:xfrm>
          <a:prstGeom prst="rect">
            <a:avLst/>
          </a:prstGeom>
          <a:noFill/>
          <a:ln/>
        </p:spPr>
        <p:txBody>
          <a:bodyPr wrap="square" lIns="0" tIns="0" rIns="0" bIns="0" rtlCol="0" anchor="t"/>
          <a:lstStyle/>
          <a:p>
            <a:pPr indent="0" marL="0">
              <a:buNone/>
            </a:pPr>
            <a:r>
              <a:rPr lang="en-US" sz="1050" dirty="0">
                <a:solidFill>
                  <a:schemeClr val="tx2"/>
                </a:solidFill>
                <a:latin typeface="Consolas" pitchFamily="34" charset="0"/>
                <a:ea typeface="Consolas" pitchFamily="34" charset="-122"/>
                <a:cs typeface="Consolas" pitchFamily="34" charset="-120"/>
              </a:rPr>
              <a:t>uv run python eval/run_eval.py --questions eval/golden.jsonl --out eval/</a:t>
            </a:r>
            <a:endParaRPr lang="en-US" sz="1050" dirty="0"/>
          </a:p>
        </p:txBody>
      </p:sp>
      <p:sp>
        <p:nvSpPr>
          <p:cNvPr id="12" name="Exam footnote"/>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Runner by Saouss (PR #6); dev/held-out reporting added in PR #7. Answer-quality scores fill in once the answering model exists.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685800"/>
          </a:xfrm>
          <a:prstGeom prst="rect">
            <a:avLst/>
          </a:prstGeom>
          <a:noFill/>
          <a:ln/>
        </p:spPr>
        <p:txBody>
          <a:bodyPr wrap="square" lIns="0" tIns="0" rIns="0" bIns="0" rtlCol="0" anchor="ctr"/>
          <a:lstStyle/>
          <a:p>
            <a:pPr algn="l" indent="0" marL="0">
              <a:buNone/>
            </a:pPr>
            <a:r>
              <a:rPr lang="en-US" sz="3000" b="1" dirty="0">
                <a:solidFill>
                  <a:schemeClr val="tx2"/>
                </a:solidFill>
              </a:rPr>
              <a:t>Step 4 · Meaning search: 3 models tested, bge-m3 wins</a:t>
            </a:r>
            <a:endParaRPr lang="en-US" sz="3000" dirty="0"/>
          </a:p>
        </p:txBody>
      </p:sp>
      <p:sp>
        <p:nvSpPr>
          <p:cNvPr id="3" name="Model subtitle"/>
          <p:cNvSpPr txBox="1"/>
          <p:nvPr/>
        </p:nvSpPr>
        <p:spPr>
          <a:xfrm>
            <a:off x="548640" y="1005840"/>
            <a:ext cx="11064240" cy="320040"/>
          </a:xfrm>
          <a:prstGeom prst="rect">
            <a:avLst/>
          </a:prstGeom>
          <a:noFill/>
          <a:ln/>
        </p:spPr>
        <p:txBody>
          <a:bodyPr wrap="square" lIns="0" tIns="0" rIns="0" bIns="0" rtlCol="0" anchor="ctr"/>
          <a:lstStyle/>
          <a:p>
            <a:pPr indent="0" marL="0">
              <a:buNone/>
            </a:pPr>
            <a:r>
              <a:rPr lang="en-US" sz="1400" dirty="0">
                <a:solidFill>
                  <a:schemeClr val="accent6"/>
                </a:solidFill>
              </a:rPr>
              <a:t>An embedding model turns text into a “meaning fingerprint”; close fingerprints = same meaning, even with different words</a:t>
            </a:r>
            <a:endParaRPr lang="en-US" sz="1400" dirty="0"/>
          </a:p>
        </p:txBody>
      </p:sp>
      <p:graphicFrame>
        <p:nvGraphicFramePr>
          <p:cNvPr id="4" name="Model chart" descr=""/>
          <p:cNvGraphicFramePr/>
          <p:nvPr/>
        </p:nvGraphicFramePr>
        <p:xfrm>
          <a:off x="548640" y="1508760"/>
          <a:ext cx="630936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Model table"/>
          <p:cNvGraphicFramePr>
            <a:graphicFrameLocks noGrp="1"/>
          </p:cNvGraphicFramePr>
          <p:nvPr>
            <p:extLst>
              <p:ext uri="{D42A27DB-BD31-4B8C-83A1-F6EECF244321}">
                <p14:modId xmlns:p14="http://schemas.microsoft.com/office/powerpoint/2010/main" val="1579011935"/>
              </p:ext>
            </p:extLst>
          </p:nvPr>
        </p:nvGraphicFramePr>
        <p:xfrm>
          <a:off x="7178040" y="1600200"/>
          <a:ext cx="4480560" cy="914400"/>
        </p:xfrm>
        <a:graphic>
          <a:graphicData uri="http://schemas.openxmlformats.org/drawingml/2006/table">
            <a:tbl>
              <a:tblPr/>
              <a:tblGrid>
                <a:gridCol w="1234440"/>
                <a:gridCol w="914400"/>
                <a:gridCol w="1325880"/>
                <a:gridCol w="1005840"/>
              </a:tblGrid>
              <a:tr h="384048">
                <a:tc>
                  <a:txBody>
                    <a:bodyPr/>
                    <a:lstStyle/>
                    <a:p>
                      <a:pPr indent="0" marL="0">
                        <a:buNone/>
                      </a:pPr>
                      <a:r>
                        <a:rPr lang="en-US" sz="1300" b="1" dirty="0">
                          <a:solidFill>
                            <a:schemeClr val="bg1"/>
                          </a:solidFill>
                        </a:rPr>
                        <a:t>Model</a:t>
                      </a:r>
                      <a:endParaRPr lang="en-US" sz="1300" dirty="0"/>
                    </a:p>
                  </a:txBody>
                  <a:tcPr marL="54864" marR="54864"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Size</a:t>
                      </a:r>
                      <a:endParaRPr lang="en-US" sz="1300" dirty="0"/>
                    </a:p>
                  </a:txBody>
                  <a:tcPr marL="54864" marR="54864"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Time / question</a:t>
                      </a:r>
                      <a:endParaRPr lang="en-US" sz="1300" dirty="0"/>
                    </a:p>
                  </a:txBody>
                  <a:tcPr marL="54864" marR="54864"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RAM</a:t>
                      </a:r>
                      <a:endParaRPr lang="en-US" sz="1300" dirty="0"/>
                    </a:p>
                  </a:txBody>
                  <a:tcPr marL="54864" marR="54864"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r>
              <a:tr h="384048">
                <a:tc>
                  <a:txBody>
                    <a:bodyPr/>
                    <a:lstStyle/>
                    <a:p>
                      <a:pPr indent="0" marL="0">
                        <a:buNone/>
                      </a:pPr>
                      <a:r>
                        <a:rPr lang="en-US" sz="1300" dirty="0">
                          <a:solidFill>
                            <a:schemeClr val="tx1"/>
                          </a:solidFill>
                        </a:rPr>
                        <a:t>e5-small</a:t>
                      </a:r>
                      <a:endParaRPr lang="en-US" sz="1300" dirty="0"/>
                    </a:p>
                  </a:txBody>
                  <a:tcPr marL="54864" marR="54864"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0.5 GB</a:t>
                      </a:r>
                      <a:endParaRPr lang="en-US" sz="1300" dirty="0"/>
                    </a:p>
                  </a:txBody>
                  <a:tcPr marL="54864" marR="54864"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39 ms</a:t>
                      </a:r>
                      <a:endParaRPr lang="en-US" sz="1300" dirty="0"/>
                    </a:p>
                  </a:txBody>
                  <a:tcPr marL="54864" marR="54864"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1.6 GB</a:t>
                      </a:r>
                      <a:endParaRPr lang="en-US" sz="1300" dirty="0"/>
                    </a:p>
                  </a:txBody>
                  <a:tcPr marL="54864" marR="54864"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rPr>
                        <a:t>e5-base</a:t>
                      </a:r>
                      <a:endParaRPr lang="en-US" sz="1300" dirty="0"/>
                    </a:p>
                  </a:txBody>
                  <a:tcPr marL="54864" marR="54864"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1.1 GB</a:t>
                      </a:r>
                      <a:endParaRPr lang="en-US" sz="1300" dirty="0"/>
                    </a:p>
                  </a:txBody>
                  <a:tcPr marL="54864" marR="54864"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86 ms</a:t>
                      </a:r>
                      <a:endParaRPr lang="en-US" sz="1300" dirty="0"/>
                    </a:p>
                  </a:txBody>
                  <a:tcPr marL="54864" marR="54864"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2.4 GB</a:t>
                      </a:r>
                      <a:endParaRPr lang="en-US" sz="1300" dirty="0"/>
                    </a:p>
                  </a:txBody>
                  <a:tcPr marL="54864" marR="54864"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tx1"/>
                          </a:solidFill>
                        </a:rPr>
                        <a:t>bge-m3</a:t>
                      </a:r>
                      <a:endParaRPr lang="en-US" sz="1300" dirty="0"/>
                    </a:p>
                  </a:txBody>
                  <a:tcPr marL="54864" marR="54864"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2.3 GB</a:t>
                      </a:r>
                      <a:endParaRPr lang="en-US" sz="1300" dirty="0"/>
                    </a:p>
                  </a:txBody>
                  <a:tcPr marL="54864" marR="54864"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219 ms</a:t>
                      </a:r>
                      <a:endParaRPr lang="en-US" sz="1300" dirty="0"/>
                    </a:p>
                  </a:txBody>
                  <a:tcPr marL="54864" marR="54864"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2.6 GB</a:t>
                      </a:r>
                      <a:endParaRPr lang="en-US" sz="1300" dirty="0"/>
                    </a:p>
                  </a:txBody>
                  <a:tcPr marL="54864" marR="54864"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bl>
          </a:graphicData>
        </a:graphic>
      </p:graphicFrame>
      <p:sp>
        <p:nvSpPr>
          <p:cNvPr id="6" name="Model note"/>
          <p:cNvSpPr txBox="1"/>
          <p:nvPr/>
        </p:nvSpPr>
        <p:spPr>
          <a:xfrm>
            <a:off x="7178040" y="3291840"/>
            <a:ext cx="4480560" cy="548640"/>
          </a:xfrm>
          <a:prstGeom prst="rect">
            <a:avLst/>
          </a:prstGeom>
          <a:noFill/>
          <a:ln/>
        </p:spPr>
        <p:txBody>
          <a:bodyPr wrap="square" lIns="0" tIns="0" rIns="0" bIns="0" rtlCol="0" anchor="t"/>
          <a:lstStyle/>
          <a:p>
            <a:pPr indent="0" marL="0">
              <a:buNone/>
            </a:pPr>
            <a:r>
              <a:rPr lang="en-US" sz="1300" dirty="0">
                <a:solidFill>
                  <a:schemeClr val="accent6"/>
                </a:solidFill>
              </a:rPr>
              <a:t>All three find the right aid in the top 5 for 16/16 held-out questions. They differ on rank 1.</a:t>
            </a:r>
            <a:endParaRPr lang="en-US" sz="1300" dirty="0"/>
          </a:p>
        </p:txBody>
      </p:sp>
      <p:sp>
        <p:nvSpPr>
          <p:cNvPr id="7" name="Model decision"/>
          <p:cNvSpPr/>
          <p:nvPr/>
        </p:nvSpPr>
        <p:spPr>
          <a:xfrm>
            <a:off x="7178040" y="3931920"/>
            <a:ext cx="4480560" cy="1783080"/>
          </a:xfrm>
          <a:prstGeom prst="roundRect">
            <a:avLst>
              <a:gd name="adj" fmla="val 6154"/>
            </a:avLst>
          </a:prstGeom>
          <a:solidFill>
            <a:schemeClr val="bg2"/>
          </a:solidFill>
          <a:ln w="22225">
            <a:solidFill>
              <a:schemeClr val="accent1"/>
            </a:solidFill>
            <a:prstDash val="solid"/>
          </a:ln>
        </p:spPr>
      </p:sp>
      <p:sp>
        <p:nvSpPr>
          <p:cNvPr id="8" name="Model decision text"/>
          <p:cNvSpPr txBox="1"/>
          <p:nvPr/>
        </p:nvSpPr>
        <p:spPr>
          <a:xfrm>
            <a:off x="7360920" y="3977640"/>
            <a:ext cx="4160520" cy="1691640"/>
          </a:xfrm>
          <a:prstGeom prst="rect">
            <a:avLst/>
          </a:prstGeom>
          <a:noFill/>
          <a:ln/>
        </p:spPr>
        <p:txBody>
          <a:bodyPr wrap="square" lIns="0" tIns="0" rIns="0" bIns="0" rtlCol="0" anchor="ctr"/>
          <a:lstStyle/>
          <a:p>
            <a:pPr indent="0" marL="0">
              <a:buNone/>
            </a:pPr>
            <a:r>
              <a:rPr lang="en-US" sz="1300" b="1" dirty="0">
                <a:solidFill>
                  <a:schemeClr val="accent1"/>
                </a:solidFill>
              </a:rPr>
              <a:t>Decision: bge-m3. </a:t>
            </a:r>
            <a:pPr indent="0" marL="0">
              <a:buNone/>
            </a:pPr>
            <a:r>
              <a:rPr lang="en-US" sz="1300" dirty="0">
                <a:solidFill>
                  <a:schemeClr val="tx1"/>
                </a:solidFill>
              </a:rPr>
              <a:t>Best at ranking the right aid first (+17 points dev, +13 held-out). 0.2 s per question is small next to the seconds the answering model will need. Chosen on dev; held-out confirms.</a:t>
            </a:r>
            <a:endParaRPr lang="en-US" sz="1300" dirty="0"/>
          </a:p>
        </p:txBody>
      </p:sp>
      <p:sp>
        <p:nvSpPr>
          <p:cNvPr id="9" name="Model footnote"/>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Source: eval/retrieval_dense.json, measured on this laptop (CPU only). Exact versions pinned in the README. Model files are not in git.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685800"/>
          </a:xfrm>
          <a:prstGeom prst="rect">
            <a:avLst/>
          </a:prstGeom>
          <a:noFill/>
          <a:ln/>
        </p:spPr>
        <p:txBody>
          <a:bodyPr wrap="square" lIns="0" tIns="0" rIns="0" bIns="0" rtlCol="0" anchor="ctr"/>
          <a:lstStyle/>
          <a:p>
            <a:pPr algn="l" indent="0" marL="0">
              <a:buNone/>
            </a:pPr>
            <a:r>
              <a:rPr lang="en-US" sz="3000" b="1" dirty="0">
                <a:solidFill>
                  <a:schemeClr val="tx2"/>
                </a:solidFill>
              </a:rPr>
              <a:t>Step 4 · Two findings from the bge-m3 test</a:t>
            </a:r>
            <a:endParaRPr lang="en-US" sz="3000" dirty="0"/>
          </a:p>
        </p:txBody>
      </p:sp>
      <p:sp>
        <p:nvSpPr>
          <p:cNvPr id="3" name="Hybrid subtitle"/>
          <p:cNvSpPr txBox="1"/>
          <p:nvPr/>
        </p:nvSpPr>
        <p:spPr>
          <a:xfrm>
            <a:off x="548640" y="1005840"/>
            <a:ext cx="11064240" cy="320040"/>
          </a:xfrm>
          <a:prstGeom prst="rect">
            <a:avLst/>
          </a:prstGeom>
          <a:noFill/>
          <a:ln/>
        </p:spPr>
        <p:txBody>
          <a:bodyPr wrap="square" lIns="0" tIns="0" rIns="0" bIns="0" rtlCol="0" anchor="ctr"/>
          <a:lstStyle/>
          <a:p>
            <a:pPr indent="0" marL="0">
              <a:buNone/>
            </a:pPr>
            <a:r>
              <a:rPr lang="en-US" sz="1400" dirty="0">
                <a:solidFill>
                  <a:schemeClr val="accent6"/>
                </a:solidFill>
              </a:rPr>
              <a:t>1) Merging keyword + meaning lowered rank 1 (fixed in step 5, next slide). 2) A lead for “I don't know”.</a:t>
            </a:r>
            <a:endParaRPr lang="en-US" sz="1400" dirty="0"/>
          </a:p>
        </p:txBody>
      </p:sp>
      <p:graphicFrame>
        <p:nvGraphicFramePr>
          <p:cNvPr id="4" name="Hybrid chart" descr=""/>
          <p:cNvGraphicFramePr/>
          <p:nvPr/>
        </p:nvGraphicFramePr>
        <p:xfrm>
          <a:off x="548640" y="1508760"/>
          <a:ext cx="5852160" cy="3931920"/>
        </p:xfrm>
        <a:graphic xmlns:a="http://schemas.openxmlformats.org/drawingml/2006/main">
          <a:graphicData uri="http://schemas.openxmlformats.org/drawingml/2006/chart">
            <c:chart xmlns:c="http://schemas.openxmlformats.org/drawingml/2006/chart" r:id="rId1"/>
          </a:graphicData>
        </a:graphic>
      </p:graphicFrame>
      <p:sp>
        <p:nvSpPr>
          <p:cNvPr id="5" name="Hybrid note"/>
          <p:cNvSpPr txBox="1"/>
          <p:nvPr/>
        </p:nvSpPr>
        <p:spPr>
          <a:xfrm>
            <a:off x="548640" y="5532120"/>
            <a:ext cx="5852160" cy="640080"/>
          </a:xfrm>
          <a:prstGeom prst="rect">
            <a:avLst/>
          </a:prstGeom>
          <a:noFill/>
          <a:ln/>
        </p:spPr>
        <p:txBody>
          <a:bodyPr wrap="square" lIns="0" tIns="0" rIns="0" bIns="0" rtlCol="0" anchor="t"/>
          <a:lstStyle/>
          <a:p>
            <a:pPr indent="0" marL="0">
              <a:buNone/>
            </a:pPr>
            <a:r>
              <a:rPr lang="en-US" sz="1300" dirty="0">
                <a:solidFill>
                  <a:schemeClr val="tx1"/>
                </a:solidFill>
              </a:rPr>
              <a:t>Keyword search pushes wrong aids up when both count equally. Step 5 tests rerankers and a cheaper fix.</a:t>
            </a:r>
            <a:endParaRPr lang="en-US" sz="1300" dirty="0"/>
          </a:p>
        </p:txBody>
      </p:sp>
      <p:sp>
        <p:nvSpPr>
          <p:cNvPr id="6" name="Abstain card"/>
          <p:cNvSpPr/>
          <p:nvPr/>
        </p:nvSpPr>
        <p:spPr>
          <a:xfrm>
            <a:off x="6766560" y="1600200"/>
            <a:ext cx="4892040" cy="4572000"/>
          </a:xfrm>
          <a:prstGeom prst="roundRect">
            <a:avLst>
              <a:gd name="adj" fmla="val 2400"/>
            </a:avLst>
          </a:prstGeom>
          <a:solidFill>
            <a:schemeClr val="bg2"/>
          </a:solidFill>
          <a:ln w="22225">
            <a:solidFill>
              <a:schemeClr val="accent5"/>
            </a:solidFill>
            <a:prstDash val="solid"/>
          </a:ln>
        </p:spPr>
      </p:sp>
      <p:sp>
        <p:nvSpPr>
          <p:cNvPr id="7" name="Abstain title"/>
          <p:cNvSpPr txBox="1"/>
          <p:nvPr/>
        </p:nvSpPr>
        <p:spPr>
          <a:xfrm>
            <a:off x="6995160" y="1737360"/>
            <a:ext cx="4480560" cy="365760"/>
          </a:xfrm>
          <a:prstGeom prst="rect">
            <a:avLst/>
          </a:prstGeom>
          <a:noFill/>
          <a:ln/>
        </p:spPr>
        <p:txBody>
          <a:bodyPr wrap="square" lIns="0" tIns="0" rIns="0" bIns="0" rtlCol="0" anchor="ctr"/>
          <a:lstStyle/>
          <a:p>
            <a:pPr indent="0" marL="0">
              <a:buNone/>
            </a:pPr>
            <a:r>
              <a:rPr lang="en-US" sz="1700" b="1" dirty="0">
                <a:solidFill>
                  <a:schemeClr val="tx2"/>
                </a:solidFill>
              </a:rPr>
              <a:t>A lead for saying “I don't know”</a:t>
            </a:r>
            <a:endParaRPr lang="en-US" sz="1700" dirty="0"/>
          </a:p>
        </p:txBody>
      </p:sp>
      <p:sp>
        <p:nvSpPr>
          <p:cNvPr id="8" name="Abstain sub"/>
          <p:cNvSpPr txBox="1"/>
          <p:nvPr/>
        </p:nvSpPr>
        <p:spPr>
          <a:xfrm>
            <a:off x="6995160" y="2148840"/>
            <a:ext cx="4480560" cy="320040"/>
          </a:xfrm>
          <a:prstGeom prst="rect">
            <a:avLst/>
          </a:prstGeom>
          <a:noFill/>
          <a:ln/>
        </p:spPr>
        <p:txBody>
          <a:bodyPr wrap="square" lIns="0" tIns="0" rIns="0" bIns="0" rtlCol="0" anchor="ctr"/>
          <a:lstStyle/>
          <a:p>
            <a:pPr indent="0" marL="0">
              <a:buNone/>
            </a:pPr>
            <a:r>
              <a:rPr lang="en-US" sz="1200" dirty="0">
                <a:solidFill>
                  <a:schemeClr val="accent6"/>
                </a:solidFill>
              </a:rPr>
              <a:t>bge-m3's best match score, per question type</a:t>
            </a:r>
            <a:endParaRPr lang="en-US" sz="1200" dirty="0"/>
          </a:p>
        </p:txBody>
      </p:sp>
      <p:sp>
        <p:nvSpPr>
          <p:cNvPr id="9" name="Abstain stat 0"/>
          <p:cNvSpPr txBox="1"/>
          <p:nvPr/>
        </p:nvSpPr>
        <p:spPr>
          <a:xfrm>
            <a:off x="6995160" y="2606040"/>
            <a:ext cx="1737360" cy="640080"/>
          </a:xfrm>
          <a:prstGeom prst="rect">
            <a:avLst/>
          </a:prstGeom>
          <a:noFill/>
          <a:ln/>
        </p:spPr>
        <p:txBody>
          <a:bodyPr wrap="square" lIns="0" tIns="0" rIns="0" bIns="0" rtlCol="0" anchor="ctr"/>
          <a:lstStyle/>
          <a:p>
            <a:pPr indent="0" marL="0">
              <a:buNone/>
            </a:pPr>
            <a:r>
              <a:rPr lang="en-US" sz="3000" b="1" dirty="0">
                <a:solidFill>
                  <a:schemeClr val="accent1"/>
                </a:solidFill>
              </a:rPr>
              <a:t>≥ 0.617</a:t>
            </a:r>
            <a:endParaRPr lang="en-US" sz="3000" dirty="0"/>
          </a:p>
        </p:txBody>
      </p:sp>
      <p:sp>
        <p:nvSpPr>
          <p:cNvPr id="10" name="Abstain label 0"/>
          <p:cNvSpPr txBox="1"/>
          <p:nvPr/>
        </p:nvSpPr>
        <p:spPr>
          <a:xfrm>
            <a:off x="8778240" y="2606040"/>
            <a:ext cx="2697480" cy="640080"/>
          </a:xfrm>
          <a:prstGeom prst="rect">
            <a:avLst/>
          </a:prstGeom>
          <a:noFill/>
          <a:ln/>
        </p:spPr>
        <p:txBody>
          <a:bodyPr wrap="square" lIns="0" tIns="0" rIns="0" bIns="0" rtlCol="0" anchor="ctr"/>
          <a:lstStyle/>
          <a:p>
            <a:pPr indent="0" marL="0">
              <a:buNone/>
            </a:pPr>
            <a:r>
              <a:rPr lang="en-US" sz="1300" dirty="0">
                <a:solidFill>
                  <a:schemeClr val="tx1"/>
                </a:solidFill>
              </a:rPr>
              <a:t>questions we can answer (lowest seen)</a:t>
            </a:r>
            <a:endParaRPr lang="en-US" sz="1300" dirty="0"/>
          </a:p>
        </p:txBody>
      </p:sp>
      <p:sp>
        <p:nvSpPr>
          <p:cNvPr id="11" name="Abstain stat 1"/>
          <p:cNvSpPr txBox="1"/>
          <p:nvPr/>
        </p:nvSpPr>
        <p:spPr>
          <a:xfrm>
            <a:off x="6995160" y="3703320"/>
            <a:ext cx="1737360" cy="640080"/>
          </a:xfrm>
          <a:prstGeom prst="rect">
            <a:avLst/>
          </a:prstGeom>
          <a:noFill/>
          <a:ln/>
        </p:spPr>
        <p:txBody>
          <a:bodyPr wrap="square" lIns="0" tIns="0" rIns="0" bIns="0" rtlCol="0" anchor="ctr"/>
          <a:lstStyle/>
          <a:p>
            <a:pPr indent="0" marL="0">
              <a:buNone/>
            </a:pPr>
            <a:r>
              <a:rPr lang="en-US" sz="3000" b="1" dirty="0">
                <a:solidFill>
                  <a:schemeClr val="accent3"/>
                </a:solidFill>
              </a:rPr>
              <a:t>≤ 0.613</a:t>
            </a:r>
            <a:endParaRPr lang="en-US" sz="3000" dirty="0"/>
          </a:p>
        </p:txBody>
      </p:sp>
      <p:sp>
        <p:nvSpPr>
          <p:cNvPr id="12" name="Abstain label 1"/>
          <p:cNvSpPr txBox="1"/>
          <p:nvPr/>
        </p:nvSpPr>
        <p:spPr>
          <a:xfrm>
            <a:off x="8778240" y="3703320"/>
            <a:ext cx="2697480" cy="640080"/>
          </a:xfrm>
          <a:prstGeom prst="rect">
            <a:avLst/>
          </a:prstGeom>
          <a:noFill/>
          <a:ln/>
        </p:spPr>
        <p:txBody>
          <a:bodyPr wrap="square" lIns="0" tIns="0" rIns="0" bIns="0" rtlCol="0" anchor="ctr"/>
          <a:lstStyle/>
          <a:p>
            <a:pPr indent="0" marL="0">
              <a:buNone/>
            </a:pPr>
            <a:r>
              <a:rPr lang="en-US" sz="1300" dirty="0">
                <a:solidFill>
                  <a:schemeClr val="tx1"/>
                </a:solidFill>
              </a:rPr>
              <a:t>questions with no answer in our data (highest seen)</a:t>
            </a:r>
            <a:endParaRPr lang="en-US" sz="1300" dirty="0"/>
          </a:p>
        </p:txBody>
      </p:sp>
      <p:sp>
        <p:nvSpPr>
          <p:cNvPr id="13" name="Abstain caution"/>
          <p:cNvSpPr txBox="1"/>
          <p:nvPr/>
        </p:nvSpPr>
        <p:spPr>
          <a:xfrm>
            <a:off x="6995160" y="4846320"/>
            <a:ext cx="4480560" cy="1188720"/>
          </a:xfrm>
          <a:prstGeom prst="rect">
            <a:avLst/>
          </a:prstGeom>
          <a:noFill/>
          <a:ln/>
        </p:spPr>
        <p:txBody>
          <a:bodyPr wrap="square" lIns="0" tIns="0" rIns="0" bIns="0" rtlCol="0" anchor="t"/>
          <a:lstStyle/>
          <a:p>
            <a:pPr indent="0" marL="0">
              <a:buNone/>
            </a:pPr>
            <a:r>
              <a:rPr lang="en-US" sz="1300" b="1" dirty="0">
                <a:solidFill>
                  <a:schemeClr val="accent2"/>
                </a:solidFill>
              </a:rPr>
              <a:t>Caution: </a:t>
            </a:r>
            <a:pPr indent="0" marL="0">
              <a:buNone/>
            </a:pPr>
            <a:r>
              <a:rPr lang="en-US" sz="1300" dirty="0">
                <a:solidFill>
                  <a:schemeClr val="tx1"/>
                </a:solidFill>
              </a:rPr>
              <a:t>based on only 3 “not in our data” questions, with a 0.004 gap. A promising threshold, not a rule yet. The e5 models mix the two groups up completely.</a:t>
            </a:r>
            <a:endParaRPr lang="en-US" sz="1300" dirty="0"/>
          </a:p>
        </p:txBody>
      </p:sp>
      <p:sp>
        <p:nvSpPr>
          <p:cNvPr id="14" name="Hybrid footnote"/>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Source: eval/retrieval_dense.json. Top-5 recall is unaffected: hybrid finds the right aid in the top 5 for 17/17 dev and 15/16 held-out questions.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685800"/>
          </a:xfrm>
          <a:prstGeom prst="rect">
            <a:avLst/>
          </a:prstGeom>
          <a:noFill/>
          <a:ln/>
        </p:spPr>
        <p:txBody>
          <a:bodyPr wrap="square" lIns="0" tIns="0" rIns="0" bIns="0" rtlCol="0" anchor="ctr"/>
          <a:lstStyle/>
          <a:p>
            <a:pPr algn="l" indent="0" marL="0">
              <a:buNone/>
            </a:pPr>
            <a:r>
              <a:rPr lang="en-US" sz="3000" b="1" dirty="0">
                <a:solidFill>
                  <a:schemeClr val="tx2"/>
                </a:solidFill>
              </a:rPr>
              <a:t>Step 5 · Reranking tested: a free setting wins</a:t>
            </a:r>
            <a:endParaRPr lang="en-US" sz="3000" dirty="0"/>
          </a:p>
        </p:txBody>
      </p:sp>
      <p:sp>
        <p:nvSpPr>
          <p:cNvPr id="3" name="Rerank subtitle"/>
          <p:cNvSpPr txBox="1"/>
          <p:nvPr/>
        </p:nvSpPr>
        <p:spPr>
          <a:xfrm>
            <a:off x="548640" y="1005840"/>
            <a:ext cx="11064240" cy="320040"/>
          </a:xfrm>
          <a:prstGeom prst="rect">
            <a:avLst/>
          </a:prstGeom>
          <a:noFill/>
          <a:ln/>
        </p:spPr>
        <p:txBody>
          <a:bodyPr wrap="square" lIns="0" tIns="0" rIns="0" bIns="0" rtlCol="0" anchor="ctr"/>
          <a:lstStyle/>
          <a:p>
            <a:pPr indent="0" marL="0">
              <a:buNone/>
            </a:pPr>
            <a:r>
              <a:rPr lang="en-US" sz="1400" dirty="0">
                <a:solidFill>
                  <a:schemeClr val="accent6"/>
                </a:solidFill>
              </a:rPr>
              <a:t>A reranker re-reads question + candidate side by side. We measured 2 rerankers and 1 free setting that needs no model</a:t>
            </a:r>
            <a:endParaRPr lang="en-US" sz="1400" dirty="0"/>
          </a:p>
        </p:txBody>
      </p:sp>
      <p:graphicFrame>
        <p:nvGraphicFramePr>
          <p:cNvPr id="4" name="Rerank chart" descr=""/>
          <p:cNvGraphicFramePr/>
          <p:nvPr/>
        </p:nvGraphicFramePr>
        <p:xfrm>
          <a:off x="548640" y="1508760"/>
          <a:ext cx="658368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13" name="Rerank table"/>
          <p:cNvGraphicFramePr>
            <a:graphicFrameLocks noGrp="1"/>
          </p:cNvGraphicFramePr>
          <p:nvPr>
            <p:extLst>
              <p:ext uri="{D42A27DB-BD31-4B8C-83A1-F6EECF244321}">
                <p14:modId xmlns:p14="http://schemas.microsoft.com/office/powerpoint/2010/main" val="1579011935"/>
              </p:ext>
            </p:extLst>
          </p:nvPr>
        </p:nvGraphicFramePr>
        <p:xfrm>
          <a:off x="7452360" y="1600200"/>
          <a:ext cx="4206240" cy="914400"/>
        </p:xfrm>
        <a:graphic>
          <a:graphicData uri="http://schemas.openxmlformats.org/drawingml/2006/table">
            <a:tbl>
              <a:tblPr/>
              <a:tblGrid>
                <a:gridCol w="2651760"/>
                <a:gridCol w="1554480"/>
              </a:tblGrid>
              <a:tr h="384048">
                <a:tc>
                  <a:txBody>
                    <a:bodyPr/>
                    <a:lstStyle/>
                    <a:p>
                      <a:pPr indent="0" marL="0">
                        <a:buNone/>
                      </a:pPr>
                      <a:r>
                        <a:rPr lang="en-US" sz="1300" b="1" dirty="0">
                          <a:solidFill>
                            <a:schemeClr val="bg1"/>
                          </a:solidFill>
                        </a:rPr>
                        <a:t>Option</a:t>
                      </a:r>
                      <a:endParaRPr lang="en-US" sz="1300" dirty="0"/>
                    </a:p>
                  </a:txBody>
                  <a:tcPr marL="54864" marR="54864"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Extra time / question</a:t>
                      </a:r>
                      <a:endParaRPr lang="en-US" sz="1300" dirty="0"/>
                    </a:p>
                  </a:txBody>
                  <a:tcPr marL="54864" marR="54864"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r>
              <a:tr h="384048">
                <a:tc>
                  <a:txBody>
                    <a:bodyPr/>
                    <a:lstStyle/>
                    <a:p>
                      <a:pPr indent="0" marL="0">
                        <a:buNone/>
                      </a:pPr>
                      <a:r>
                        <a:rPr lang="en-US" sz="1300" dirty="0">
                          <a:solidFill>
                            <a:schemeClr val="tx1"/>
                          </a:solidFill>
                        </a:rPr>
                        <a:t>+ mMiniLM reranker (0.5 GB)</a:t>
                      </a:r>
                      <a:endParaRPr lang="en-US" sz="1300" dirty="0"/>
                    </a:p>
                  </a:txBody>
                  <a:tcPr marL="54864" marR="54864"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+2.6 s</a:t>
                      </a:r>
                      <a:endParaRPr lang="en-US" sz="1300" dirty="0"/>
                    </a:p>
                  </a:txBody>
                  <a:tcPr marL="54864" marR="54864"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rPr>
                        <a:t>+ bge-reranker (2.3 GB)</a:t>
                      </a:r>
                      <a:endParaRPr lang="en-US" sz="1300" dirty="0"/>
                    </a:p>
                  </a:txBody>
                  <a:tcPr marL="54864" marR="54864"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+19.4 s</a:t>
                      </a:r>
                      <a:endParaRPr lang="en-US" sz="1300" dirty="0"/>
                    </a:p>
                  </a:txBody>
                  <a:tcPr marL="54864" marR="54864"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tx1"/>
                          </a:solidFill>
                        </a:rPr>
                        <a:t>Meaning ×3 (a setting)</a:t>
                      </a:r>
                      <a:endParaRPr lang="en-US" sz="1300" dirty="0"/>
                    </a:p>
                  </a:txBody>
                  <a:tcPr marL="54864" marR="54864"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0 s</a:t>
                      </a:r>
                      <a:endParaRPr lang="en-US" sz="1300" dirty="0"/>
                    </a:p>
                  </a:txBody>
                  <a:tcPr marL="54864" marR="54864"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bl>
          </a:graphicData>
        </a:graphic>
      </p:graphicFrame>
      <p:sp>
        <p:nvSpPr>
          <p:cNvPr id="6" name="Rerank decision"/>
          <p:cNvSpPr/>
          <p:nvPr/>
        </p:nvSpPr>
        <p:spPr>
          <a:xfrm>
            <a:off x="7452360" y="3429000"/>
            <a:ext cx="4206240" cy="2286000"/>
          </a:xfrm>
          <a:prstGeom prst="roundRect">
            <a:avLst>
              <a:gd name="adj" fmla="val 4800"/>
            </a:avLst>
          </a:prstGeom>
          <a:solidFill>
            <a:schemeClr val="bg2"/>
          </a:solidFill>
          <a:ln w="22225">
            <a:solidFill>
              <a:schemeClr val="accent1"/>
            </a:solidFill>
            <a:prstDash val="solid"/>
          </a:ln>
        </p:spPr>
      </p:sp>
      <p:sp>
        <p:nvSpPr>
          <p:cNvPr id="7" name="Rerank decision text"/>
          <p:cNvSpPr txBox="1"/>
          <p:nvPr/>
        </p:nvSpPr>
        <p:spPr>
          <a:xfrm>
            <a:off x="7635240" y="3474720"/>
            <a:ext cx="3886200" cy="2194560"/>
          </a:xfrm>
          <a:prstGeom prst="rect">
            <a:avLst/>
          </a:prstGeom>
          <a:noFill/>
          <a:ln/>
        </p:spPr>
        <p:txBody>
          <a:bodyPr wrap="square" lIns="0" tIns="0" rIns="0" bIns="0" rtlCol="0" anchor="ctr"/>
          <a:lstStyle/>
          <a:p>
            <a:pPr indent="0" marL="0">
              <a:buNone/>
            </a:pPr>
            <a:r>
              <a:rPr lang="en-US" sz="1300" b="1" dirty="0">
                <a:solidFill>
                  <a:schemeClr val="accent1"/>
                </a:solidFill>
              </a:rPr>
              <a:t>Decision: </a:t>
            </a:r>
            <a:pPr indent="0" marL="0">
              <a:buNone/>
            </a:pPr>
            <a:r>
              <a:rPr lang="en-US" sz="1300" dirty="0">
                <a:solidFill>
                  <a:schemeClr val="tx1"/>
                </a:solidFill>
              </a:rPr>
              <a:t>default = hybrid with meaning ×3. bge-reranker stays as an on/off option: built and measured, off on a laptop CPU. Picked on dev with a rule fixed in advance; held-out only checked after.</a:t>
            </a:r>
            <a:endParaRPr lang="en-US" sz="1300" dirty="0"/>
          </a:p>
        </p:txBody>
      </p:sp>
      <p:sp>
        <p:nvSpPr>
          <p:cNvPr id="8" name="Rerank tradeoff"/>
          <p:cNvSpPr txBox="1"/>
          <p:nvPr/>
        </p:nvSpPr>
        <p:spPr>
          <a:xfrm>
            <a:off x="548640" y="5806440"/>
            <a:ext cx="11109960" cy="365760"/>
          </a:xfrm>
          <a:prstGeom prst="rect">
            <a:avLst/>
          </a:prstGeom>
          <a:noFill/>
          <a:ln/>
        </p:spPr>
        <p:txBody>
          <a:bodyPr wrap="square" lIns="0" tIns="0" rIns="0" bIns="0" rtlCol="0" anchor="ctr"/>
          <a:lstStyle/>
          <a:p>
            <a:pPr indent="0" marL="0">
              <a:buNone/>
            </a:pPr>
            <a:r>
              <a:rPr lang="en-US" sz="1300" i="1" dirty="0">
                <a:solidFill>
                  <a:schemeClr val="tx1"/>
                </a:solidFill>
              </a:rPr>
              <a:t>This is the brief's “cost/latency trade-off”: +6 points on dev, +0 on held-out, for +19 s per question.</a:t>
            </a:r>
            <a:endParaRPr lang="en-US" sz="1300" dirty="0"/>
          </a:p>
        </p:txBody>
      </p:sp>
      <p:sp>
        <p:nvSpPr>
          <p:cNvPr id="9" name="Rerank footnote"/>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Source: eval/retrieval_rerank.json, eval/retrieval_fusion.json. Rerankers re-sort the top 10 pieces. No model was trained: all are ready-made and only measured.</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685800"/>
          </a:xfrm>
          <a:prstGeom prst="rect">
            <a:avLst/>
          </a:prstGeom>
          <a:noFill/>
          <a:ln/>
        </p:spPr>
        <p:txBody>
          <a:bodyPr wrap="square" lIns="0" tIns="0" rIns="0" bIns="0" rtlCol="0" anchor="ctr"/>
          <a:lstStyle/>
          <a:p>
            <a:pPr algn="l" indent="0" marL="0">
              <a:buNone/>
            </a:pPr>
            <a:r>
              <a:rPr lang="en-US" sz="3000" b="1" dirty="0">
                <a:solidFill>
                  <a:schemeClr val="tx2"/>
                </a:solidFill>
              </a:rPr>
              <a:t>Decision log: what we chose, and the evidence</a:t>
            </a:r>
            <a:endParaRPr lang="en-US" sz="3000" dirty="0"/>
          </a:p>
        </p:txBody>
      </p:sp>
      <p:sp>
        <p:nvSpPr>
          <p:cNvPr id="3" name="Decision subtitle"/>
          <p:cNvSpPr txBox="1"/>
          <p:nvPr/>
        </p:nvSpPr>
        <p:spPr>
          <a:xfrm>
            <a:off x="548640" y="1005840"/>
            <a:ext cx="11064240" cy="320040"/>
          </a:xfrm>
          <a:prstGeom prst="rect">
            <a:avLst/>
          </a:prstGeom>
          <a:noFill/>
          <a:ln/>
        </p:spPr>
        <p:txBody>
          <a:bodyPr wrap="square" lIns="0" tIns="0" rIns="0" bIns="0" rtlCol="0" anchor="ctr"/>
          <a:lstStyle/>
          <a:p>
            <a:pPr indent="0" marL="0">
              <a:buNone/>
            </a:pPr>
            <a:r>
              <a:rPr lang="en-US" sz="1400" dirty="0">
                <a:solidFill>
                  <a:schemeClr val="accent6"/>
                </a:solidFill>
              </a:rPr>
              <a:t>Every row can be defended in the Q&amp;A with a number or a rule from the brief</a:t>
            </a:r>
            <a:endParaRPr lang="en-US" sz="1400" dirty="0"/>
          </a:p>
        </p:txBody>
      </p:sp>
      <p:graphicFrame>
        <p:nvGraphicFramePr>
          <p:cNvPr id="14" name="Decision table"/>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2331720"/>
                <a:gridCol w="3291840"/>
                <a:gridCol w="4434840"/>
                <a:gridCol w="1051560"/>
              </a:tblGrid>
              <a:tr h="475488">
                <a:tc>
                  <a:txBody>
                    <a:bodyPr/>
                    <a:lstStyle/>
                    <a:p>
                      <a:pPr indent="0" marL="0">
                        <a:buNone/>
                      </a:pPr>
                      <a:r>
                        <a:rPr lang="en-US" sz="1300" b="1" dirty="0">
                          <a:solidFill>
                            <a:schemeClr val="bg1"/>
                          </a:solidFill>
                        </a:rPr>
                        <a:t>Question</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Choice</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Why / evidence</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Status</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r>
              <a:tr h="475488">
                <a:tc>
                  <a:txBody>
                    <a:bodyPr/>
                    <a:lstStyle/>
                    <a:p>
                      <a:pPr indent="0" marL="0">
                        <a:buNone/>
                      </a:pPr>
                      <a:r>
                        <a:rPr lang="en-US" sz="1300" dirty="0">
                          <a:solidFill>
                            <a:schemeClr val="tx1"/>
                          </a:solidFill>
                        </a:rPr>
                        <a:t>How to cut the aids?</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 aid = 1 piece; long aids split by section</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Fits 300–800 tokens; 40 samples read by hand</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Done</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rPr>
                        <a:t>Header on each piece?</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Yes: name, type, region, funder, deadline</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Top-5 recall 77% → 100% on dev</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Done</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rPr>
                        <a:t>Keyword engine</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BM25 with French word roots</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Required by the brief; strong on names and codes</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Done</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rPr>
                        <a:t>How to test fairly?</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40 questions: 20 dev + 20 held-out</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Brief requires a held-out set; no shared aid</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Done</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rPr>
                        <a:t>Meaning model</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bge-m3</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Rank-1: 91% dev / 88% held-out vs ≤ 75% for others</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Done</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rPr>
                        <a:t>How to merge both lists?</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Rank fusion, meaning counts ×3</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Rank-1 held-out 75% → 88%, at zero cost; picked on dev</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Done</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rPr>
                        <a:t>Model files</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Pinned versions, kept out of git</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Reproducible; repo stays small</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Done</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rPr>
                        <a:t>Reranker</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bge-reranker as an option, off by default</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 held-out for +19 s per question on CPU; mMiniLM made it worse</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Done</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bl>
          </a:graphicData>
        </a:graphic>
      </p:graphicFrame>
      <p:sp>
        <p:nvSpPr>
          <p:cNvPr id="5" name="Decision footnote"/>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Earlier decisions (use case, 504-aid subset, git rules) are on slides 2–3.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685800"/>
          </a:xfrm>
          <a:prstGeom prst="rect">
            <a:avLst/>
          </a:prstGeom>
          <a:noFill/>
          <a:ln/>
        </p:spPr>
        <p:txBody>
          <a:bodyPr wrap="square" lIns="0" tIns="0" rIns="0" bIns="0" rtlCol="0" anchor="ctr"/>
          <a:lstStyle/>
          <a:p>
            <a:pPr algn="l" indent="0" marL="0">
              <a:buNone/>
            </a:pPr>
            <a:r>
              <a:rPr lang="en-US" sz="3000" b="1" dirty="0">
                <a:solidFill>
                  <a:schemeClr val="tx2"/>
                </a:solidFill>
              </a:rPr>
              <a:t>How we work: 8 pull requests, 35 automated checks</a:t>
            </a:r>
            <a:endParaRPr lang="en-US" sz="3000" dirty="0"/>
          </a:p>
        </p:txBody>
      </p:sp>
      <p:sp>
        <p:nvSpPr>
          <p:cNvPr id="3" name="Work subtitle"/>
          <p:cNvSpPr txBox="1"/>
          <p:nvPr/>
        </p:nvSpPr>
        <p:spPr>
          <a:xfrm>
            <a:off x="548640" y="1005840"/>
            <a:ext cx="11064240" cy="320040"/>
          </a:xfrm>
          <a:prstGeom prst="rect">
            <a:avLst/>
          </a:prstGeom>
          <a:noFill/>
          <a:ln/>
        </p:spPr>
        <p:txBody>
          <a:bodyPr wrap="square" lIns="0" tIns="0" rIns="0" bIns="0" rtlCol="0" anchor="ctr"/>
          <a:lstStyle/>
          <a:p>
            <a:pPr indent="0" marL="0">
              <a:buNone/>
            </a:pPr>
            <a:r>
              <a:rPr lang="en-US" sz="1400" dirty="0">
                <a:solidFill>
                  <a:schemeClr val="accent6"/>
                </a:solidFill>
              </a:rPr>
              <a:t>Every change goes through a pull request (PR): a proposal that a teammate reviews before it joins main</a:t>
            </a:r>
            <a:endParaRPr lang="en-US" sz="1400" dirty="0"/>
          </a:p>
        </p:txBody>
      </p:sp>
      <p:sp>
        <p:nvSpPr>
          <p:cNvPr id="4" name="PR legend dot Merged"/>
          <p:cNvSpPr/>
          <p:nvPr/>
        </p:nvSpPr>
        <p:spPr>
          <a:xfrm>
            <a:off x="10012680" y="429768"/>
            <a:ext cx="137160" cy="137160"/>
          </a:xfrm>
          <a:prstGeom prst="ellipse">
            <a:avLst/>
          </a:prstGeom>
          <a:solidFill>
            <a:schemeClr val="accent1"/>
          </a:solidFill>
          <a:ln w="12700">
            <a:solidFill>
              <a:schemeClr val="accent1"/>
            </a:solidFill>
            <a:prstDash val="solid"/>
          </a:ln>
        </p:spPr>
      </p:sp>
      <p:sp>
        <p:nvSpPr>
          <p:cNvPr id="5" name="PR legend Merged"/>
          <p:cNvSpPr txBox="1"/>
          <p:nvPr/>
        </p:nvSpPr>
        <p:spPr>
          <a:xfrm>
            <a:off x="10222992" y="384048"/>
            <a:ext cx="1737360" cy="228600"/>
          </a:xfrm>
          <a:prstGeom prst="rect">
            <a:avLst/>
          </a:prstGeom>
          <a:noFill/>
          <a:ln/>
        </p:spPr>
        <p:txBody>
          <a:bodyPr wrap="square" lIns="0" tIns="0" rIns="0" bIns="0" rtlCol="0" anchor="ctr"/>
          <a:lstStyle/>
          <a:p>
            <a:pPr indent="0" marL="0">
              <a:buNone/>
            </a:pPr>
            <a:r>
              <a:rPr lang="en-US" sz="1200" dirty="0">
                <a:solidFill>
                  <a:schemeClr val="tx1"/>
                </a:solidFill>
              </a:rPr>
              <a:t>Merged</a:t>
            </a:r>
            <a:endParaRPr lang="en-US" sz="1200" dirty="0"/>
          </a:p>
        </p:txBody>
      </p:sp>
      <p:sp>
        <p:nvSpPr>
          <p:cNvPr id="6" name="PR legend dot Open"/>
          <p:cNvSpPr/>
          <p:nvPr/>
        </p:nvSpPr>
        <p:spPr>
          <a:xfrm>
            <a:off x="10012680" y="676656"/>
            <a:ext cx="137160" cy="137160"/>
          </a:xfrm>
          <a:prstGeom prst="ellipse">
            <a:avLst/>
          </a:prstGeom>
          <a:solidFill>
            <a:schemeClr val="accent2"/>
          </a:solidFill>
          <a:ln w="12700">
            <a:solidFill>
              <a:schemeClr val="accent2"/>
            </a:solidFill>
            <a:prstDash val="solid"/>
          </a:ln>
        </p:spPr>
      </p:sp>
      <p:sp>
        <p:nvSpPr>
          <p:cNvPr id="7" name="PR legend Open"/>
          <p:cNvSpPr txBox="1"/>
          <p:nvPr/>
        </p:nvSpPr>
        <p:spPr>
          <a:xfrm>
            <a:off x="10222992" y="630936"/>
            <a:ext cx="1737360" cy="228600"/>
          </a:xfrm>
          <a:prstGeom prst="rect">
            <a:avLst/>
          </a:prstGeom>
          <a:noFill/>
          <a:ln/>
        </p:spPr>
        <p:txBody>
          <a:bodyPr wrap="square" lIns="0" tIns="0" rIns="0" bIns="0" rtlCol="0" anchor="ctr"/>
          <a:lstStyle/>
          <a:p>
            <a:pPr indent="0" marL="0">
              <a:buNone/>
            </a:pPr>
            <a:r>
              <a:rPr lang="en-US" sz="1200" dirty="0">
                <a:solidFill>
                  <a:schemeClr val="tx1"/>
                </a:solidFill>
              </a:rPr>
              <a:t>Open</a:t>
            </a:r>
            <a:endParaRPr lang="en-US" sz="1200" dirty="0"/>
          </a:p>
        </p:txBody>
      </p:sp>
      <p:sp>
        <p:nvSpPr>
          <p:cNvPr id="8" name="PR line"/>
          <p:cNvSpPr/>
          <p:nvPr/>
        </p:nvSpPr>
        <p:spPr>
          <a:xfrm>
            <a:off x="914400" y="2240280"/>
            <a:ext cx="10332720" cy="0"/>
          </a:xfrm>
          <a:prstGeom prst="line">
            <a:avLst/>
          </a:prstGeom>
          <a:noFill/>
          <a:ln w="25400">
            <a:solidFill>
              <a:schemeClr val="accent4"/>
            </a:solidFill>
            <a:prstDash val="solid"/>
          </a:ln>
        </p:spPr>
      </p:sp>
      <p:sp>
        <p:nvSpPr>
          <p:cNvPr id="9" name="PR node #1"/>
          <p:cNvSpPr/>
          <p:nvPr/>
        </p:nvSpPr>
        <p:spPr>
          <a:xfrm>
            <a:off x="640080" y="1965960"/>
            <a:ext cx="548640" cy="548640"/>
          </a:xfrm>
          <a:prstGeom prst="ellipse">
            <a:avLst/>
          </a:prstGeom>
          <a:solidFill>
            <a:schemeClr val="accent1"/>
          </a:solidFill>
          <a:ln w="12700">
            <a:solidFill>
              <a:schemeClr val="accent1"/>
            </a:solidFill>
            <a:prstDash val="solid"/>
          </a:ln>
        </p:spPr>
      </p:sp>
      <p:sp>
        <p:nvSpPr>
          <p:cNvPr id="10" name="PR num #1"/>
          <p:cNvSpPr txBox="1"/>
          <p:nvPr/>
        </p:nvSpPr>
        <p:spPr>
          <a:xfrm>
            <a:off x="640080" y="1965960"/>
            <a:ext cx="548640" cy="54864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1" name="PR name #1"/>
          <p:cNvSpPr txBox="1"/>
          <p:nvPr/>
        </p:nvSpPr>
        <p:spPr>
          <a:xfrm>
            <a:off x="274320" y="2606040"/>
            <a:ext cx="1280160" cy="548640"/>
          </a:xfrm>
          <a:prstGeom prst="rect">
            <a:avLst/>
          </a:prstGeom>
          <a:noFill/>
          <a:ln/>
        </p:spPr>
        <p:txBody>
          <a:bodyPr wrap="square" lIns="0" tIns="0" rIns="0" bIns="0" rtlCol="0" anchor="t"/>
          <a:lstStyle/>
          <a:p>
            <a:pPr algn="ctr" indent="0" marL="0">
              <a:buNone/>
            </a:pPr>
            <a:r>
              <a:rPr lang="en-US" sz="1200" b="1" dirty="0">
                <a:solidFill>
                  <a:schemeClr val="tx1"/>
                </a:solidFill>
              </a:rPr>
              <a:t>Data source &amp; licence</a:t>
            </a:r>
            <a:endParaRPr lang="en-US" sz="1200" dirty="0"/>
          </a:p>
        </p:txBody>
      </p:sp>
      <p:sp>
        <p:nvSpPr>
          <p:cNvPr id="12" name="PR node #2"/>
          <p:cNvSpPr/>
          <p:nvPr/>
        </p:nvSpPr>
        <p:spPr>
          <a:xfrm>
            <a:off x="2116183" y="1965960"/>
            <a:ext cx="548640" cy="548640"/>
          </a:xfrm>
          <a:prstGeom prst="ellipse">
            <a:avLst/>
          </a:prstGeom>
          <a:solidFill>
            <a:schemeClr val="accent1"/>
          </a:solidFill>
          <a:ln w="12700">
            <a:solidFill>
              <a:schemeClr val="accent1"/>
            </a:solidFill>
            <a:prstDash val="solid"/>
          </a:ln>
        </p:spPr>
      </p:sp>
      <p:sp>
        <p:nvSpPr>
          <p:cNvPr id="13" name="PR num #2"/>
          <p:cNvSpPr txBox="1"/>
          <p:nvPr/>
        </p:nvSpPr>
        <p:spPr>
          <a:xfrm>
            <a:off x="2116183" y="1965960"/>
            <a:ext cx="548640" cy="54864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4" name="PR name #2"/>
          <p:cNvSpPr txBox="1"/>
          <p:nvPr/>
        </p:nvSpPr>
        <p:spPr>
          <a:xfrm>
            <a:off x="1750423" y="2606040"/>
            <a:ext cx="1280160" cy="548640"/>
          </a:xfrm>
          <a:prstGeom prst="rect">
            <a:avLst/>
          </a:prstGeom>
          <a:noFill/>
          <a:ln/>
        </p:spPr>
        <p:txBody>
          <a:bodyPr wrap="square" lIns="0" tIns="0" rIns="0" bIns="0" rtlCol="0" anchor="t"/>
          <a:lstStyle/>
          <a:p>
            <a:pPr algn="ctr" indent="0" marL="0">
              <a:buNone/>
            </a:pPr>
            <a:r>
              <a:rPr lang="en-US" sz="1200" b="1" dirty="0">
                <a:solidFill>
                  <a:schemeClr val="tx1"/>
                </a:solidFill>
              </a:rPr>
              <a:t>Dashboard &amp; slides</a:t>
            </a:r>
            <a:endParaRPr lang="en-US" sz="1200" dirty="0"/>
          </a:p>
        </p:txBody>
      </p:sp>
      <p:sp>
        <p:nvSpPr>
          <p:cNvPr id="15" name="PR node #3"/>
          <p:cNvSpPr/>
          <p:nvPr/>
        </p:nvSpPr>
        <p:spPr>
          <a:xfrm>
            <a:off x="3592286" y="1965960"/>
            <a:ext cx="548640" cy="548640"/>
          </a:xfrm>
          <a:prstGeom prst="ellipse">
            <a:avLst/>
          </a:prstGeom>
          <a:solidFill>
            <a:schemeClr val="accent1"/>
          </a:solidFill>
          <a:ln w="12700">
            <a:solidFill>
              <a:schemeClr val="accent1"/>
            </a:solidFill>
            <a:prstDash val="solid"/>
          </a:ln>
        </p:spPr>
      </p:sp>
      <p:sp>
        <p:nvSpPr>
          <p:cNvPr id="16" name="PR num #3"/>
          <p:cNvSpPr txBox="1"/>
          <p:nvPr/>
        </p:nvSpPr>
        <p:spPr>
          <a:xfrm>
            <a:off x="3592286" y="1965960"/>
            <a:ext cx="548640" cy="54864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7" name="PR name #3"/>
          <p:cNvSpPr txBox="1"/>
          <p:nvPr/>
        </p:nvSpPr>
        <p:spPr>
          <a:xfrm>
            <a:off x="3226526" y="2606040"/>
            <a:ext cx="1280160" cy="548640"/>
          </a:xfrm>
          <a:prstGeom prst="rect">
            <a:avLst/>
          </a:prstGeom>
          <a:noFill/>
          <a:ln/>
        </p:spPr>
        <p:txBody>
          <a:bodyPr wrap="square" lIns="0" tIns="0" rIns="0" bIns="0" rtlCol="0" anchor="t"/>
          <a:lstStyle/>
          <a:p>
            <a:pPr algn="ctr" indent="0" marL="0">
              <a:buNone/>
            </a:pPr>
            <a:r>
              <a:rPr lang="en-US" sz="1200" b="1" dirty="0">
                <a:solidFill>
                  <a:schemeClr val="tx1"/>
                </a:solidFill>
              </a:rPr>
              <a:t>Exploration notebook</a:t>
            </a:r>
            <a:endParaRPr lang="en-US" sz="1200" dirty="0"/>
          </a:p>
        </p:txBody>
      </p:sp>
      <p:sp>
        <p:nvSpPr>
          <p:cNvPr id="18" name="PR node #4"/>
          <p:cNvSpPr/>
          <p:nvPr/>
        </p:nvSpPr>
        <p:spPr>
          <a:xfrm>
            <a:off x="5068389" y="1965960"/>
            <a:ext cx="548640" cy="548640"/>
          </a:xfrm>
          <a:prstGeom prst="ellipse">
            <a:avLst/>
          </a:prstGeom>
          <a:solidFill>
            <a:schemeClr val="accent1"/>
          </a:solidFill>
          <a:ln w="12700">
            <a:solidFill>
              <a:schemeClr val="accent1"/>
            </a:solidFill>
            <a:prstDash val="solid"/>
          </a:ln>
        </p:spPr>
      </p:sp>
      <p:sp>
        <p:nvSpPr>
          <p:cNvPr id="19" name="PR num #4"/>
          <p:cNvSpPr txBox="1"/>
          <p:nvPr/>
        </p:nvSpPr>
        <p:spPr>
          <a:xfrm>
            <a:off x="5068389" y="1965960"/>
            <a:ext cx="548640" cy="54864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0" name="PR name #4"/>
          <p:cNvSpPr txBox="1"/>
          <p:nvPr/>
        </p:nvSpPr>
        <p:spPr>
          <a:xfrm>
            <a:off x="4702629" y="2606040"/>
            <a:ext cx="1280160" cy="548640"/>
          </a:xfrm>
          <a:prstGeom prst="rect">
            <a:avLst/>
          </a:prstGeom>
          <a:noFill/>
          <a:ln/>
        </p:spPr>
        <p:txBody>
          <a:bodyPr wrap="square" lIns="0" tIns="0" rIns="0" bIns="0" rtlCol="0" anchor="t"/>
          <a:lstStyle/>
          <a:p>
            <a:pPr algn="ctr" indent="0" marL="0">
              <a:buNone/>
            </a:pPr>
            <a:r>
              <a:rPr lang="en-US" sz="1200" b="1" dirty="0">
                <a:solidFill>
                  <a:schemeClr val="tx1"/>
                </a:solidFill>
              </a:rPr>
              <a:t>Pieces + keyword search</a:t>
            </a:r>
            <a:endParaRPr lang="en-US" sz="1200" dirty="0"/>
          </a:p>
        </p:txBody>
      </p:sp>
      <p:sp>
        <p:nvSpPr>
          <p:cNvPr id="21" name="PR node #5"/>
          <p:cNvSpPr/>
          <p:nvPr/>
        </p:nvSpPr>
        <p:spPr>
          <a:xfrm>
            <a:off x="6544491" y="1965960"/>
            <a:ext cx="548640" cy="548640"/>
          </a:xfrm>
          <a:prstGeom prst="ellipse">
            <a:avLst/>
          </a:prstGeom>
          <a:solidFill>
            <a:schemeClr val="accent1"/>
          </a:solidFill>
          <a:ln w="12700">
            <a:solidFill>
              <a:schemeClr val="accent1"/>
            </a:solidFill>
            <a:prstDash val="solid"/>
          </a:ln>
        </p:spPr>
      </p:sp>
      <p:sp>
        <p:nvSpPr>
          <p:cNvPr id="22" name="PR num #5"/>
          <p:cNvSpPr txBox="1"/>
          <p:nvPr/>
        </p:nvSpPr>
        <p:spPr>
          <a:xfrm>
            <a:off x="6544491" y="1965960"/>
            <a:ext cx="548640" cy="54864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3" name="PR name #5"/>
          <p:cNvSpPr txBox="1"/>
          <p:nvPr/>
        </p:nvSpPr>
        <p:spPr>
          <a:xfrm>
            <a:off x="6178731" y="2606040"/>
            <a:ext cx="1280160" cy="548640"/>
          </a:xfrm>
          <a:prstGeom prst="rect">
            <a:avLst/>
          </a:prstGeom>
          <a:noFill/>
          <a:ln/>
        </p:spPr>
        <p:txBody>
          <a:bodyPr wrap="square" lIns="0" tIns="0" rIns="0" bIns="0" rtlCol="0" anchor="t"/>
          <a:lstStyle/>
          <a:p>
            <a:pPr algn="ctr" indent="0" marL="0">
              <a:buNone/>
            </a:pPr>
            <a:r>
              <a:rPr lang="en-US" sz="1200" b="1" dirty="0">
                <a:solidFill>
                  <a:schemeClr val="tx1"/>
                </a:solidFill>
              </a:rPr>
              <a:t>20 held-out questions</a:t>
            </a:r>
            <a:endParaRPr lang="en-US" sz="1200" dirty="0"/>
          </a:p>
        </p:txBody>
      </p:sp>
      <p:sp>
        <p:nvSpPr>
          <p:cNvPr id="24" name="PR node #6"/>
          <p:cNvSpPr/>
          <p:nvPr/>
        </p:nvSpPr>
        <p:spPr>
          <a:xfrm>
            <a:off x="8020594" y="1965960"/>
            <a:ext cx="548640" cy="548640"/>
          </a:xfrm>
          <a:prstGeom prst="ellipse">
            <a:avLst/>
          </a:prstGeom>
          <a:solidFill>
            <a:schemeClr val="accent1"/>
          </a:solidFill>
          <a:ln w="12700">
            <a:solidFill>
              <a:schemeClr val="accent1"/>
            </a:solidFill>
            <a:prstDash val="solid"/>
          </a:ln>
        </p:spPr>
      </p:sp>
      <p:sp>
        <p:nvSpPr>
          <p:cNvPr id="25" name="PR num #6"/>
          <p:cNvSpPr txBox="1"/>
          <p:nvPr/>
        </p:nvSpPr>
        <p:spPr>
          <a:xfrm>
            <a:off x="8020594" y="1965960"/>
            <a:ext cx="548640" cy="54864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6" name="PR name #6"/>
          <p:cNvSpPr txBox="1"/>
          <p:nvPr/>
        </p:nvSpPr>
        <p:spPr>
          <a:xfrm>
            <a:off x="7654834" y="2606040"/>
            <a:ext cx="1280160" cy="548640"/>
          </a:xfrm>
          <a:prstGeom prst="rect">
            <a:avLst/>
          </a:prstGeom>
          <a:noFill/>
          <a:ln/>
        </p:spPr>
        <p:txBody>
          <a:bodyPr wrap="square" lIns="0" tIns="0" rIns="0" bIns="0" rtlCol="0" anchor="t"/>
          <a:lstStyle/>
          <a:p>
            <a:pPr algn="ctr" indent="0" marL="0">
              <a:buNone/>
            </a:pPr>
            <a:r>
              <a:rPr lang="en-US" sz="1200" b="1" dirty="0">
                <a:solidFill>
                  <a:schemeClr val="tx1"/>
                </a:solidFill>
              </a:rPr>
              <a:t>Exam machine (run_eval)</a:t>
            </a:r>
            <a:endParaRPr lang="en-US" sz="1200" dirty="0"/>
          </a:p>
        </p:txBody>
      </p:sp>
      <p:sp>
        <p:nvSpPr>
          <p:cNvPr id="27" name="PR node #7"/>
          <p:cNvSpPr/>
          <p:nvPr/>
        </p:nvSpPr>
        <p:spPr>
          <a:xfrm>
            <a:off x="9496697" y="1965960"/>
            <a:ext cx="548640" cy="548640"/>
          </a:xfrm>
          <a:prstGeom prst="ellipse">
            <a:avLst/>
          </a:prstGeom>
          <a:solidFill>
            <a:schemeClr val="accent1"/>
          </a:solidFill>
          <a:ln w="12700">
            <a:solidFill>
              <a:schemeClr val="accent1"/>
            </a:solidFill>
            <a:prstDash val="solid"/>
          </a:ln>
        </p:spPr>
      </p:sp>
      <p:sp>
        <p:nvSpPr>
          <p:cNvPr id="28" name="PR num #7"/>
          <p:cNvSpPr txBox="1"/>
          <p:nvPr/>
        </p:nvSpPr>
        <p:spPr>
          <a:xfrm>
            <a:off x="9496697" y="1965960"/>
            <a:ext cx="548640" cy="548640"/>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29" name="PR name #7"/>
          <p:cNvSpPr txBox="1"/>
          <p:nvPr/>
        </p:nvSpPr>
        <p:spPr>
          <a:xfrm>
            <a:off x="9130937" y="2606040"/>
            <a:ext cx="1280160" cy="548640"/>
          </a:xfrm>
          <a:prstGeom prst="rect">
            <a:avLst/>
          </a:prstGeom>
          <a:noFill/>
          <a:ln/>
        </p:spPr>
        <p:txBody>
          <a:bodyPr wrap="square" lIns="0" tIns="0" rIns="0" bIns="0" rtlCol="0" anchor="t"/>
          <a:lstStyle/>
          <a:p>
            <a:pPr algn="ctr" indent="0" marL="0">
              <a:buNone/>
            </a:pPr>
            <a:r>
              <a:rPr lang="en-US" sz="1200" b="1" dirty="0">
                <a:solidFill>
                  <a:schemeClr val="tx1"/>
                </a:solidFill>
              </a:rPr>
              <a:t>Dev / held-out reporting</a:t>
            </a:r>
            <a:endParaRPr lang="en-US" sz="1200" dirty="0"/>
          </a:p>
        </p:txBody>
      </p:sp>
      <p:sp>
        <p:nvSpPr>
          <p:cNvPr id="30" name="PR node #8"/>
          <p:cNvSpPr/>
          <p:nvPr/>
        </p:nvSpPr>
        <p:spPr>
          <a:xfrm>
            <a:off x="10972800" y="1965960"/>
            <a:ext cx="548640" cy="548640"/>
          </a:xfrm>
          <a:prstGeom prst="ellipse">
            <a:avLst/>
          </a:prstGeom>
          <a:solidFill>
            <a:schemeClr val="accent2"/>
          </a:solidFill>
          <a:ln w="12700">
            <a:solidFill>
              <a:schemeClr val="accent2"/>
            </a:solidFill>
            <a:prstDash val="solid"/>
          </a:ln>
        </p:spPr>
      </p:sp>
      <p:sp>
        <p:nvSpPr>
          <p:cNvPr id="31" name="PR num #8"/>
          <p:cNvSpPr txBox="1"/>
          <p:nvPr/>
        </p:nvSpPr>
        <p:spPr>
          <a:xfrm>
            <a:off x="10972800" y="1965960"/>
            <a:ext cx="548640" cy="548640"/>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32" name="PR name #8"/>
          <p:cNvSpPr txBox="1"/>
          <p:nvPr/>
        </p:nvSpPr>
        <p:spPr>
          <a:xfrm>
            <a:off x="10607040" y="2606040"/>
            <a:ext cx="1280160" cy="548640"/>
          </a:xfrm>
          <a:prstGeom prst="rect">
            <a:avLst/>
          </a:prstGeom>
          <a:noFill/>
          <a:ln/>
        </p:spPr>
        <p:txBody>
          <a:bodyPr wrap="square" lIns="0" tIns="0" rIns="0" bIns="0" rtlCol="0" anchor="t"/>
          <a:lstStyle/>
          <a:p>
            <a:pPr algn="ctr" indent="0" marL="0">
              <a:buNone/>
            </a:pPr>
            <a:r>
              <a:rPr lang="en-US" sz="1200" b="1" dirty="0">
                <a:solidFill>
                  <a:schemeClr val="tx1"/>
                </a:solidFill>
              </a:rPr>
              <a:t>Meaning search + hybrid</a:t>
            </a:r>
            <a:endParaRPr lang="en-US" sz="1200" dirty="0"/>
          </a:p>
        </p:txBody>
      </p:sp>
      <p:sp>
        <p:nvSpPr>
          <p:cNvPr id="33" name="Lesson 0"/>
          <p:cNvSpPr/>
          <p:nvPr/>
        </p:nvSpPr>
        <p:spPr>
          <a:xfrm>
            <a:off x="548640" y="3429000"/>
            <a:ext cx="3520440" cy="2377440"/>
          </a:xfrm>
          <a:prstGeom prst="roundRect">
            <a:avLst>
              <a:gd name="adj" fmla="val 4615"/>
            </a:avLst>
          </a:prstGeom>
          <a:solidFill>
            <a:schemeClr val="bg2"/>
          </a:solidFill>
          <a:ln w="12700">
            <a:solidFill>
              <a:schemeClr val="bg2"/>
            </a:solidFill>
            <a:prstDash val="solid"/>
          </a:ln>
        </p:spPr>
      </p:sp>
      <p:sp>
        <p:nvSpPr>
          <p:cNvPr id="34" name="Lesson 0 dot"/>
          <p:cNvSpPr/>
          <p:nvPr/>
        </p:nvSpPr>
        <p:spPr>
          <a:xfrm>
            <a:off x="777240" y="3675888"/>
            <a:ext cx="182880" cy="182880"/>
          </a:xfrm>
          <a:prstGeom prst="ellipse">
            <a:avLst/>
          </a:prstGeom>
          <a:solidFill>
            <a:schemeClr val="accent3"/>
          </a:solidFill>
          <a:ln w="12700">
            <a:solidFill>
              <a:schemeClr val="accent3"/>
            </a:solidFill>
            <a:prstDash val="solid"/>
          </a:ln>
        </p:spPr>
      </p:sp>
      <p:sp>
        <p:nvSpPr>
          <p:cNvPr id="35" name="Lesson 0 title"/>
          <p:cNvSpPr txBox="1"/>
          <p:nvPr/>
        </p:nvSpPr>
        <p:spPr>
          <a:xfrm>
            <a:off x="1051560" y="3584448"/>
            <a:ext cx="2834640" cy="365760"/>
          </a:xfrm>
          <a:prstGeom prst="rect">
            <a:avLst/>
          </a:prstGeom>
          <a:noFill/>
          <a:ln/>
        </p:spPr>
        <p:txBody>
          <a:bodyPr wrap="square" lIns="0" tIns="0" rIns="0" bIns="0" rtlCol="0" anchor="ctr"/>
          <a:lstStyle/>
          <a:p>
            <a:pPr indent="0" marL="0">
              <a:buNone/>
            </a:pPr>
            <a:r>
              <a:rPr lang="en-US" sz="1700" b="1" dirty="0">
                <a:solidFill>
                  <a:schemeClr val="tx2"/>
                </a:solidFill>
              </a:rPr>
              <a:t>Review before merging</a:t>
            </a:r>
            <a:endParaRPr lang="en-US" sz="1700" dirty="0"/>
          </a:p>
        </p:txBody>
      </p:sp>
      <p:sp>
        <p:nvSpPr>
          <p:cNvPr id="36" name="Lesson body 0"/>
          <p:cNvSpPr txBox="1"/>
          <p:nvPr/>
        </p:nvSpPr>
        <p:spPr>
          <a:xfrm>
            <a:off x="777240" y="4114800"/>
            <a:ext cx="3108960" cy="19202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#2 and #4 were merged with no approval</a:t>
            </a:r>
            <a:endParaRPr lang="en-US" sz="1400" dirty="0"/>
          </a:p>
          <a:p>
            <a:pPr marL="177800" indent="-177800">
              <a:spcAft>
                <a:spcPts val="600"/>
              </a:spcAft>
              <a:buSzPct val="100000"/>
              <a:buChar char="•"/>
            </a:pPr>
            <a:r>
              <a:rPr lang="en-US" sz="1400" dirty="0">
                <a:solidFill>
                  <a:schemeClr val="tx1"/>
                </a:solidFill>
              </a:rPr>
              <a:t>Proposal: GitHub rule “1 approval required” (Paulin, 2 min)</a:t>
            </a:r>
            <a:endParaRPr lang="en-US" sz="1400" dirty="0"/>
          </a:p>
        </p:txBody>
      </p:sp>
      <p:sp>
        <p:nvSpPr>
          <p:cNvPr id="37" name="Lesson 1"/>
          <p:cNvSpPr/>
          <p:nvPr/>
        </p:nvSpPr>
        <p:spPr>
          <a:xfrm>
            <a:off x="4343400" y="3429000"/>
            <a:ext cx="3520440" cy="2377440"/>
          </a:xfrm>
          <a:prstGeom prst="roundRect">
            <a:avLst>
              <a:gd name="adj" fmla="val 4615"/>
            </a:avLst>
          </a:prstGeom>
          <a:solidFill>
            <a:schemeClr val="bg2"/>
          </a:solidFill>
          <a:ln w="12700">
            <a:solidFill>
              <a:schemeClr val="bg2"/>
            </a:solidFill>
            <a:prstDash val="solid"/>
          </a:ln>
        </p:spPr>
      </p:sp>
      <p:sp>
        <p:nvSpPr>
          <p:cNvPr id="38" name="Lesson 1 dot"/>
          <p:cNvSpPr/>
          <p:nvPr/>
        </p:nvSpPr>
        <p:spPr>
          <a:xfrm>
            <a:off x="4572000" y="3675888"/>
            <a:ext cx="182880" cy="182880"/>
          </a:xfrm>
          <a:prstGeom prst="ellipse">
            <a:avLst/>
          </a:prstGeom>
          <a:solidFill>
            <a:schemeClr val="accent2"/>
          </a:solidFill>
          <a:ln w="12700">
            <a:solidFill>
              <a:schemeClr val="accent2"/>
            </a:solidFill>
            <a:prstDash val="solid"/>
          </a:ln>
        </p:spPr>
      </p:sp>
      <p:sp>
        <p:nvSpPr>
          <p:cNvPr id="39" name="Lesson 1 title"/>
          <p:cNvSpPr txBox="1"/>
          <p:nvPr/>
        </p:nvSpPr>
        <p:spPr>
          <a:xfrm>
            <a:off x="4846320" y="3584448"/>
            <a:ext cx="2834640" cy="365760"/>
          </a:xfrm>
          <a:prstGeom prst="rect">
            <a:avLst/>
          </a:prstGeom>
          <a:noFill/>
          <a:ln/>
        </p:spPr>
        <p:txBody>
          <a:bodyPr wrap="square" lIns="0" tIns="0" rIns="0" bIns="0" rtlCol="0" anchor="ctr"/>
          <a:lstStyle/>
          <a:p>
            <a:pPr indent="0" marL="0">
              <a:buNone/>
            </a:pPr>
            <a:r>
              <a:rPr lang="en-US" sz="1700" b="1" dirty="0">
                <a:solidFill>
                  <a:schemeClr val="tx2"/>
                </a:solidFill>
              </a:rPr>
              <a:t>Re-run checks after merges</a:t>
            </a:r>
            <a:endParaRPr lang="en-US" sz="1700" dirty="0"/>
          </a:p>
        </p:txBody>
      </p:sp>
      <p:sp>
        <p:nvSpPr>
          <p:cNvPr id="40" name="Lesson body 1"/>
          <p:cNvSpPr txBox="1"/>
          <p:nvPr/>
        </p:nvSpPr>
        <p:spPr>
          <a:xfrm>
            <a:off x="4572000" y="4114800"/>
            <a:ext cx="3108960" cy="19202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#5 and #6 were fine alone but clashed together: 1 check failed on main</a:t>
            </a:r>
            <a:endParaRPr lang="en-US" sz="1400" dirty="0"/>
          </a:p>
          <a:p>
            <a:pPr marL="177800" indent="-177800">
              <a:spcAft>
                <a:spcPts val="600"/>
              </a:spcAft>
              <a:buSzPct val="100000"/>
              <a:buChar char="•"/>
            </a:pPr>
            <a:r>
              <a:rPr lang="en-US" sz="1400" dirty="0">
                <a:solidFill>
                  <a:schemeClr val="tx1"/>
                </a:solidFill>
              </a:rPr>
              <a:t>Fixed by #7; now 35 checks pass on the PR #8 branch</a:t>
            </a:r>
            <a:endParaRPr lang="en-US" sz="1400" dirty="0"/>
          </a:p>
        </p:txBody>
      </p:sp>
      <p:sp>
        <p:nvSpPr>
          <p:cNvPr id="41" name="Lesson 2"/>
          <p:cNvSpPr/>
          <p:nvPr/>
        </p:nvSpPr>
        <p:spPr>
          <a:xfrm>
            <a:off x="8138160" y="3429000"/>
            <a:ext cx="3520440" cy="2377440"/>
          </a:xfrm>
          <a:prstGeom prst="roundRect">
            <a:avLst>
              <a:gd name="adj" fmla="val 4615"/>
            </a:avLst>
          </a:prstGeom>
          <a:solidFill>
            <a:schemeClr val="bg2"/>
          </a:solidFill>
          <a:ln w="12700">
            <a:solidFill>
              <a:schemeClr val="bg2"/>
            </a:solidFill>
            <a:prstDash val="solid"/>
          </a:ln>
        </p:spPr>
      </p:sp>
      <p:sp>
        <p:nvSpPr>
          <p:cNvPr id="42" name="Lesson 2 dot"/>
          <p:cNvSpPr/>
          <p:nvPr/>
        </p:nvSpPr>
        <p:spPr>
          <a:xfrm>
            <a:off x="8366760" y="3675888"/>
            <a:ext cx="182880" cy="182880"/>
          </a:xfrm>
          <a:prstGeom prst="ellipse">
            <a:avLst/>
          </a:prstGeom>
          <a:solidFill>
            <a:schemeClr val="accent1"/>
          </a:solidFill>
          <a:ln w="12700">
            <a:solidFill>
              <a:schemeClr val="accent1"/>
            </a:solidFill>
            <a:prstDash val="solid"/>
          </a:ln>
        </p:spPr>
      </p:sp>
      <p:sp>
        <p:nvSpPr>
          <p:cNvPr id="43" name="Lesson 2 title"/>
          <p:cNvSpPr txBox="1"/>
          <p:nvPr/>
        </p:nvSpPr>
        <p:spPr>
          <a:xfrm>
            <a:off x="8641080" y="3584448"/>
            <a:ext cx="2834640" cy="365760"/>
          </a:xfrm>
          <a:prstGeom prst="rect">
            <a:avLst/>
          </a:prstGeom>
          <a:noFill/>
          <a:ln/>
        </p:spPr>
        <p:txBody>
          <a:bodyPr wrap="square" lIns="0" tIns="0" rIns="0" bIns="0" rtlCol="0" anchor="ctr"/>
          <a:lstStyle/>
          <a:p>
            <a:pPr indent="0" marL="0">
              <a:buNone/>
            </a:pPr>
            <a:r>
              <a:rPr lang="en-US" sz="1700" b="1" dirty="0">
                <a:solidFill>
                  <a:schemeClr val="tx2"/>
                </a:solidFill>
              </a:rPr>
              <a:t>Keep the repo tidy</a:t>
            </a:r>
            <a:endParaRPr lang="en-US" sz="1700" dirty="0"/>
          </a:p>
        </p:txBody>
      </p:sp>
      <p:sp>
        <p:nvSpPr>
          <p:cNvPr id="44" name="Lesson body 2"/>
          <p:cNvSpPr txBox="1"/>
          <p:nvPr/>
        </p:nvSpPr>
        <p:spPr>
          <a:xfrm>
            <a:off x="8366760" y="4114800"/>
            <a:ext cx="3108960" cy="19202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5 finished branches deleted</a:t>
            </a:r>
            <a:endParaRPr lang="en-US" sz="1400" dirty="0"/>
          </a:p>
          <a:p>
            <a:pPr marL="177800" indent="-177800">
              <a:spcAft>
                <a:spcPts val="600"/>
              </a:spcAft>
              <a:buSzPct val="100000"/>
              <a:buChar char="•"/>
            </a:pPr>
            <a:r>
              <a:rPr lang="en-US" sz="1400" dirty="0">
                <a:solidFill>
                  <a:schemeClr val="tx1"/>
                </a:solidFill>
              </a:rPr>
              <a:t>Tick “Automatically delete head branches” in Settings</a:t>
            </a:r>
            <a:endParaRPr lang="en-US" sz="1400" dirty="0"/>
          </a:p>
        </p:txBody>
      </p:sp>
      <p:sp>
        <p:nvSpPr>
          <p:cNvPr id="45" name="Work footnote"/>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Open branches today: main, feat/dense-hybrid (PR #8), README_update (Léopold, no PR yet).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685800"/>
          </a:xfrm>
          <a:prstGeom prst="rect">
            <a:avLst/>
          </a:prstGeom>
          <a:noFill/>
          <a:ln/>
        </p:spPr>
        <p:txBody>
          <a:bodyPr wrap="square" lIns="0" tIns="0" rIns="0" bIns="0" rtlCol="0" anchor="ctr"/>
          <a:lstStyle/>
          <a:p>
            <a:pPr algn="l" indent="0" marL="0">
              <a:buNone/>
            </a:pPr>
            <a:r>
              <a:rPr lang="en-US" sz="3000" b="1" dirty="0">
                <a:solidFill>
                  <a:schemeClr val="tx2"/>
                </a:solidFill>
              </a:rPr>
              <a:t>Next 5 days: who does what (to fill in today)</a:t>
            </a:r>
            <a:endParaRPr lang="en-US" sz="3000" dirty="0"/>
          </a:p>
        </p:txBody>
      </p:sp>
      <p:sp>
        <p:nvSpPr>
          <p:cNvPr id="3" name="Next subtitle"/>
          <p:cNvSpPr txBox="1"/>
          <p:nvPr/>
        </p:nvSpPr>
        <p:spPr>
          <a:xfrm>
            <a:off x="548640" y="1005840"/>
            <a:ext cx="11064240" cy="320040"/>
          </a:xfrm>
          <a:prstGeom prst="rect">
            <a:avLst/>
          </a:prstGeom>
          <a:noFill/>
          <a:ln/>
        </p:spPr>
        <p:txBody>
          <a:bodyPr wrap="square" lIns="0" tIns="0" rIns="0" bIns="0" rtlCol="0" anchor="ctr"/>
          <a:lstStyle/>
          <a:p>
            <a:pPr indent="0" marL="0">
              <a:buNone/>
            </a:pPr>
            <a:r>
              <a:rPr lang="en-US" sz="1400" dirty="0">
                <a:solidFill>
                  <a:schemeClr val="accent6"/>
                </a:solidFill>
              </a:rPr>
              <a:t>Each step is “done” only when the exam machine scores it on the held-out questions</a:t>
            </a:r>
            <a:endParaRPr lang="en-US" sz="1400" dirty="0"/>
          </a:p>
        </p:txBody>
      </p:sp>
      <p:graphicFrame>
        <p:nvGraphicFramePr>
          <p:cNvPr id="16" name="Plan table"/>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1005840"/>
                <a:gridCol w="5029200"/>
                <a:gridCol w="4114800"/>
                <a:gridCol w="960120"/>
              </a:tblGrid>
              <a:tr h="603504">
                <a:tc>
                  <a:txBody>
                    <a:bodyPr/>
                    <a:lstStyle/>
                    <a:p>
                      <a:pPr indent="0" marL="0">
                        <a:buNone/>
                      </a:pPr>
                      <a:r>
                        <a:rPr lang="en-US" sz="1300" b="1" dirty="0">
                          <a:solidFill>
                            <a:schemeClr val="bg1"/>
                          </a:solidFill>
                        </a:rPr>
                        <a:t>Day</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Goal</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Done when</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Owner</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r>
              <a:tr h="603504">
                <a:tc>
                  <a:txBody>
                    <a:bodyPr/>
                    <a:lstStyle/>
                    <a:p>
                      <a:pPr indent="0" marL="0">
                        <a:buNone/>
                      </a:pPr>
                      <a:r>
                        <a:rPr lang="en-US" sz="1300" dirty="0">
                          <a:solidFill>
                            <a:schemeClr val="tx1"/>
                          </a:solidFill>
                        </a:rPr>
                        <a:t>Fri 16</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Review and merge PR #8 (meaning search + ranking)</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35 checks pass on main</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6"/>
                          </a:solidFill>
                        </a:rPr>
                        <a:t>?</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603504">
                <a:tc>
                  <a:txBody>
                    <a:bodyPr/>
                    <a:lstStyle/>
                    <a:p>
                      <a:pPr indent="0" marL="0">
                        <a:buNone/>
                      </a:pPr>
                      <a:r>
                        <a:rPr lang="en-US" sz="1300" dirty="0">
                          <a:solidFill>
                            <a:schemeClr val="tx1"/>
                          </a:solidFill>
                        </a:rPr>
                        <a:t>Sat 17</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Pick the answering model (Ollama, 2–3 small ones); answers with sources as checked JSON</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run_eval logs answer, citations, tokens; “I don't know” works</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6"/>
                          </a:solidFill>
                        </a:rPr>
                        <a:t>?</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603504">
                <a:tc>
                  <a:txBody>
                    <a:bodyPr/>
                    <a:lstStyle/>
                    <a:p>
                      <a:pPr indent="0" marL="0">
                        <a:buNone/>
                      </a:pPr>
                      <a:r>
                        <a:rPr lang="en-US" sz="1300" dirty="0">
                          <a:solidFill>
                            <a:schemeClr val="tx1"/>
                          </a:solidFill>
                        </a:rPr>
                        <a:t>Sun 18</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Agent tools (filter by region, date, aid type; fetch one aid); injection defence; cost tracking</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Tool calls logged; q039–q040 pass</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6"/>
                          </a:solidFill>
                        </a:rPr>
                        <a:t>?</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603504">
                <a:tc>
                  <a:txBody>
                    <a:bodyPr/>
                    <a:lstStyle/>
                    <a:p>
                      <a:pPr indent="0" marL="0">
                        <a:buNone/>
                      </a:pPr>
                      <a:r>
                        <a:rPr lang="en-US" sz="1300" dirty="0">
                          <a:solidFill>
                            <a:schemeClr val="tx1"/>
                          </a:solidFill>
                        </a:rPr>
                        <a:t>Mon 19</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Final scores on held-out; error analysis; residual risks; bonus UI</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Results table + 5 explained failures</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6"/>
                          </a:solidFill>
                        </a:rPr>
                        <a:t>?</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603504">
                <a:tc>
                  <a:txBody>
                    <a:bodyPr/>
                    <a:lstStyle/>
                    <a:p>
                      <a:pPr indent="0" marL="0">
                        <a:buNone/>
                      </a:pPr>
                      <a:r>
                        <a:rPr lang="en-US" sz="1300" dirty="0">
                          <a:solidFill>
                            <a:schemeClr val="tx1"/>
                          </a:solidFill>
                        </a:rPr>
                        <a:t>Tue 20</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README with exact models; record backup demo; tag v1.0 before 23:59</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Fresh clone runs the brief's command</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6"/>
                          </a:solidFill>
                        </a:rPr>
                        <a:t>?</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603504">
                <a:tc>
                  <a:txBody>
                    <a:bodyPr/>
                    <a:lstStyle/>
                    <a:p>
                      <a:pPr indent="0" marL="0">
                        <a:buNone/>
                      </a:pPr>
                      <a:r>
                        <a:rPr lang="en-US" sz="1300" dirty="0">
                          <a:solidFill>
                            <a:schemeClr val="tx1"/>
                          </a:solidFill>
                        </a:rPr>
                        <a:t>Wed 21</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Defence: 10 min pitch + 5 min Q&amp;A, everyone speaks</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Each person owns 2–3 slides</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6"/>
                          </a:solidFill>
                        </a:rPr>
                        <a:t>?</a:t>
                      </a:r>
                      <a:endParaRPr lang="en-US" sz="1300" dirty="0"/>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bl>
          </a:graphicData>
        </a:graphic>
      </p:graphicFrame>
      <p:sp>
        <p:nvSpPr>
          <p:cNvPr id="5" name="Next footnote"/>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Bonuses in reach: simple UI (answer + sources + agent steps), date filters, local vs API model if the school provides keys.</a:t>
            </a:r>
            <a:endParaRPr lang="en-US" sz="1000" dirty="0"/>
          </a:p>
        </p:txBody>
      </p:sp>
    </p:spTree>
  </p:cSld>
  <p:clrMapOvr>
    <a:masterClrMapping/>
  </p:clrMapOvr>
</p:sld>
</file>

<file path=ppt/theme/theme1.xml><?xml version="1.0" encoding="utf-8"?>
<a:theme xmlns:a="http://schemas.openxmlformats.org/drawingml/2006/main" name="Roadmap">
  <a:themeElements>
    <a:clrScheme name="Roadmap">
      <a:dk1>
        <a:srgbClr val="1B2333"/>
      </a:dk1>
      <a:lt1>
        <a:srgbClr val="FFFFFF"/>
      </a:lt1>
      <a:dk2>
        <a:srgbClr val="1E2761"/>
      </a:dk2>
      <a:lt2>
        <a:srgbClr val="F1F3F7"/>
      </a:lt2>
      <a:accent1>
        <a:srgbClr val="1F8A5B"/>
      </a:accent1>
      <a:accent2>
        <a:srgbClr val="C98200"/>
      </a:accent2>
      <a:accent3>
        <a:srgbClr val="C0392B"/>
      </a:accent3>
      <a:accent4>
        <a:srgbClr val="9AA3AE"/>
      </a:accent4>
      <a:accent5>
        <a:srgbClr val="2F5BD3"/>
      </a:accent5>
      <a:accent6>
        <a:srgbClr val="5D6470"/>
      </a:accent6>
      <a:hlink>
        <a:srgbClr val="2F5BD3"/>
      </a:hlink>
      <a:folHlink>
        <a:srgbClr val="5D6470"/>
      </a:folHlink>
    </a:clrScheme>
    <a:fontScheme name="Roadmap">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roadmap v2</dc:title>
  <dc:subject>PptxGenJS Presentation</dc:subject>
  <dc:creator>PptxGenJS</dc:creator>
  <cp:lastModifiedBy>PptxGenJS</cp:lastModifiedBy>
  <cp:revision>1</cp:revision>
  <dcterms:created xsi:type="dcterms:W3CDTF">2026-10-16T22:56:02Z</dcterms:created>
  <dcterms:modified xsi:type="dcterms:W3CDTF">2026-10-16T22:56:02Z</dcterms:modified>
</cp:coreProperties>
</file>