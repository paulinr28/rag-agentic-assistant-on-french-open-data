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" id="{e1aea346-a385-93e5-5255-80766a69760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0-1 are done (Phase 1, merge pending review). Step 2 is half done: cleaning and metadata exist; placeholder expansion and chunking remain. Step 4 is blocked until PR #1 is merged and memory is freed. Build the eval harness with retrieval so every later change is scored.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delivered the data foundation. The corpus is rule-based and reproducible: anyone can rebuild the identical 504-aid file from the raw data with one command. The source and licence are confirmed (data.gouv.fr, Licence Ouverte v1.0). We found and fixed a source-data error: three Picardie departments were linked to Occitanie. Nothing is answered by a model yet: search, model and agent are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raw dataset is relational: aides.csv stores IDs that point to lookup tables. The selection script resolves those IDs into readable labels and writes one self-contained record per aid. Territories needed a correction: the source links three Picardie departments to Occitanie, so regions come from an official department-to-region table. Contacts are kept as IDs only for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Roadmap: 2 of 11 steps done, 6 days to code freeze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RAG assistant on French green &amp; innovation business aids · status as of 14 Oct 2026</a:t>
            </a:r>
            <a:endParaRPr lang="en-US" sz="1400" dirty="0"/>
          </a:p>
        </p:txBody>
      </p:sp>
      <p:sp>
        <p:nvSpPr>
          <p:cNvPr id="4" name="Legend dot Done"/>
          <p:cNvSpPr/>
          <p:nvPr/>
        </p:nvSpPr>
        <p:spPr>
          <a:xfrm>
            <a:off x="10012680" y="429768"/>
            <a:ext cx="137160" cy="137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egend Done"/>
          <p:cNvSpPr txBox="1"/>
          <p:nvPr/>
        </p:nvSpPr>
        <p:spPr>
          <a:xfrm>
            <a:off x="10222992" y="384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Done</a:t>
            </a:r>
            <a:endParaRPr lang="en-US" sz="1200" dirty="0"/>
          </a:p>
        </p:txBody>
      </p:sp>
      <p:sp>
        <p:nvSpPr>
          <p:cNvPr id="6" name="Legend dot Partly done"/>
          <p:cNvSpPr/>
          <p:nvPr/>
        </p:nvSpPr>
        <p:spPr>
          <a:xfrm>
            <a:off x="10012680" y="676656"/>
            <a:ext cx="137160" cy="137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Legend Partly done"/>
          <p:cNvSpPr txBox="1"/>
          <p:nvPr/>
        </p:nvSpPr>
        <p:spPr>
          <a:xfrm>
            <a:off x="10222992" y="6309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Partly done</a:t>
            </a:r>
            <a:endParaRPr lang="en-US" sz="1200" dirty="0"/>
          </a:p>
        </p:txBody>
      </p:sp>
      <p:sp>
        <p:nvSpPr>
          <p:cNvPr id="8" name="Legend dot Blocked"/>
          <p:cNvSpPr/>
          <p:nvPr/>
        </p:nvSpPr>
        <p:spPr>
          <a:xfrm>
            <a:off x="10012680" y="923544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Legend Blocked"/>
          <p:cNvSpPr txBox="1"/>
          <p:nvPr/>
        </p:nvSpPr>
        <p:spPr>
          <a:xfrm>
            <a:off x="10222992" y="8778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Blocked</a:t>
            </a:r>
            <a:endParaRPr lang="en-US" sz="1200" dirty="0"/>
          </a:p>
        </p:txBody>
      </p:sp>
      <p:sp>
        <p:nvSpPr>
          <p:cNvPr id="10" name="Legend dot Not started"/>
          <p:cNvSpPr/>
          <p:nvPr/>
        </p:nvSpPr>
        <p:spPr>
          <a:xfrm>
            <a:off x="10012680" y="1170432"/>
            <a:ext cx="137160" cy="1371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Legend Not started"/>
          <p:cNvSpPr txBox="1"/>
          <p:nvPr/>
        </p:nvSpPr>
        <p:spPr>
          <a:xfrm>
            <a:off x="10222992" y="11247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started</a:t>
            </a:r>
            <a:endParaRPr lang="en-US" sz="1200" dirty="0"/>
          </a:p>
        </p:txBody>
      </p:sp>
      <p:sp>
        <p:nvSpPr>
          <p:cNvPr id="12" name="Timeline line"/>
          <p:cNvSpPr/>
          <p:nvPr/>
        </p:nvSpPr>
        <p:spPr>
          <a:xfrm>
            <a:off x="1051560" y="2331720"/>
            <a:ext cx="101041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3" name="Timeline progress"/>
          <p:cNvSpPr/>
          <p:nvPr/>
        </p:nvSpPr>
        <p:spPr>
          <a:xfrm>
            <a:off x="1051560" y="2331720"/>
            <a:ext cx="1515618" cy="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14" name="Date 0"/>
          <p:cNvSpPr txBox="1"/>
          <p:nvPr/>
        </p:nvSpPr>
        <p:spPr>
          <a:xfrm>
            <a:off x="548640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13–14 Oct</a:t>
            </a:r>
            <a:endParaRPr lang="en-US" sz="1100" dirty="0"/>
          </a:p>
        </p:txBody>
      </p:sp>
      <p:sp>
        <p:nvSpPr>
          <p:cNvPr id="15" name="Node 0"/>
          <p:cNvSpPr/>
          <p:nvPr/>
        </p:nvSpPr>
        <p:spPr>
          <a:xfrm>
            <a:off x="813816" y="2093976"/>
            <a:ext cx="475488" cy="47548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Node label 0"/>
          <p:cNvSpPr txBox="1"/>
          <p:nvPr/>
        </p:nvSpPr>
        <p:spPr>
          <a:xfrm>
            <a:off x="813816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17" name="Step 0"/>
          <p:cNvSpPr txBox="1"/>
          <p:nvPr/>
        </p:nvSpPr>
        <p:spPr>
          <a:xfrm>
            <a:off x="539496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Scoping</a:t>
            </a:r>
            <a:endParaRPr lang="en-US" sz="1200" dirty="0"/>
          </a:p>
        </p:txBody>
      </p:sp>
      <p:sp>
        <p:nvSpPr>
          <p:cNvPr id="18" name="Date 1"/>
          <p:cNvSpPr txBox="1"/>
          <p:nvPr/>
        </p:nvSpPr>
        <p:spPr>
          <a:xfrm>
            <a:off x="1559052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14 Oct</a:t>
            </a:r>
            <a:endParaRPr lang="en-US" sz="1100" dirty="0"/>
          </a:p>
        </p:txBody>
      </p:sp>
      <p:sp>
        <p:nvSpPr>
          <p:cNvPr id="19" name="Node 1"/>
          <p:cNvSpPr/>
          <p:nvPr/>
        </p:nvSpPr>
        <p:spPr>
          <a:xfrm>
            <a:off x="1824228" y="2093976"/>
            <a:ext cx="475488" cy="47548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Node label 1"/>
          <p:cNvSpPr txBox="1"/>
          <p:nvPr/>
        </p:nvSpPr>
        <p:spPr>
          <a:xfrm>
            <a:off x="182422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Step 1"/>
          <p:cNvSpPr txBox="1"/>
          <p:nvPr/>
        </p:nvSpPr>
        <p:spPr>
          <a:xfrm>
            <a:off x="1549908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foundations</a:t>
            </a:r>
            <a:endParaRPr lang="en-US" sz="1200" dirty="0"/>
          </a:p>
        </p:txBody>
      </p:sp>
      <p:sp>
        <p:nvSpPr>
          <p:cNvPr id="22" name="Date 2"/>
          <p:cNvSpPr txBox="1"/>
          <p:nvPr/>
        </p:nvSpPr>
        <p:spPr>
          <a:xfrm>
            <a:off x="2569464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15 Oct</a:t>
            </a:r>
            <a:endParaRPr lang="en-US" sz="1100" dirty="0"/>
          </a:p>
        </p:txBody>
      </p:sp>
      <p:sp>
        <p:nvSpPr>
          <p:cNvPr id="23" name="Node 2"/>
          <p:cNvSpPr/>
          <p:nvPr/>
        </p:nvSpPr>
        <p:spPr>
          <a:xfrm>
            <a:off x="2834640" y="2093976"/>
            <a:ext cx="475488" cy="47548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4" name="Node label 2"/>
          <p:cNvSpPr txBox="1"/>
          <p:nvPr/>
        </p:nvSpPr>
        <p:spPr>
          <a:xfrm>
            <a:off x="283464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Step 2"/>
          <p:cNvSpPr txBox="1"/>
          <p:nvPr/>
        </p:nvSpPr>
        <p:spPr>
          <a:xfrm>
            <a:off x="2560320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26" name="Date 3"/>
          <p:cNvSpPr txBox="1"/>
          <p:nvPr/>
        </p:nvSpPr>
        <p:spPr>
          <a:xfrm>
            <a:off x="3579876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15–16 Oct</a:t>
            </a:r>
            <a:endParaRPr lang="en-US" sz="1100" dirty="0"/>
          </a:p>
        </p:txBody>
      </p:sp>
      <p:sp>
        <p:nvSpPr>
          <p:cNvPr id="27" name="Node 3"/>
          <p:cNvSpPr/>
          <p:nvPr/>
        </p:nvSpPr>
        <p:spPr>
          <a:xfrm>
            <a:off x="3845052" y="2093976"/>
            <a:ext cx="475488" cy="4754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8" name="Node label 3"/>
          <p:cNvSpPr txBox="1"/>
          <p:nvPr/>
        </p:nvSpPr>
        <p:spPr>
          <a:xfrm>
            <a:off x="3845052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Step 3"/>
          <p:cNvSpPr txBox="1"/>
          <p:nvPr/>
        </p:nvSpPr>
        <p:spPr>
          <a:xfrm>
            <a:off x="3570732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Search + eval harness</a:t>
            </a:r>
            <a:endParaRPr lang="en-US" sz="1200" dirty="0"/>
          </a:p>
        </p:txBody>
      </p:sp>
      <p:sp>
        <p:nvSpPr>
          <p:cNvPr id="30" name="Date 4"/>
          <p:cNvSpPr txBox="1"/>
          <p:nvPr/>
        </p:nvSpPr>
        <p:spPr>
          <a:xfrm>
            <a:off x="4590288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16 Oct</a:t>
            </a:r>
            <a:endParaRPr lang="en-US" sz="1100" dirty="0"/>
          </a:p>
        </p:txBody>
      </p:sp>
      <p:sp>
        <p:nvSpPr>
          <p:cNvPr id="31" name="Node 4"/>
          <p:cNvSpPr/>
          <p:nvPr/>
        </p:nvSpPr>
        <p:spPr>
          <a:xfrm>
            <a:off x="4855464" y="2093976"/>
            <a:ext cx="475488" cy="475488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2" name="Node label 4"/>
          <p:cNvSpPr txBox="1"/>
          <p:nvPr/>
        </p:nvSpPr>
        <p:spPr>
          <a:xfrm>
            <a:off x="4855464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Step 4"/>
          <p:cNvSpPr txBox="1"/>
          <p:nvPr/>
        </p:nvSpPr>
        <p:spPr>
          <a:xfrm>
            <a:off x="4581144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Local model choice</a:t>
            </a:r>
            <a:endParaRPr lang="en-US" sz="1200" dirty="0"/>
          </a:p>
        </p:txBody>
      </p:sp>
      <p:sp>
        <p:nvSpPr>
          <p:cNvPr id="34" name="Date 5"/>
          <p:cNvSpPr txBox="1"/>
          <p:nvPr/>
        </p:nvSpPr>
        <p:spPr>
          <a:xfrm>
            <a:off x="5600700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16–17 Oct</a:t>
            </a:r>
            <a:endParaRPr lang="en-US" sz="1100" dirty="0"/>
          </a:p>
        </p:txBody>
      </p:sp>
      <p:sp>
        <p:nvSpPr>
          <p:cNvPr id="35" name="Node 5"/>
          <p:cNvSpPr/>
          <p:nvPr/>
        </p:nvSpPr>
        <p:spPr>
          <a:xfrm>
            <a:off x="5865876" y="2093976"/>
            <a:ext cx="475488" cy="4754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36" name="Node label 5"/>
          <p:cNvSpPr txBox="1"/>
          <p:nvPr/>
        </p:nvSpPr>
        <p:spPr>
          <a:xfrm>
            <a:off x="5865876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tep 5"/>
          <p:cNvSpPr txBox="1"/>
          <p:nvPr/>
        </p:nvSpPr>
        <p:spPr>
          <a:xfrm>
            <a:off x="5591556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Answer generation</a:t>
            </a:r>
            <a:endParaRPr lang="en-US" sz="1200" dirty="0"/>
          </a:p>
        </p:txBody>
      </p:sp>
      <p:sp>
        <p:nvSpPr>
          <p:cNvPr id="38" name="Date 6"/>
          <p:cNvSpPr txBox="1"/>
          <p:nvPr/>
        </p:nvSpPr>
        <p:spPr>
          <a:xfrm>
            <a:off x="6611112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17 Oct</a:t>
            </a:r>
            <a:endParaRPr lang="en-US" sz="1100" dirty="0"/>
          </a:p>
        </p:txBody>
      </p:sp>
      <p:sp>
        <p:nvSpPr>
          <p:cNvPr id="39" name="Node 6"/>
          <p:cNvSpPr/>
          <p:nvPr/>
        </p:nvSpPr>
        <p:spPr>
          <a:xfrm>
            <a:off x="6876288" y="2093976"/>
            <a:ext cx="475488" cy="4754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40" name="Node label 6"/>
          <p:cNvSpPr txBox="1"/>
          <p:nvPr/>
        </p:nvSpPr>
        <p:spPr>
          <a:xfrm>
            <a:off x="687628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6</a:t>
            </a:r>
            <a:endParaRPr lang="en-US" sz="1400" dirty="0"/>
          </a:p>
        </p:txBody>
      </p:sp>
      <p:sp>
        <p:nvSpPr>
          <p:cNvPr id="41" name="Step 6"/>
          <p:cNvSpPr txBox="1"/>
          <p:nvPr/>
        </p:nvSpPr>
        <p:spPr>
          <a:xfrm>
            <a:off x="6601968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Agent + tracking</a:t>
            </a:r>
            <a:endParaRPr lang="en-US" sz="1200" dirty="0"/>
          </a:p>
        </p:txBody>
      </p:sp>
      <p:sp>
        <p:nvSpPr>
          <p:cNvPr id="42" name="Date 7"/>
          <p:cNvSpPr txBox="1"/>
          <p:nvPr/>
        </p:nvSpPr>
        <p:spPr>
          <a:xfrm>
            <a:off x="7621524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18–19 Oct</a:t>
            </a:r>
            <a:endParaRPr lang="en-US" sz="1100" dirty="0"/>
          </a:p>
        </p:txBody>
      </p:sp>
      <p:sp>
        <p:nvSpPr>
          <p:cNvPr id="43" name="Node 7"/>
          <p:cNvSpPr/>
          <p:nvPr/>
        </p:nvSpPr>
        <p:spPr>
          <a:xfrm>
            <a:off x="7886700" y="2093976"/>
            <a:ext cx="475488" cy="4754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44" name="Node label 7"/>
          <p:cNvSpPr txBox="1"/>
          <p:nvPr/>
        </p:nvSpPr>
        <p:spPr>
          <a:xfrm>
            <a:off x="7886700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7</a:t>
            </a:r>
            <a:endParaRPr lang="en-US" sz="1400" dirty="0"/>
          </a:p>
        </p:txBody>
      </p:sp>
      <p:sp>
        <p:nvSpPr>
          <p:cNvPr id="45" name="Step 7"/>
          <p:cNvSpPr txBox="1"/>
          <p:nvPr/>
        </p:nvSpPr>
        <p:spPr>
          <a:xfrm>
            <a:off x="7612380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Evaluation, 40 questions</a:t>
            </a:r>
            <a:endParaRPr lang="en-US" sz="1200" dirty="0"/>
          </a:p>
        </p:txBody>
      </p:sp>
      <p:sp>
        <p:nvSpPr>
          <p:cNvPr id="46" name="Date 8"/>
          <p:cNvSpPr txBox="1"/>
          <p:nvPr/>
        </p:nvSpPr>
        <p:spPr>
          <a:xfrm>
            <a:off x="8631936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19 Oct</a:t>
            </a:r>
            <a:endParaRPr lang="en-US" sz="1100" dirty="0"/>
          </a:p>
        </p:txBody>
      </p:sp>
      <p:sp>
        <p:nvSpPr>
          <p:cNvPr id="47" name="Node 8"/>
          <p:cNvSpPr/>
          <p:nvPr/>
        </p:nvSpPr>
        <p:spPr>
          <a:xfrm>
            <a:off x="8897112" y="2093976"/>
            <a:ext cx="475488" cy="4754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48" name="Node label 8"/>
          <p:cNvSpPr txBox="1"/>
          <p:nvPr/>
        </p:nvSpPr>
        <p:spPr>
          <a:xfrm>
            <a:off x="8897112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8</a:t>
            </a:r>
            <a:endParaRPr lang="en-US" sz="1400" dirty="0"/>
          </a:p>
        </p:txBody>
      </p:sp>
      <p:sp>
        <p:nvSpPr>
          <p:cNvPr id="49" name="Step 8"/>
          <p:cNvSpPr txBox="1"/>
          <p:nvPr/>
        </p:nvSpPr>
        <p:spPr>
          <a:xfrm>
            <a:off x="8622792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Bonuses + UI</a:t>
            </a:r>
            <a:endParaRPr lang="en-US" sz="1200" dirty="0"/>
          </a:p>
        </p:txBody>
      </p:sp>
      <p:sp>
        <p:nvSpPr>
          <p:cNvPr id="50" name="Date 9"/>
          <p:cNvSpPr txBox="1"/>
          <p:nvPr/>
        </p:nvSpPr>
        <p:spPr>
          <a:xfrm>
            <a:off x="9642348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 Oct</a:t>
            </a:r>
            <a:endParaRPr lang="en-US" sz="1100" dirty="0"/>
          </a:p>
        </p:txBody>
      </p:sp>
      <p:sp>
        <p:nvSpPr>
          <p:cNvPr id="51" name="Node 9"/>
          <p:cNvSpPr/>
          <p:nvPr/>
        </p:nvSpPr>
        <p:spPr>
          <a:xfrm>
            <a:off x="9907524" y="2093976"/>
            <a:ext cx="475488" cy="4754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52" name="Node label 9"/>
          <p:cNvSpPr txBox="1"/>
          <p:nvPr/>
        </p:nvSpPr>
        <p:spPr>
          <a:xfrm>
            <a:off x="9907524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9</a:t>
            </a:r>
            <a:endParaRPr lang="en-US" sz="1400" dirty="0"/>
          </a:p>
        </p:txBody>
      </p:sp>
      <p:sp>
        <p:nvSpPr>
          <p:cNvPr id="53" name="Step 9"/>
          <p:cNvSpPr txBox="1"/>
          <p:nvPr/>
        </p:nvSpPr>
        <p:spPr>
          <a:xfrm>
            <a:off x="9633204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Code freeze v1.0</a:t>
            </a:r>
            <a:endParaRPr lang="en-US" sz="1200" dirty="0"/>
          </a:p>
        </p:txBody>
      </p:sp>
      <p:sp>
        <p:nvSpPr>
          <p:cNvPr id="54" name="Date 10"/>
          <p:cNvSpPr txBox="1"/>
          <p:nvPr/>
        </p:nvSpPr>
        <p:spPr>
          <a:xfrm>
            <a:off x="10652760" y="1627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21 Oct</a:t>
            </a:r>
            <a:endParaRPr lang="en-US" sz="1100" dirty="0"/>
          </a:p>
        </p:txBody>
      </p:sp>
      <p:sp>
        <p:nvSpPr>
          <p:cNvPr id="55" name="Node 10"/>
          <p:cNvSpPr/>
          <p:nvPr/>
        </p:nvSpPr>
        <p:spPr>
          <a:xfrm>
            <a:off x="10917936" y="2093976"/>
            <a:ext cx="475488" cy="4754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56" name="Node label 10"/>
          <p:cNvSpPr txBox="1"/>
          <p:nvPr/>
        </p:nvSpPr>
        <p:spPr>
          <a:xfrm>
            <a:off x="10917936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</a:t>
            </a:r>
            <a:endParaRPr lang="en-US" sz="1400" dirty="0"/>
          </a:p>
        </p:txBody>
      </p:sp>
      <p:sp>
        <p:nvSpPr>
          <p:cNvPr id="57" name="Step 10"/>
          <p:cNvSpPr txBox="1"/>
          <p:nvPr/>
        </p:nvSpPr>
        <p:spPr>
          <a:xfrm>
            <a:off x="10643616" y="2670048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Defence</a:t>
            </a:r>
            <a:endParaRPr lang="en-US" sz="1200" dirty="0"/>
          </a:p>
        </p:txBody>
      </p:sp>
      <p:sp>
        <p:nvSpPr>
          <p:cNvPr id="58" name="Today tag"/>
          <p:cNvSpPr/>
          <p:nvPr/>
        </p:nvSpPr>
        <p:spPr>
          <a:xfrm>
            <a:off x="2219706" y="1901952"/>
            <a:ext cx="694944" cy="237744"/>
          </a:xfrm>
          <a:prstGeom prst="roundRect">
            <a:avLst>
              <a:gd name="adj" fmla="val 307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9" name="Today label"/>
          <p:cNvSpPr txBox="1"/>
          <p:nvPr/>
        </p:nvSpPr>
        <p:spPr>
          <a:xfrm>
            <a:off x="2219706" y="19019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TODAY</a:t>
            </a:r>
            <a:endParaRPr lang="en-US" sz="1000" dirty="0"/>
          </a:p>
        </p:txBody>
      </p:sp>
      <p:sp>
        <p:nvSpPr>
          <p:cNvPr id="60" name="Step 1 note"/>
          <p:cNvSpPr txBox="1"/>
          <p:nvPr/>
        </p:nvSpPr>
        <p:spPr>
          <a:xfrm>
            <a:off x="1549908" y="32004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in review</a:t>
            </a:r>
            <a:endParaRPr lang="en-US" sz="1000" dirty="0"/>
          </a:p>
        </p:txBody>
      </p:sp>
      <p:sp>
        <p:nvSpPr>
          <p:cNvPr id="61" name="Step 4 note"/>
          <p:cNvSpPr txBox="1"/>
          <p:nvPr/>
        </p:nvSpPr>
        <p:spPr>
          <a:xfrm>
            <a:off x="4581144" y="320040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blocked by merge</a:t>
            </a:r>
            <a:endParaRPr lang="en-US" sz="1000" dirty="0"/>
          </a:p>
        </p:txBody>
      </p:sp>
      <p:sp>
        <p:nvSpPr>
          <p:cNvPr id="62" name="Card Accomplished"/>
          <p:cNvSpPr/>
          <p:nvPr/>
        </p:nvSpPr>
        <p:spPr>
          <a:xfrm>
            <a:off x="548640" y="370332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3" name="Card dot Accomplished"/>
          <p:cNvSpPr/>
          <p:nvPr/>
        </p:nvSpPr>
        <p:spPr>
          <a:xfrm>
            <a:off x="777240" y="39502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4" name="Card title Accomplished"/>
          <p:cNvSpPr txBox="1"/>
          <p:nvPr/>
        </p:nvSpPr>
        <p:spPr>
          <a:xfrm>
            <a:off x="1051560" y="3858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Accomplished</a:t>
            </a:r>
            <a:endParaRPr lang="en-US" sz="1800" dirty="0"/>
          </a:p>
        </p:txBody>
      </p:sp>
      <p:sp>
        <p:nvSpPr>
          <p:cNvPr id="65" name="Card body Accomplished"/>
          <p:cNvSpPr txBox="1"/>
          <p:nvPr/>
        </p:nvSpPr>
        <p:spPr>
          <a:xfrm>
            <a:off x="777240" y="4325112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Scoping: use case, 504 aids, git rules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Corpus, data card, 20 test questions, 17 passing checks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engineering part 1: text cleaned; tags for region, deadline, company size</a:t>
            </a:r>
            <a:endParaRPr lang="en-US" sz="1400" dirty="0"/>
          </a:p>
        </p:txBody>
      </p:sp>
      <p:sp>
        <p:nvSpPr>
          <p:cNvPr id="66" name="Card Next, in order"/>
          <p:cNvSpPr/>
          <p:nvPr/>
        </p:nvSpPr>
        <p:spPr>
          <a:xfrm>
            <a:off x="4343400" y="370332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7" name="Card dot Next, in order"/>
          <p:cNvSpPr/>
          <p:nvPr/>
        </p:nvSpPr>
        <p:spPr>
          <a:xfrm>
            <a:off x="4572000" y="3950208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8" name="Card title Next, in order"/>
          <p:cNvSpPr txBox="1"/>
          <p:nvPr/>
        </p:nvSpPr>
        <p:spPr>
          <a:xfrm>
            <a:off x="4846320" y="3858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Next, in order</a:t>
            </a:r>
            <a:endParaRPr lang="en-US" sz="1800" dirty="0"/>
          </a:p>
        </p:txBody>
      </p:sp>
      <p:sp>
        <p:nvSpPr>
          <p:cNvPr id="69" name="Card body Next, in order"/>
          <p:cNvSpPr txBox="1"/>
          <p:nvPr/>
        </p:nvSpPr>
        <p:spPr>
          <a:xfrm>
            <a:off x="4572000" y="4325112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Saouss reviews PR #1, then we merge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Chrome, then benchmark small local models on this laptop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Finish chunking; build search and run_eval.py together</a:t>
            </a:r>
            <a:endParaRPr lang="en-US" sz="1400" dirty="0"/>
          </a:p>
        </p:txBody>
      </p:sp>
      <p:sp>
        <p:nvSpPr>
          <p:cNvPr id="70" name="Card Bonuses (extra credit)"/>
          <p:cNvSpPr/>
          <p:nvPr/>
        </p:nvSpPr>
        <p:spPr>
          <a:xfrm>
            <a:off x="8138160" y="370332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1" name="Card dot Bonuses (extra credit)"/>
          <p:cNvSpPr/>
          <p:nvPr/>
        </p:nvSpPr>
        <p:spPr>
          <a:xfrm>
            <a:off x="8366760" y="395020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2" name="Card title Bonuses (extra credit)"/>
          <p:cNvSpPr txBox="1"/>
          <p:nvPr/>
        </p:nvSpPr>
        <p:spPr>
          <a:xfrm>
            <a:off x="8641080" y="38587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Bonuses (extra credit)</a:t>
            </a:r>
            <a:endParaRPr lang="en-US" sz="1800" dirty="0"/>
          </a:p>
        </p:txBody>
      </p:sp>
      <p:sp>
        <p:nvSpPr>
          <p:cNvPr id="73" name="Card body Bonuses (extra credit)"/>
          <p:cNvSpPr txBox="1"/>
          <p:nvPr/>
        </p:nvSpPr>
        <p:spPr>
          <a:xfrm>
            <a:off x="8366760" y="4325112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Do: deadline and date filters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Do: simple UI with answer, sources and agent steps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Maybe: local vs API model, only if the school gives keys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Skip: database server, too heavy for this laptop</a:t>
            </a:r>
            <a:endParaRPr lang="en-US" sz="1400" dirty="0"/>
          </a:p>
        </p:txBody>
      </p:sp>
      <p:sp>
        <p:nvSpPr>
          <p:cNvPr id="74" name="Footnote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Source: repo and GitHub audit, 14 Oct 2026. Dates are targets; owners per step are proposed, not yet agreed.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have built so far: a verified foundation</a:t>
            </a:r>
            <a:endParaRPr lang="en-US" sz="3000" dirty="0"/>
          </a:p>
        </p:txBody>
      </p:sp>
      <p:sp>
        <p:nvSpPr>
          <p:cNvPr id="3" name="Subtitle 2"/>
          <p:cNvSpPr txBox="1"/>
          <p:nvPr/>
        </p:nvSpPr>
        <p:spPr>
          <a:xfrm>
            <a:off x="54864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Steps 0–1 of the roadmap, plus the first half of feature engineering</a:t>
            </a:r>
            <a:endParaRPr lang="en-US" sz="1400" dirty="0"/>
          </a:p>
        </p:txBody>
      </p:sp>
      <p:sp>
        <p:nvSpPr>
          <p:cNvPr id="4" name="Stat 1"/>
          <p:cNvSpPr txBox="1"/>
          <p:nvPr/>
        </p:nvSpPr>
        <p:spPr>
          <a:xfrm>
            <a:off x="54864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504</a:t>
            </a:r>
            <a:endParaRPr lang="en-US" sz="3600" dirty="0"/>
          </a:p>
        </p:txBody>
      </p:sp>
      <p:sp>
        <p:nvSpPr>
          <p:cNvPr id="5" name="Stat label 1"/>
          <p:cNvSpPr txBox="1"/>
          <p:nvPr/>
        </p:nvSpPr>
        <p:spPr>
          <a:xfrm>
            <a:off x="548640" y="2185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aids selected from 2,442</a:t>
            </a:r>
            <a:endParaRPr lang="en-US" sz="1200" dirty="0"/>
          </a:p>
        </p:txBody>
      </p:sp>
      <p:sp>
        <p:nvSpPr>
          <p:cNvPr id="6" name="Stat 2"/>
          <p:cNvSpPr txBox="1"/>
          <p:nvPr/>
        </p:nvSpPr>
        <p:spPr>
          <a:xfrm>
            <a:off x="548640" y="2770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20 / 40</a:t>
            </a:r>
            <a:endParaRPr lang="en-US" sz="3600" dirty="0"/>
          </a:p>
        </p:txBody>
      </p:sp>
      <p:sp>
        <p:nvSpPr>
          <p:cNvPr id="7" name="Stat label 2"/>
          <p:cNvSpPr txBox="1"/>
          <p:nvPr/>
        </p:nvSpPr>
        <p:spPr>
          <a:xfrm>
            <a:off x="548640" y="3355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test questions written</a:t>
            </a:r>
            <a:endParaRPr lang="en-US" sz="1200" dirty="0"/>
          </a:p>
        </p:txBody>
      </p:sp>
      <p:sp>
        <p:nvSpPr>
          <p:cNvPr id="8" name="Stat 3"/>
          <p:cNvSpPr txBox="1"/>
          <p:nvPr/>
        </p:nvSpPr>
        <p:spPr>
          <a:xfrm>
            <a:off x="548640" y="39410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17 / 17</a:t>
            </a:r>
            <a:endParaRPr lang="en-US" sz="3600" dirty="0"/>
          </a:p>
        </p:txBody>
      </p:sp>
      <p:sp>
        <p:nvSpPr>
          <p:cNvPr id="9" name="Stat label 3"/>
          <p:cNvSpPr txBox="1"/>
          <p:nvPr/>
        </p:nvSpPr>
        <p:spPr>
          <a:xfrm>
            <a:off x="54864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automated checks passing</a:t>
            </a:r>
            <a:endParaRPr lang="en-US" sz="1200" dirty="0"/>
          </a:p>
        </p:txBody>
      </p:sp>
      <p:sp>
        <p:nvSpPr>
          <p:cNvPr id="10" name="Stat 4"/>
          <p:cNvSpPr txBox="1"/>
          <p:nvPr/>
        </p:nvSpPr>
        <p:spPr>
          <a:xfrm>
            <a:off x="548640" y="51114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</a:t>
            </a:r>
            <a:endParaRPr lang="en-US" sz="3600" dirty="0"/>
          </a:p>
        </p:txBody>
      </p:sp>
      <p:sp>
        <p:nvSpPr>
          <p:cNvPr id="11" name="Stat label 4"/>
          <p:cNvSpPr txBox="1"/>
          <p:nvPr/>
        </p:nvSpPr>
        <p:spPr>
          <a:xfrm>
            <a:off x="548640" y="5696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error in the government data found and fixed</a:t>
            </a:r>
            <a:endParaRPr lang="en-US" sz="1200" dirty="0"/>
          </a:p>
        </p:txBody>
      </p:sp>
      <p:sp>
        <p:nvSpPr>
          <p:cNvPr id="12" name="Done card 1"/>
          <p:cNvSpPr/>
          <p:nvPr/>
        </p:nvSpPr>
        <p:spPr>
          <a:xfrm>
            <a:off x="3337560" y="16002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ne num bg 1"/>
          <p:cNvSpPr/>
          <p:nvPr/>
        </p:nvSpPr>
        <p:spPr>
          <a:xfrm>
            <a:off x="3538728" y="1801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Done num 1"/>
          <p:cNvSpPr txBox="1"/>
          <p:nvPr/>
        </p:nvSpPr>
        <p:spPr>
          <a:xfrm>
            <a:off x="353872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Done head 1"/>
          <p:cNvSpPr txBox="1"/>
          <p:nvPr/>
        </p:nvSpPr>
        <p:spPr>
          <a:xfrm>
            <a:off x="406908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Chose the use case</a:t>
            </a:r>
            <a:endParaRPr lang="en-US" sz="1700" dirty="0"/>
          </a:p>
        </p:txBody>
      </p:sp>
      <p:sp>
        <p:nvSpPr>
          <p:cNvPr id="16" name="Done body 1"/>
          <p:cNvSpPr txBox="1"/>
          <p:nvPr/>
        </p:nvSpPr>
        <p:spPr>
          <a:xfrm>
            <a:off x="4069080" y="22219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funding finder for SMEs with a green or innovation project; scope and git rules agreed</a:t>
            </a:r>
            <a:endParaRPr lang="en-US" sz="1400" dirty="0"/>
          </a:p>
        </p:txBody>
      </p:sp>
      <p:sp>
        <p:nvSpPr>
          <p:cNvPr id="17" name="Done card 2"/>
          <p:cNvSpPr/>
          <p:nvPr/>
        </p:nvSpPr>
        <p:spPr>
          <a:xfrm>
            <a:off x="7635240" y="16002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Done num bg 2"/>
          <p:cNvSpPr/>
          <p:nvPr/>
        </p:nvSpPr>
        <p:spPr>
          <a:xfrm>
            <a:off x="7836408" y="1801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Done num 2"/>
          <p:cNvSpPr txBox="1"/>
          <p:nvPr/>
        </p:nvSpPr>
        <p:spPr>
          <a:xfrm>
            <a:off x="78364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Done head 2"/>
          <p:cNvSpPr txBox="1"/>
          <p:nvPr/>
        </p:nvSpPr>
        <p:spPr>
          <a:xfrm>
            <a:off x="836676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Selected 504 aids</a:t>
            </a:r>
            <a:endParaRPr lang="en-US" sz="1700" dirty="0"/>
          </a:p>
        </p:txBody>
      </p:sp>
      <p:sp>
        <p:nvSpPr>
          <p:cNvPr id="21" name="Done body 2"/>
          <p:cNvSpPr txBox="1"/>
          <p:nvPr/>
        </p:nvSpPr>
        <p:spPr>
          <a:xfrm>
            <a:off x="8366760" y="22219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2,442 → 504 with three checkable rules: enough text, no duplicates, green or innovation</a:t>
            </a:r>
            <a:endParaRPr lang="en-US" sz="1400" dirty="0"/>
          </a:p>
        </p:txBody>
      </p:sp>
      <p:sp>
        <p:nvSpPr>
          <p:cNvPr id="22" name="Done card 3"/>
          <p:cNvSpPr/>
          <p:nvPr/>
        </p:nvSpPr>
        <p:spPr>
          <a:xfrm>
            <a:off x="3337560" y="32461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Done num bg 3"/>
          <p:cNvSpPr/>
          <p:nvPr/>
        </p:nvSpPr>
        <p:spPr>
          <a:xfrm>
            <a:off x="3538728" y="34472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Done num 3"/>
          <p:cNvSpPr txBox="1"/>
          <p:nvPr/>
        </p:nvSpPr>
        <p:spPr>
          <a:xfrm>
            <a:off x="353872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Done head 3"/>
          <p:cNvSpPr txBox="1"/>
          <p:nvPr/>
        </p:nvSpPr>
        <p:spPr>
          <a:xfrm>
            <a:off x="406908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Confirmed the source</a:t>
            </a:r>
            <a:endParaRPr lang="en-US" sz="1700" dirty="0"/>
          </a:p>
        </p:txBody>
      </p:sp>
      <p:sp>
        <p:nvSpPr>
          <p:cNvPr id="26" name="Done body 3"/>
          <p:cNvSpPr txBox="1"/>
          <p:nvPr/>
        </p:nvSpPr>
        <p:spPr>
          <a:xfrm>
            <a:off x="4069080" y="3867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data.gouv.fr “Aides entreprises”, Licence Ouverte; all 504 aids match today's official file</a:t>
            </a:r>
            <a:endParaRPr lang="en-US" sz="1400" dirty="0"/>
          </a:p>
        </p:txBody>
      </p:sp>
      <p:sp>
        <p:nvSpPr>
          <p:cNvPr id="27" name="Done card 4"/>
          <p:cNvSpPr/>
          <p:nvPr/>
        </p:nvSpPr>
        <p:spPr>
          <a:xfrm>
            <a:off x="7635240" y="32461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Done num bg 4"/>
          <p:cNvSpPr/>
          <p:nvPr/>
        </p:nvSpPr>
        <p:spPr>
          <a:xfrm>
            <a:off x="7836408" y="34472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Done num 4"/>
          <p:cNvSpPr txBox="1"/>
          <p:nvPr/>
        </p:nvSpPr>
        <p:spPr>
          <a:xfrm>
            <a:off x="783640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Done head 4"/>
          <p:cNvSpPr txBox="1"/>
          <p:nvPr/>
        </p:nvSpPr>
        <p:spPr>
          <a:xfrm>
            <a:off x="836676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Enriched every aid</a:t>
            </a:r>
            <a:endParaRPr lang="en-US" sz="1700" dirty="0"/>
          </a:p>
        </p:txBody>
      </p:sp>
      <p:sp>
        <p:nvSpPr>
          <p:cNvPr id="31" name="Done body 4"/>
          <p:cNvSpPr txBox="1"/>
          <p:nvPr/>
        </p:nvSpPr>
        <p:spPr>
          <a:xfrm>
            <a:off x="8366760" y="38679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Region, deadline, company size, aid type and funder added; a region error in the source fixed</a:t>
            </a:r>
            <a:endParaRPr lang="en-US" sz="1400" dirty="0"/>
          </a:p>
        </p:txBody>
      </p:sp>
      <p:sp>
        <p:nvSpPr>
          <p:cNvPr id="32" name="Done card 5"/>
          <p:cNvSpPr/>
          <p:nvPr/>
        </p:nvSpPr>
        <p:spPr>
          <a:xfrm>
            <a:off x="3337560" y="48920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Done num bg 5"/>
          <p:cNvSpPr/>
          <p:nvPr/>
        </p:nvSpPr>
        <p:spPr>
          <a:xfrm>
            <a:off x="3538728" y="5093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Done num 5"/>
          <p:cNvSpPr txBox="1"/>
          <p:nvPr/>
        </p:nvSpPr>
        <p:spPr>
          <a:xfrm>
            <a:off x="3538728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Done head 5"/>
          <p:cNvSpPr txBox="1"/>
          <p:nvPr/>
        </p:nvSpPr>
        <p:spPr>
          <a:xfrm>
            <a:off x="406908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Wrote 20 test questions</a:t>
            </a:r>
            <a:endParaRPr lang="en-US" sz="1700" dirty="0"/>
          </a:p>
        </p:txBody>
      </p:sp>
      <p:sp>
        <p:nvSpPr>
          <p:cNvPr id="36" name="Done body 5"/>
          <p:cNvSpPr txBox="1"/>
          <p:nvPr/>
        </p:nvSpPr>
        <p:spPr>
          <a:xfrm>
            <a:off x="4069080" y="5513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Facts, eligibility, regions, deadlines, plus trick questions and hacking attempts</a:t>
            </a:r>
            <a:endParaRPr lang="en-US" sz="1400" dirty="0"/>
          </a:p>
        </p:txBody>
      </p:sp>
      <p:sp>
        <p:nvSpPr>
          <p:cNvPr id="37" name="Done card 6"/>
          <p:cNvSpPr/>
          <p:nvPr/>
        </p:nvSpPr>
        <p:spPr>
          <a:xfrm>
            <a:off x="7635240" y="48920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Done num bg 6"/>
          <p:cNvSpPr/>
          <p:nvPr/>
        </p:nvSpPr>
        <p:spPr>
          <a:xfrm>
            <a:off x="7836408" y="5093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Done num 6"/>
          <p:cNvSpPr txBox="1"/>
          <p:nvPr/>
        </p:nvSpPr>
        <p:spPr>
          <a:xfrm>
            <a:off x="7836408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Done head 6"/>
          <p:cNvSpPr txBox="1"/>
          <p:nvPr/>
        </p:nvSpPr>
        <p:spPr>
          <a:xfrm>
            <a:off x="836676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Built a safety net</a:t>
            </a:r>
            <a:endParaRPr lang="en-US" sz="1700" dirty="0"/>
          </a:p>
        </p:txBody>
      </p:sp>
      <p:sp>
        <p:nvSpPr>
          <p:cNvPr id="41" name="Done body 6"/>
          <p:cNvSpPr txBox="1"/>
          <p:nvPr/>
        </p:nvSpPr>
        <p:spPr>
          <a:xfrm>
            <a:off x="8366760" y="55138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17 automated checks, an identical rebuild with one command, and a full data card</a:t>
            </a:r>
            <a:endParaRPr lang="en-US" sz="1400" dirty="0"/>
          </a:p>
        </p:txBody>
      </p:sp>
      <p:sp>
        <p:nvSpPr>
          <p:cNvPr id="42" name="Footnote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Known limits: 47% of local aids have no region on file · 15 dead source links · test set half done · PR #1 awaiting Saouss's 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9 files fit together: one record per aid</a:t>
            </a:r>
            <a:endParaRPr lang="en-US" sz="3000" dirty="0"/>
          </a:p>
        </p:txBody>
      </p:sp>
      <p:sp>
        <p:nvSpPr>
          <p:cNvPr id="3" name="Subtitle 3"/>
          <p:cNvSpPr txBox="1"/>
          <p:nvPr/>
        </p:nvSpPr>
        <p:spPr>
          <a:xfrm>
            <a:off x="54864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aides.csv points to lookup tables by ID; we join 5 of them into every aid</a:t>
            </a:r>
            <a:endParaRPr lang="en-US" sz="1400" dirty="0"/>
          </a:p>
        </p:txBody>
      </p:sp>
      <p:sp>
        <p:nvSpPr>
          <p:cNvPr id="4" name="Legend3 dot Joined"/>
          <p:cNvSpPr/>
          <p:nvPr/>
        </p:nvSpPr>
        <p:spPr>
          <a:xfrm>
            <a:off x="10012680" y="429768"/>
            <a:ext cx="137160" cy="137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egend3 Joined"/>
          <p:cNvSpPr txBox="1"/>
          <p:nvPr/>
        </p:nvSpPr>
        <p:spPr>
          <a:xfrm>
            <a:off x="10222992" y="384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Joined</a:t>
            </a:r>
            <a:endParaRPr lang="en-US" sz="1200" dirty="0"/>
          </a:p>
        </p:txBody>
      </p:sp>
      <p:sp>
        <p:nvSpPr>
          <p:cNvPr id="6" name="Legend3 dot Partly joined"/>
          <p:cNvSpPr/>
          <p:nvPr/>
        </p:nvSpPr>
        <p:spPr>
          <a:xfrm>
            <a:off x="10012680" y="676656"/>
            <a:ext cx="137160" cy="137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Legend3 Partly joined"/>
          <p:cNvSpPr txBox="1"/>
          <p:nvPr/>
        </p:nvSpPr>
        <p:spPr>
          <a:xfrm>
            <a:off x="10222992" y="6309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Partly joined</a:t>
            </a:r>
            <a:endParaRPr lang="en-US" sz="1200" dirty="0"/>
          </a:p>
        </p:txBody>
      </p:sp>
      <p:sp>
        <p:nvSpPr>
          <p:cNvPr id="8" name="Legend3 dot Not used"/>
          <p:cNvSpPr/>
          <p:nvPr/>
        </p:nvSpPr>
        <p:spPr>
          <a:xfrm>
            <a:off x="10012680" y="923544"/>
            <a:ext cx="137160" cy="1371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egend3 Not used"/>
          <p:cNvSpPr txBox="1"/>
          <p:nvPr/>
        </p:nvSpPr>
        <p:spPr>
          <a:xfrm>
            <a:off x="10222992" y="8778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used</a:t>
            </a:r>
            <a:endParaRPr lang="en-US" sz="1200" dirty="0"/>
          </a:p>
        </p:txBody>
      </p:sp>
      <p:sp>
        <p:nvSpPr>
          <p:cNvPr id="10" name="Box natures"/>
          <p:cNvSpPr/>
          <p:nvPr/>
        </p:nvSpPr>
        <p:spPr>
          <a:xfrm>
            <a:off x="548640" y="160020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1" name="Box head natures"/>
          <p:cNvSpPr txBox="1"/>
          <p:nvPr/>
        </p:nvSpPr>
        <p:spPr>
          <a:xfrm>
            <a:off x="731520" y="1691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natures.csv · 12 rows</a:t>
            </a:r>
            <a:endParaRPr lang="en-US" sz="1500" dirty="0"/>
          </a:p>
        </p:txBody>
      </p:sp>
      <p:sp>
        <p:nvSpPr>
          <p:cNvPr id="12" name="Box body natures"/>
          <p:cNvSpPr txBox="1"/>
          <p:nvPr/>
        </p:nvSpPr>
        <p:spPr>
          <a:xfrm>
            <a:off x="731520" y="2039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Aid type: grant, loan, tax relief… · 503 of 504 aids</a:t>
            </a:r>
            <a:endParaRPr lang="en-US" sz="1200" dirty="0"/>
          </a:p>
        </p:txBody>
      </p:sp>
      <p:sp>
        <p:nvSpPr>
          <p:cNvPr id="13" name="Link natures"/>
          <p:cNvSpPr/>
          <p:nvPr/>
        </p:nvSpPr>
        <p:spPr>
          <a:xfrm>
            <a:off x="3931920" y="2080260"/>
            <a:ext cx="795528" cy="9829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Box projets"/>
          <p:cNvSpPr/>
          <p:nvPr/>
        </p:nvSpPr>
        <p:spPr>
          <a:xfrm>
            <a:off x="548640" y="274320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5" name="Box head projets"/>
          <p:cNvSpPr txBox="1"/>
          <p:nvPr/>
        </p:nvSpPr>
        <p:spPr>
          <a:xfrm>
            <a:off x="731520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projets.csv · 101 rows</a:t>
            </a:r>
            <a:endParaRPr lang="en-US" sz="1500" dirty="0"/>
          </a:p>
        </p:txBody>
      </p:sp>
      <p:sp>
        <p:nvSpPr>
          <p:cNvPr id="16" name="Box body projets"/>
          <p:cNvSpPr txBox="1"/>
          <p:nvPr/>
        </p:nvSpPr>
        <p:spPr>
          <a:xfrm>
            <a:off x="731520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Project themes, used for the green + innovation filter · 504 of 504</a:t>
            </a:r>
            <a:endParaRPr lang="en-US" sz="1200" dirty="0"/>
          </a:p>
        </p:txBody>
      </p:sp>
      <p:sp>
        <p:nvSpPr>
          <p:cNvPr id="17" name="Link projets"/>
          <p:cNvSpPr/>
          <p:nvPr/>
        </p:nvSpPr>
        <p:spPr>
          <a:xfrm flipV="1">
            <a:off x="3931920" y="3063240"/>
            <a:ext cx="795528" cy="1600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8" name="Box profils"/>
          <p:cNvSpPr/>
          <p:nvPr/>
        </p:nvSpPr>
        <p:spPr>
          <a:xfrm>
            <a:off x="548640" y="388620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9" name="Box head profils"/>
          <p:cNvSpPr txBox="1"/>
          <p:nvPr/>
        </p:nvSpPr>
        <p:spPr>
          <a:xfrm>
            <a:off x="731520" y="3977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profils.csv · 17 rows</a:t>
            </a:r>
            <a:endParaRPr lang="en-US" sz="1500" dirty="0"/>
          </a:p>
        </p:txBody>
      </p:sp>
      <p:sp>
        <p:nvSpPr>
          <p:cNvPr id="20" name="Box body profils"/>
          <p:cNvSpPr txBox="1"/>
          <p:nvPr/>
        </p:nvSpPr>
        <p:spPr>
          <a:xfrm>
            <a:off x="731520" y="4325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Eligible business profiles (industry, crafts, retail…) · 504 of 504</a:t>
            </a:r>
            <a:endParaRPr lang="en-US" sz="1200" dirty="0"/>
          </a:p>
        </p:txBody>
      </p:sp>
      <p:sp>
        <p:nvSpPr>
          <p:cNvPr id="21" name="Link profils"/>
          <p:cNvSpPr/>
          <p:nvPr/>
        </p:nvSpPr>
        <p:spPr>
          <a:xfrm flipV="1">
            <a:off x="3931920" y="3063240"/>
            <a:ext cx="795528" cy="13030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2" name="Box financeurs"/>
          <p:cNvSpPr/>
          <p:nvPr/>
        </p:nvSpPr>
        <p:spPr>
          <a:xfrm>
            <a:off x="8259775" y="160020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3" name="Box head financeurs"/>
          <p:cNvSpPr txBox="1"/>
          <p:nvPr/>
        </p:nvSpPr>
        <p:spPr>
          <a:xfrm>
            <a:off x="8442655" y="1691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financeurs.csv · 1,427 rows</a:t>
            </a:r>
            <a:endParaRPr lang="en-US" sz="1500" dirty="0"/>
          </a:p>
        </p:txBody>
      </p:sp>
      <p:sp>
        <p:nvSpPr>
          <p:cNvPr id="24" name="Box body financeurs"/>
          <p:cNvSpPr txBox="1"/>
          <p:nvPr/>
        </p:nvSpPr>
        <p:spPr>
          <a:xfrm>
            <a:off x="8442655" y="2039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Funder names, and postcodes used to infer some regions · 504 of 504</a:t>
            </a:r>
            <a:endParaRPr lang="en-US" sz="1200" dirty="0"/>
          </a:p>
        </p:txBody>
      </p:sp>
      <p:sp>
        <p:nvSpPr>
          <p:cNvPr id="25" name="Link financeurs"/>
          <p:cNvSpPr/>
          <p:nvPr/>
        </p:nvSpPr>
        <p:spPr>
          <a:xfrm flipV="1">
            <a:off x="7470648" y="2080260"/>
            <a:ext cx="789127" cy="9829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6" name="Box territoires"/>
          <p:cNvSpPr/>
          <p:nvPr/>
        </p:nvSpPr>
        <p:spPr>
          <a:xfrm>
            <a:off x="8259775" y="274320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7" name="Box head territoires"/>
          <p:cNvSpPr txBox="1"/>
          <p:nvPr/>
        </p:nvSpPr>
        <p:spPr>
          <a:xfrm>
            <a:off x="8442655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territoires.csv · 39,348 rows</a:t>
            </a:r>
            <a:endParaRPr lang="en-US" sz="1500" dirty="0"/>
          </a:p>
        </p:txBody>
      </p:sp>
      <p:sp>
        <p:nvSpPr>
          <p:cNvPr id="28" name="Box body territoires"/>
          <p:cNvSpPr txBox="1"/>
          <p:nvPr/>
        </p:nvSpPr>
        <p:spPr>
          <a:xfrm>
            <a:off x="8442655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Area → region, fixed with an official region table · 228 of 432 local aids</a:t>
            </a:r>
            <a:endParaRPr lang="en-US" sz="1200" dirty="0"/>
          </a:p>
        </p:txBody>
      </p:sp>
      <p:sp>
        <p:nvSpPr>
          <p:cNvPr id="29" name="Link territoires"/>
          <p:cNvSpPr/>
          <p:nvPr/>
        </p:nvSpPr>
        <p:spPr>
          <a:xfrm>
            <a:off x="7470648" y="3063240"/>
            <a:ext cx="789127" cy="1600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0" name="Box contacts"/>
          <p:cNvSpPr/>
          <p:nvPr/>
        </p:nvSpPr>
        <p:spPr>
          <a:xfrm>
            <a:off x="8259775" y="388620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31" name="Box head contacts"/>
          <p:cNvSpPr txBox="1"/>
          <p:nvPr/>
        </p:nvSpPr>
        <p:spPr>
          <a:xfrm>
            <a:off x="8442655" y="3977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contacts.csv · 7,925 rows</a:t>
            </a:r>
            <a:endParaRPr lang="en-US" sz="1500" dirty="0"/>
          </a:p>
        </p:txBody>
      </p:sp>
      <p:sp>
        <p:nvSpPr>
          <p:cNvPr id="32" name="Box body contacts"/>
          <p:cNvSpPr txBox="1"/>
          <p:nvPr/>
        </p:nvSpPr>
        <p:spPr>
          <a:xfrm>
            <a:off x="8442655" y="4325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Contact IDs kept, details not joined yet (Phase 2 if needed) · 503 of 504</a:t>
            </a:r>
            <a:endParaRPr lang="en-US" sz="1200" dirty="0"/>
          </a:p>
        </p:txBody>
      </p:sp>
      <p:sp>
        <p:nvSpPr>
          <p:cNvPr id="33" name="Link contacts"/>
          <p:cNvSpPr/>
          <p:nvPr/>
        </p:nvSpPr>
        <p:spPr>
          <a:xfrm>
            <a:off x="7470648" y="3063240"/>
            <a:ext cx="789127" cy="130302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4" name="Hub"/>
          <p:cNvSpPr/>
          <p:nvPr/>
        </p:nvSpPr>
        <p:spPr>
          <a:xfrm>
            <a:off x="4727448" y="2377440"/>
            <a:ext cx="274320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Hub text"/>
          <p:cNvSpPr txBox="1"/>
          <p:nvPr/>
        </p:nvSpPr>
        <p:spPr>
          <a:xfrm>
            <a:off x="4727448" y="2377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aides.csv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2,442 aids, filtered to 504</a:t>
            </a:r>
            <a:endParaRPr lang="en-US" sz="2000" dirty="0"/>
          </a:p>
        </p:txBody>
      </p:sp>
      <p:sp>
        <p:nvSpPr>
          <p:cNvPr id="36" name="Output arrow"/>
          <p:cNvSpPr/>
          <p:nvPr/>
        </p:nvSpPr>
        <p:spPr>
          <a:xfrm>
            <a:off x="6099048" y="3749040"/>
            <a:ext cx="0" cy="45720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7" name="Output"/>
          <p:cNvSpPr/>
          <p:nvPr/>
        </p:nvSpPr>
        <p:spPr>
          <a:xfrm>
            <a:off x="4544568" y="4206240"/>
            <a:ext cx="310896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Output text"/>
          <p:cNvSpPr txBox="1"/>
          <p:nvPr/>
        </p:nvSpPr>
        <p:spPr>
          <a:xfrm>
            <a:off x="4544568" y="4206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aids.jsonl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504 clean records, labels instead of IDs</a:t>
            </a:r>
            <a:endParaRPr lang="en-US" sz="1700" dirty="0"/>
          </a:p>
        </p:txBody>
      </p:sp>
      <p:sp>
        <p:nvSpPr>
          <p:cNvPr id="39" name="Not used label"/>
          <p:cNvSpPr txBox="1"/>
          <p:nvPr/>
        </p:nvSpPr>
        <p:spPr>
          <a:xfrm>
            <a:off x="548640" y="5440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Not used</a:t>
            </a:r>
            <a:endParaRPr lang="en-US" sz="1400" dirty="0"/>
          </a:p>
        </p:txBody>
      </p:sp>
      <p:sp>
        <p:nvSpPr>
          <p:cNvPr id="40" name="Unused domaines.csv"/>
          <p:cNvSpPr/>
          <p:nvPr/>
        </p:nvSpPr>
        <p:spPr>
          <a:xfrm>
            <a:off x="1828800" y="5440680"/>
            <a:ext cx="470916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41" name="Unused text domaines.csv"/>
          <p:cNvSpPr txBox="1"/>
          <p:nvPr/>
        </p:nvSpPr>
        <p:spPr>
          <a:xfrm>
            <a:off x="2011680" y="5440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domaines.csv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domain names already written in aides.csv</a:t>
            </a:r>
            <a:endParaRPr lang="en-US" sz="1300" dirty="0"/>
          </a:p>
        </p:txBody>
      </p:sp>
      <p:sp>
        <p:nvSpPr>
          <p:cNvPr id="42" name="Unused niveaux.csv"/>
          <p:cNvSpPr/>
          <p:nvPr/>
        </p:nvSpPr>
        <p:spPr>
          <a:xfrm>
            <a:off x="6812280" y="5440680"/>
            <a:ext cx="4709160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43" name="Unused text niveaux.csv"/>
          <p:cNvSpPr txBox="1"/>
          <p:nvPr/>
        </p:nvSpPr>
        <p:spPr>
          <a:xfrm>
            <a:off x="6995160" y="5440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niveaux.csv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national / regional / EU level already in aides.csv</a:t>
            </a:r>
            <a:endParaRPr lang="en-US" sz="1300" dirty="0"/>
          </a:p>
        </p:txBody>
      </p:sp>
      <p:sp>
        <p:nvSpPr>
          <p:cNvPr id="44" name="Footnote 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Joins are made on IDs (e.g. aides.natures → natures.id_typ). Counts are from data/processed/aids.jsonl, checked 14 Oct 2026. No external dataset was merged.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map">
  <a:themeElements>
    <a:clrScheme name="Roadmap">
      <a:dk1>
        <a:srgbClr val="1B2333"/>
      </a:dk1>
      <a:lt1>
        <a:srgbClr val="FFFFFF"/>
      </a:lt1>
      <a:dk2>
        <a:srgbClr val="1E2761"/>
      </a:dk2>
      <a:lt2>
        <a:srgbClr val="F1F3F7"/>
      </a:lt2>
      <a:accent1>
        <a:srgbClr val="1F8A5B"/>
      </a:accent1>
      <a:accent2>
        <a:srgbClr val="C98200"/>
      </a:accent2>
      <a:accent3>
        <a:srgbClr val="C0392B"/>
      </a:accent3>
      <a:accent4>
        <a:srgbClr val="9AA3AE"/>
      </a:accent4>
      <a:accent5>
        <a:srgbClr val="2F5BD3"/>
      </a:accent5>
      <a:accent6>
        <a:srgbClr val="5D6470"/>
      </a:accent6>
      <a:hlink>
        <a:srgbClr val="2F5BD3"/>
      </a:hlink>
      <a:folHlink>
        <a:srgbClr val="5D6470"/>
      </a:folHlink>
    </a:clrScheme>
    <a:fontScheme name="Roadma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roadmap</dc:title>
  <dc:subject>PptxGenJS Presentation</dc:subject>
  <dc:creator>PptxGenJS</dc:creator>
  <cp:lastModifiedBy>PptxGenJS</cp:lastModifiedBy>
  <cp:revision>1</cp:revision>
  <dcterms:created xsi:type="dcterms:W3CDTF">2026-10-14T14:58:35Z</dcterms:created>
  <dcterms:modified xsi:type="dcterms:W3CDTF">2026-10-14T14:58:35Z</dcterms:modified>
</cp:coreProperties>
</file>